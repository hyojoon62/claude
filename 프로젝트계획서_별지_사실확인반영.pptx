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74E5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8986266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B6066"/>
                </a:solidFill>
                <a:latin typeface="Pretendard Medium"/>
                <a:ea typeface="Pretendard Medium"/>
                <a:cs typeface="Pretendard Medium"/>
              </a:rPr>
              <a:t>2026 동계 AI·전공융합 해외문화탐방  ·  프로젝트 계획서 별지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737360"/>
            <a:ext cx="502920" cy="54864"/>
          </a:xfrm>
          <a:prstGeom prst="rect">
            <a:avLst/>
          </a:prstGeom>
          <a:solidFill>
            <a:srgbClr val="174E5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85800" y="1965960"/>
            <a:ext cx="990318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4200" b="1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유럽도 못 푼 킥보드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88920"/>
            <a:ext cx="990318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세 가지 답을 낸 도시들을 걸어서 비교하다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566160"/>
            <a:ext cx="7152436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킥보드 없는 거리, 킥보드만 없는 거리?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690872"/>
            <a:ext cx="348477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B6066"/>
                </a:solidFill>
                <a:latin typeface="Pretendard Medium"/>
                <a:ea typeface="Pretendard Medium"/>
                <a:cs typeface="Pretendard Medium"/>
              </a:rPr>
              <a:t>탐방 도시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31679" y="5257800"/>
            <a:ext cx="8000799" cy="0"/>
          </a:xfrm>
          <a:prstGeom prst="line">
            <a:avLst/>
          </a:prstGeom>
          <a:ln w="15875">
            <a:solidFill>
              <a:srgbClr val="174E58"/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731520" y="5257800"/>
            <a:ext cx="1600159" cy="0"/>
          </a:xfrm>
          <a:prstGeom prst="line">
            <a:avLst/>
          </a:prstGeom>
          <a:ln w="12700">
            <a:solidFill>
              <a:srgbClr val="969CA2"/>
            </a:solidFill>
            <a:prstDash val="lgDash"/>
          </a:ln>
        </p:spPr>
      </p:cxnSp>
      <p:sp>
        <p:nvSpPr>
          <p:cNvPr id="11" name="Oval 10"/>
          <p:cNvSpPr/>
          <p:nvPr/>
        </p:nvSpPr>
        <p:spPr>
          <a:xfrm>
            <a:off x="2272243" y="5198364"/>
            <a:ext cx="118872" cy="118872"/>
          </a:xfrm>
          <a:prstGeom prst="ellipse">
            <a:avLst/>
          </a:prstGeom>
          <a:solidFill>
            <a:srgbClr val="174E5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285959" y="542239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프랑크푸르트</a:t>
            </a:r>
          </a:p>
        </p:txBody>
      </p:sp>
      <p:sp>
        <p:nvSpPr>
          <p:cNvPr id="13" name="Oval 12"/>
          <p:cNvSpPr/>
          <p:nvPr/>
        </p:nvSpPr>
        <p:spPr>
          <a:xfrm>
            <a:off x="3415215" y="5198364"/>
            <a:ext cx="118872" cy="118872"/>
          </a:xfrm>
          <a:prstGeom prst="ellipse">
            <a:avLst/>
          </a:prstGeom>
          <a:solidFill>
            <a:srgbClr val="174E5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428931" y="542239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하이델베르크</a:t>
            </a:r>
          </a:p>
        </p:txBody>
      </p:sp>
      <p:sp>
        <p:nvSpPr>
          <p:cNvPr id="15" name="Oval 14"/>
          <p:cNvSpPr/>
          <p:nvPr/>
        </p:nvSpPr>
        <p:spPr>
          <a:xfrm>
            <a:off x="4558186" y="5198364"/>
            <a:ext cx="118872" cy="118872"/>
          </a:xfrm>
          <a:prstGeom prst="ellipse">
            <a:avLst/>
          </a:prstGeom>
          <a:solidFill>
            <a:srgbClr val="174E5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571902" y="542239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쾰른</a:t>
            </a:r>
          </a:p>
        </p:txBody>
      </p:sp>
      <p:sp>
        <p:nvSpPr>
          <p:cNvPr id="17" name="Oval 16"/>
          <p:cNvSpPr/>
          <p:nvPr/>
        </p:nvSpPr>
        <p:spPr>
          <a:xfrm>
            <a:off x="5701158" y="5198364"/>
            <a:ext cx="118872" cy="118872"/>
          </a:xfrm>
          <a:prstGeom prst="ellipse">
            <a:avLst/>
          </a:prstGeom>
          <a:solidFill>
            <a:srgbClr val="174E5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714874" y="542239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브뤼셀</a:t>
            </a:r>
          </a:p>
        </p:txBody>
      </p:sp>
      <p:sp>
        <p:nvSpPr>
          <p:cNvPr id="19" name="Oval 18"/>
          <p:cNvSpPr/>
          <p:nvPr/>
        </p:nvSpPr>
        <p:spPr>
          <a:xfrm>
            <a:off x="6844129" y="5198364"/>
            <a:ext cx="118872" cy="118872"/>
          </a:xfrm>
          <a:prstGeom prst="ellipse">
            <a:avLst/>
          </a:prstGeom>
          <a:solidFill>
            <a:srgbClr val="174E5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57845" y="542239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파리</a:t>
            </a:r>
          </a:p>
        </p:txBody>
      </p:sp>
      <p:sp>
        <p:nvSpPr>
          <p:cNvPr id="21" name="Oval 20"/>
          <p:cNvSpPr/>
          <p:nvPr/>
        </p:nvSpPr>
        <p:spPr>
          <a:xfrm>
            <a:off x="7987101" y="5198364"/>
            <a:ext cx="118872" cy="118872"/>
          </a:xfrm>
          <a:prstGeom prst="ellipse">
            <a:avLst/>
          </a:prstGeom>
          <a:solidFill>
            <a:srgbClr val="174E5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000817" y="542239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마드리드</a:t>
            </a:r>
          </a:p>
        </p:txBody>
      </p:sp>
      <p:sp>
        <p:nvSpPr>
          <p:cNvPr id="23" name="Oval 22"/>
          <p:cNvSpPr/>
          <p:nvPr/>
        </p:nvSpPr>
        <p:spPr>
          <a:xfrm>
            <a:off x="9130072" y="5198364"/>
            <a:ext cx="118872" cy="118872"/>
          </a:xfrm>
          <a:prstGeom prst="ellipse">
            <a:avLst/>
          </a:prstGeom>
          <a:solidFill>
            <a:srgbClr val="174E5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143788" y="542239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발렌시아</a:t>
            </a:r>
          </a:p>
        </p:txBody>
      </p:sp>
      <p:sp>
        <p:nvSpPr>
          <p:cNvPr id="25" name="Oval 24"/>
          <p:cNvSpPr/>
          <p:nvPr/>
        </p:nvSpPr>
        <p:spPr>
          <a:xfrm>
            <a:off x="10273043" y="5198364"/>
            <a:ext cx="118872" cy="118872"/>
          </a:xfrm>
          <a:prstGeom prst="ellipse">
            <a:avLst/>
          </a:prstGeom>
          <a:solidFill>
            <a:srgbClr val="174E5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286759" y="542239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바르셀로나</a:t>
            </a:r>
          </a:p>
        </p:txBody>
      </p:sp>
      <p:sp>
        <p:nvSpPr>
          <p:cNvPr id="27" name="Oval 26"/>
          <p:cNvSpPr/>
          <p:nvPr/>
        </p:nvSpPr>
        <p:spPr>
          <a:xfrm>
            <a:off x="672084" y="5198364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74E58"/>
            </a:solidFill>
          </a:ln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85800" y="542239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서울</a:t>
            </a:r>
            <a:r>
              <a:rPr sz="900" b="0">
                <a:solidFill>
                  <a:srgbClr val="969CA2"/>
                </a:solidFill>
                <a:latin typeface="Pretendard"/>
                <a:ea typeface="Pretendard"/>
                <a:cs typeface="Pretendard"/>
              </a:rPr>
              <a:t> (출국 전)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60720"/>
            <a:ext cx="7152436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69CA2"/>
                </a:solidFill>
                <a:latin typeface="Pretendard"/>
                <a:ea typeface="Pretendard"/>
                <a:cs typeface="Pretendard"/>
              </a:rPr>
              <a:t>서울 2곳 (10~11월, 출국 전)  ·  유럽 8개 도시 (2026.12.22 ~ 2027.1.3)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623552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174E58"/>
                </a:solidFill>
                <a:latin typeface="Pretendard"/>
                <a:ea typeface="Pretendard"/>
                <a:cs typeface="Pretendard"/>
              </a:rPr>
              <a:t>01</a:t>
            </a:r>
            <a:r>
              <a:rPr sz="1050" b="0">
                <a:solidFill>
                  <a:srgbClr val="5B6066"/>
                </a:solidFill>
                <a:latin typeface="Pretendard Medium"/>
                <a:ea typeface="Pretendard Medium"/>
                <a:cs typeface="Pretendard Medium"/>
              </a:rPr>
              <a:t>  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8021116" y="457200"/>
            <a:ext cx="395592" cy="82296"/>
          </a:xfrm>
          <a:prstGeom prst="rect">
            <a:avLst/>
          </a:prstGeom>
          <a:solidFill>
            <a:srgbClr val="174E5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462429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8903741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9345053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9786366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0227678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0668990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1110302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85800" y="713232"/>
            <a:ext cx="990318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유럽 규제 도시의 보도를 직접 세어 서울 킥보드 주차칸의 근거로 씁니다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382512"/>
            <a:ext cx="8986266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969CA2"/>
                </a:solidFill>
                <a:latin typeface="Pretendard"/>
                <a:ea typeface="Pretendard"/>
                <a:cs typeface="Pretendard"/>
              </a:rPr>
              <a:t>출처: 서울특별시의회(2026.9.11) · 서울시(2026.9.30)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71860" y="6382512"/>
            <a:ext cx="734034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5000"/>
              </a:lnSpc>
            </a:pPr>
            <a:r>
              <a:rPr sz="850" b="0">
                <a:solidFill>
                  <a:srgbClr val="969CA2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1965960"/>
            <a:ext cx="7381036" cy="0"/>
          </a:xfrm>
          <a:prstGeom prst="line">
            <a:avLst/>
          </a:prstGeom>
          <a:ln w="22225">
            <a:solidFill>
              <a:srgbClr val="174E58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685800" y="2057400"/>
            <a:ext cx="1078992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질문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057400"/>
            <a:ext cx="6082588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금지·관리·불허, 그 선택이 실제 보도를 얼마나 비웠는가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40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서울 주차칸의 위치와 규칙에 무엇을 참고할 수 있는가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" y="3063239"/>
            <a:ext cx="7381036" cy="0"/>
          </a:xfrm>
          <a:prstGeom prst="line">
            <a:avLst/>
          </a:prstGeom>
          <a:ln w="9525">
            <a:solidFill>
              <a:srgbClr val="D3D6D9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685800" y="3154679"/>
            <a:ext cx="1078992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방법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154679"/>
            <a:ext cx="6082588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유럽 4개 도시·서울 2곳의 정해진 구간에서 보도 위 공유 이동수단을 모두 촬영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40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AI가 제도 기준으로 정상·통행 방해·위험을 분류, 두 사람 판정과 비교해 검증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4160520"/>
            <a:ext cx="7381036" cy="0"/>
          </a:xfrm>
          <a:prstGeom prst="line">
            <a:avLst/>
          </a:prstGeom>
          <a:ln w="9525">
            <a:solidFill>
              <a:srgbClr val="D3D6D9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685800" y="4251959"/>
            <a:ext cx="1078992" cy="10515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결과물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4251959"/>
            <a:ext cx="6082588" cy="10515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서울 주차칸 위치 후보 지도  ·  킥보드 없는 거리 밖으로 방치가 옮겨 갔는지 평가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40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(조건부) 주차칸 근처 반납 규칙 제안</a:t>
            </a:r>
          </a:p>
          <a:p>
            <a:pPr algn="l">
              <a:lnSpc>
                <a:spcPct val="120000"/>
              </a:lnSpc>
              <a:spcBef>
                <a:spcPts val="400"/>
              </a:spcBef>
            </a:pPr>
            <a:r>
              <a:rPr sz="110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모두 학생 조사 기반 참고 자료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5800" y="5394960"/>
            <a:ext cx="7381036" cy="0"/>
          </a:xfrm>
          <a:prstGeom prst="line">
            <a:avLst/>
          </a:prstGeom>
          <a:ln w="9525">
            <a:solidFill>
              <a:srgbClr val="D3D6D9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9075191" y="1965960"/>
            <a:ext cx="256786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74E58"/>
                </a:solidFill>
                <a:latin typeface="Pretendard SemiBold"/>
                <a:ea typeface="Pretendard SemiBold"/>
                <a:cs typeface="Pretendard SemiBold"/>
              </a:rPr>
              <a:t>왜 지금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30055" y="2441448"/>
            <a:ext cx="0" cy="1764792"/>
          </a:xfrm>
          <a:prstGeom prst="line">
            <a:avLst/>
          </a:prstGeom>
          <a:ln w="12700">
            <a:solidFill>
              <a:srgbClr val="D3D6D9"/>
            </a:solidFill>
          </a:ln>
        </p:spPr>
      </p:cxnSp>
      <p:sp>
        <p:nvSpPr>
          <p:cNvPr id="26" name="Oval 25"/>
          <p:cNvSpPr/>
          <p:nvPr/>
        </p:nvSpPr>
        <p:spPr>
          <a:xfrm>
            <a:off x="9070619" y="2491740"/>
            <a:ext cx="118872" cy="118872"/>
          </a:xfrm>
          <a:prstGeom prst="ellipse">
            <a:avLst/>
          </a:prstGeom>
          <a:solidFill>
            <a:srgbClr val="174E5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349511" y="2441448"/>
            <a:ext cx="2293543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74E58"/>
                </a:solidFill>
                <a:latin typeface="Pretendard"/>
                <a:ea typeface="Pretendard"/>
                <a:cs typeface="Pretendard"/>
              </a:rPr>
              <a:t>2026.9.11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130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조례 개정, 서울시가 킥보드 전용 주차칸을 직접 설치 가능</a:t>
            </a:r>
          </a:p>
        </p:txBody>
      </p:sp>
      <p:sp>
        <p:nvSpPr>
          <p:cNvPr id="28" name="Oval 27"/>
          <p:cNvSpPr/>
          <p:nvPr/>
        </p:nvSpPr>
        <p:spPr>
          <a:xfrm>
            <a:off x="9070619" y="3817620"/>
            <a:ext cx="118872" cy="118872"/>
          </a:xfrm>
          <a:prstGeom prst="ellipse">
            <a:avLst/>
          </a:prstGeom>
          <a:solidFill>
            <a:srgbClr val="174E5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349511" y="3767328"/>
            <a:ext cx="2293543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174E58"/>
                </a:solidFill>
                <a:latin typeface="Pretendard"/>
                <a:ea typeface="Pretendard"/>
                <a:cs typeface="Pretendard"/>
              </a:rPr>
              <a:t>2026.9.30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130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킥보드 없는 거리 2곳 → 5곳 확대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623552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174E58"/>
                </a:solidFill>
                <a:latin typeface="Pretendard"/>
                <a:ea typeface="Pretendard"/>
                <a:cs typeface="Pretendard"/>
              </a:rPr>
              <a:t>02</a:t>
            </a:r>
            <a:r>
              <a:rPr sz="1050" b="0">
                <a:solidFill>
                  <a:srgbClr val="5B6066"/>
                </a:solidFill>
                <a:latin typeface="Pretendard Medium"/>
                <a:ea typeface="Pretendard Medium"/>
                <a:cs typeface="Pretendard Medium"/>
              </a:rPr>
              <a:t>   배경</a:t>
            </a:r>
          </a:p>
        </p:txBody>
      </p:sp>
      <p:sp>
        <p:nvSpPr>
          <p:cNvPr id="3" name="Rectangle 2"/>
          <p:cNvSpPr/>
          <p:nvPr/>
        </p:nvSpPr>
        <p:spPr>
          <a:xfrm>
            <a:off x="8021116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462429" y="457200"/>
            <a:ext cx="395592" cy="82296"/>
          </a:xfrm>
          <a:prstGeom prst="rect">
            <a:avLst/>
          </a:prstGeom>
          <a:solidFill>
            <a:srgbClr val="174E5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8903741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9345053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9786366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0227678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0668990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1110302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85800" y="713232"/>
            <a:ext cx="990318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서울 방치 킥보드 신고는 2년 새 4.7배 늘었습니다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382512"/>
            <a:ext cx="8986266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969CA2"/>
                </a:solidFill>
                <a:latin typeface="Pretendard"/>
                <a:ea typeface="Pretendard"/>
                <a:cs typeface="Pretendard"/>
              </a:rPr>
              <a:t>출처: 파이낸셜뉴스(2024.11, 서울시 통계) · 국민권익위원회(2024.10)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71860" y="6382512"/>
            <a:ext cx="734034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5000"/>
              </a:lnSpc>
            </a:pPr>
            <a:r>
              <a:rPr sz="850" b="0">
                <a:solidFill>
                  <a:srgbClr val="969CA2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2011679"/>
            <a:ext cx="4401693" cy="0"/>
          </a:xfrm>
          <a:prstGeom prst="line">
            <a:avLst/>
          </a:prstGeom>
          <a:ln w="12700">
            <a:solidFill>
              <a:srgbClr val="26282B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685800" y="2176272"/>
            <a:ext cx="4401693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174E58"/>
                </a:solidFill>
                <a:latin typeface="Pretendard"/>
                <a:ea typeface="Pretendard"/>
                <a:cs typeface="Pretendard"/>
              </a:rPr>
              <a:t>14.1만</a:t>
            </a:r>
            <a:r>
              <a:rPr sz="2000" b="0">
                <a:solidFill>
                  <a:srgbClr val="174E58"/>
                </a:solidFill>
                <a:latin typeface="Pretendard SemiBold"/>
                <a:ea typeface="Pretendard SemiBold"/>
                <a:cs typeface="Pretendard SemiBold"/>
              </a:rPr>
              <a:t> 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035808"/>
            <a:ext cx="4401693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서울 방치 킥보드 신고 (2023)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2021년 약 3만 건에서 4.7배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" y="4023360"/>
            <a:ext cx="4401693" cy="0"/>
          </a:xfrm>
          <a:prstGeom prst="line">
            <a:avLst/>
          </a:prstGeom>
          <a:ln w="12700">
            <a:solidFill>
              <a:srgbClr val="D3D6D9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685800" y="4187952"/>
            <a:ext cx="4401693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6.2만</a:t>
            </a:r>
            <a:r>
              <a:rPr sz="20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 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047488"/>
            <a:ext cx="4401693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서울 킥보드 견인 (2023)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0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2021년 약 2.1만 건에서 2.9배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04202" y="2011679"/>
            <a:ext cx="440169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74E58"/>
                </a:solidFill>
                <a:latin typeface="Pretendard SemiBold"/>
                <a:ea typeface="Pretendard SemiBold"/>
                <a:cs typeface="Pretendard SemiBold"/>
              </a:rPr>
              <a:t>걷는 사람이 겪는 불편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104202" y="2423160"/>
            <a:ext cx="4401693" cy="0"/>
          </a:xfrm>
          <a:prstGeom prst="line">
            <a:avLst/>
          </a:prstGeom>
          <a:ln w="9525">
            <a:solidFill>
              <a:srgbClr val="D3D6D9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7104202" y="2587752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74E58"/>
                </a:solidFill>
                <a:latin typeface="Pretendard SemiBold"/>
                <a:ea typeface="Pretendard SemiBold"/>
                <a:cs typeface="Pretendard SemiBold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69962" y="2587752"/>
            <a:ext cx="4035932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보도 가운데 선 기기를 돌아서 걸어야 함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104202" y="3081528"/>
            <a:ext cx="4401693" cy="0"/>
          </a:xfrm>
          <a:prstGeom prst="line">
            <a:avLst/>
          </a:prstGeom>
          <a:ln w="9525">
            <a:solidFill>
              <a:srgbClr val="D3D6D9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7104202" y="32461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74E58"/>
                </a:solidFill>
                <a:latin typeface="Pretendard SemiBold"/>
                <a:ea typeface="Pretendard SemiBold"/>
                <a:cs typeface="Pretendard SemiBold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69962" y="3246120"/>
            <a:ext cx="4035932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점자블록 위 기기가 시각장애인의 길을 끊음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104202" y="3739896"/>
            <a:ext cx="4401693" cy="0"/>
          </a:xfrm>
          <a:prstGeom prst="line">
            <a:avLst/>
          </a:prstGeom>
          <a:ln w="9525">
            <a:solidFill>
              <a:srgbClr val="D3D6D9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7104202" y="3904487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74E58"/>
                </a:solidFill>
                <a:latin typeface="Pretendard SemiBold"/>
                <a:ea typeface="Pretendard SemiBold"/>
                <a:cs typeface="Pretendard SemiBold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69962" y="3904487"/>
            <a:ext cx="4035932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쓰러진 기기에 걸려 넘어질 위험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104202" y="4398264"/>
            <a:ext cx="4401693" cy="0"/>
          </a:xfrm>
          <a:prstGeom prst="line">
            <a:avLst/>
          </a:prstGeom>
          <a:ln w="9525">
            <a:solidFill>
              <a:srgbClr val="D3D6D9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7104202" y="4800600"/>
            <a:ext cx="4401693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공유자전거 민원도 2024년 월평균 323건으로 전년의 1.6배</a:t>
            </a:r>
          </a:p>
          <a:p>
            <a:pPr algn="l">
              <a:lnSpc>
                <a:spcPct val="125000"/>
              </a:lnSpc>
            </a:pPr>
            <a:r>
              <a:rPr sz="115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(국민권익위원회, 2024.10)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623552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174E58"/>
                </a:solidFill>
                <a:latin typeface="Pretendard"/>
                <a:ea typeface="Pretendard"/>
                <a:cs typeface="Pretendard"/>
              </a:rPr>
              <a:t>02</a:t>
            </a:r>
            <a:r>
              <a:rPr sz="1050" b="0">
                <a:solidFill>
                  <a:srgbClr val="5B6066"/>
                </a:solidFill>
                <a:latin typeface="Pretendard Medium"/>
                <a:ea typeface="Pretendard Medium"/>
                <a:cs typeface="Pretendard Medium"/>
              </a:rPr>
              <a:t>   배경</a:t>
            </a:r>
          </a:p>
        </p:txBody>
      </p:sp>
      <p:sp>
        <p:nvSpPr>
          <p:cNvPr id="3" name="Rectangle 2"/>
          <p:cNvSpPr/>
          <p:nvPr/>
        </p:nvSpPr>
        <p:spPr>
          <a:xfrm>
            <a:off x="8021116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462429" y="457200"/>
            <a:ext cx="395592" cy="82296"/>
          </a:xfrm>
          <a:prstGeom prst="rect">
            <a:avLst/>
          </a:prstGeom>
          <a:solidFill>
            <a:srgbClr val="174E5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8903741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9345053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9786366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0227678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0668990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1110302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85800" y="713232"/>
            <a:ext cx="990318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킥보드 없는 거리의 효과는 아직 설문으로만 확인됐습니다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382512"/>
            <a:ext cx="8986266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969CA2"/>
                </a:solidFill>
                <a:latin typeface="Pretendard"/>
                <a:ea typeface="Pretendard"/>
                <a:cs typeface="Pretendard"/>
              </a:rPr>
              <a:t>출처: 서울시(2026.9, 킥보드 없는 거리 확대·생활인구 설문) · 서울특별시의회(2026.9.11) · 전국매일신문(2026.9) · Klein 외(2023)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71860" y="6382512"/>
            <a:ext cx="734034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5000"/>
              </a:lnSpc>
            </a:pPr>
            <a:r>
              <a:rPr sz="850" b="0">
                <a:solidFill>
                  <a:srgbClr val="969CA2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965960"/>
            <a:ext cx="5044287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B6066"/>
                </a:solidFill>
                <a:latin typeface="Pretendard SemiBold"/>
                <a:ea typeface="Pretendard SemiBold"/>
                <a:cs typeface="Pretendard SemiBold"/>
              </a:rPr>
              <a:t>서울이 한 것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5800" y="2377439"/>
            <a:ext cx="5044287" cy="0"/>
          </a:xfrm>
          <a:prstGeom prst="line">
            <a:avLst/>
          </a:prstGeom>
          <a:ln w="15875">
            <a:solidFill>
              <a:srgbClr val="5B6066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685800" y="2606039"/>
            <a:ext cx="5044287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B6066"/>
                </a:solidFill>
                <a:latin typeface="Pretendard Medium"/>
                <a:ea typeface="Pretendard Medium"/>
                <a:cs typeface="Pretendard Medium"/>
              </a:rPr>
              <a:t>2026.9.30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1700" b="0">
                <a:solidFill>
                  <a:srgbClr val="26282B"/>
                </a:solidFill>
                <a:latin typeface="Pretendard Medium"/>
                <a:ea typeface="Pretendard Medium"/>
                <a:cs typeface="Pretendard Medium"/>
              </a:rPr>
              <a:t>킥보드 없는 거리 2곳 → 5곳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657599"/>
            <a:ext cx="5044287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B6066"/>
                </a:solidFill>
                <a:latin typeface="Pretendard Medium"/>
                <a:ea typeface="Pretendard Medium"/>
                <a:cs typeface="Pretendard Medium"/>
              </a:rPr>
              <a:t>2026.9.11 조례 개정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1700" b="0">
                <a:solidFill>
                  <a:srgbClr val="26282B"/>
                </a:solidFill>
                <a:latin typeface="Pretendard Medium"/>
                <a:ea typeface="Pretendard Medium"/>
                <a:cs typeface="Pretendard Medium"/>
              </a:rPr>
              <a:t>지정주차구역 설치·운영 근거 명문화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1300" b="0">
                <a:solidFill>
                  <a:srgbClr val="5B6066"/>
                </a:solidFill>
                <a:latin typeface="Pretendard Medium"/>
                <a:ea typeface="Pretendard Medium"/>
                <a:cs typeface="Pretendard Medium"/>
              </a:rPr>
              <a:t>이미 24개 자치구 485곳 운영 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727" y="1965960"/>
            <a:ext cx="5044287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74E58"/>
                </a:solidFill>
                <a:latin typeface="Pretendard SemiBold"/>
                <a:ea typeface="Pretendard SemiBold"/>
                <a:cs typeface="Pretendard SemiBold"/>
              </a:rPr>
              <a:t>아직 없는 것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278727" y="2377439"/>
            <a:ext cx="5044288" cy="0"/>
          </a:xfrm>
          <a:prstGeom prst="line">
            <a:avLst/>
          </a:prstGeom>
          <a:ln w="15875">
            <a:solidFill>
              <a:srgbClr val="174E58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6278727" y="2606039"/>
            <a:ext cx="5044287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B6066"/>
                </a:solidFill>
                <a:latin typeface="Pretendard Medium"/>
                <a:ea typeface="Pretendard Medium"/>
                <a:cs typeface="Pretendard Medium"/>
              </a:rPr>
              <a:t>효과 평가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17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생활인구 500명 설문, '무단 방치 감소' 80.4%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8727" y="3657599"/>
            <a:ext cx="5044287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B6066"/>
                </a:solidFill>
                <a:latin typeface="Pretendard Medium"/>
                <a:ea typeface="Pretendard Medium"/>
                <a:cs typeface="Pretendard Medium"/>
              </a:rPr>
              <a:t>주차칸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sz="17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어디에 우선 늘리고 어떤 반납 규칙을 둘지는 기준이 없음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5847" y="1965960"/>
            <a:ext cx="0" cy="2743200"/>
          </a:xfrm>
          <a:prstGeom prst="line">
            <a:avLst/>
          </a:prstGeom>
          <a:ln w="9525">
            <a:solidFill>
              <a:srgbClr val="D3D6D9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685800" y="5074920"/>
            <a:ext cx="10820095" cy="0"/>
          </a:xfrm>
          <a:prstGeom prst="line">
            <a:avLst/>
          </a:prstGeom>
          <a:ln w="9525">
            <a:solidFill>
              <a:srgbClr val="D3D6D9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685800" y="5257800"/>
            <a:ext cx="1650949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74E58"/>
                </a:solidFill>
                <a:latin typeface="Pretendard SemiBold"/>
                <a:ea typeface="Pretendard SemiBold"/>
                <a:cs typeface="Pretendard SemiBold"/>
              </a:rPr>
              <a:t>설문의 한계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5257800"/>
            <a:ext cx="9585655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설문은 실제와 다를 수 있습니다. 워싱턴DC·오클랜드 연구에서 시민은 20~30% 이상이 잘못 세워졌다고 느꼈지만,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실제 규정 위반은 15~19%, 보행 방해는 5~6%였습니다 (Klein 외, 2023).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623552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174E58"/>
                </a:solidFill>
                <a:latin typeface="Pretendard"/>
                <a:ea typeface="Pretendard"/>
                <a:cs typeface="Pretendard"/>
              </a:rPr>
              <a:t>02</a:t>
            </a:r>
            <a:r>
              <a:rPr sz="1050" b="0">
                <a:solidFill>
                  <a:srgbClr val="5B6066"/>
                </a:solidFill>
                <a:latin typeface="Pretendard Medium"/>
                <a:ea typeface="Pretendard Medium"/>
                <a:cs typeface="Pretendard Medium"/>
              </a:rPr>
              <a:t>   배경</a:t>
            </a:r>
          </a:p>
        </p:txBody>
      </p:sp>
      <p:sp>
        <p:nvSpPr>
          <p:cNvPr id="3" name="Rectangle 2"/>
          <p:cNvSpPr/>
          <p:nvPr/>
        </p:nvSpPr>
        <p:spPr>
          <a:xfrm>
            <a:off x="8021116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462429" y="457200"/>
            <a:ext cx="395592" cy="82296"/>
          </a:xfrm>
          <a:prstGeom prst="rect">
            <a:avLst/>
          </a:prstGeom>
          <a:solidFill>
            <a:srgbClr val="174E5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8903741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9345053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9786366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0227678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0668990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1110302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85800" y="713232"/>
            <a:ext cx="990318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규제 전후를 같은 방법으로 센 유럽 보도 조사는 찾지 못했습니다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382512"/>
            <a:ext cx="8986266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969CA2"/>
                </a:solidFill>
                <a:latin typeface="Pretendard"/>
                <a:ea typeface="Pretendard"/>
                <a:cs typeface="Pretendard"/>
              </a:rPr>
              <a:t>출처: paris.fr · NPR(2023) · madrid.es(2024.9) · The Objective(2024.10) · hessenschau(2026.6) · Brussels Times(2024~2026) · heidelberg.de · barcelona.cat</a:t>
            </a:r>
          </a:p>
        </p:txBody>
      </p:sp>
      <p:sp>
        <p:nvSpPr>
          <p:cNvPr id="90" name="TextBox Footnote"/>
          <p:cNvSpPr txBox="1"/>
          <p:nvPr/>
        </p:nvSpPr>
        <p:spPr>
          <a:xfrm>
            <a:off x="685800" y="5522976"/>
            <a:ext cx="10817352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보도 위 킥보드를 센 연구는 미국·뉴질랜드·노르웨이 등에 있으나 대부분 규제 이전 관찰입니다 (Brown 외 2020, Klein 외 2023, Karlsen 외 2021)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71860" y="6382512"/>
            <a:ext cx="734034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5000"/>
              </a:lnSpc>
            </a:pPr>
            <a:r>
              <a:rPr sz="850" b="0">
                <a:solidFill>
                  <a:srgbClr val="969CA2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920239"/>
            <a:ext cx="98755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B6066"/>
                </a:solidFill>
                <a:latin typeface="Pretendard Medium"/>
                <a:ea typeface="Pretendard Medium"/>
                <a:cs typeface="Pretendard Medium"/>
              </a:rPr>
              <a:t>방식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1920239"/>
            <a:ext cx="2221991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B6066"/>
                </a:solidFill>
                <a:latin typeface="Pretendard Medium"/>
                <a:ea typeface="Pretendard Medium"/>
                <a:cs typeface="Pretendard Medium"/>
              </a:rPr>
              <a:t>도시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1920239"/>
            <a:ext cx="546811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B6066"/>
                </a:solidFill>
                <a:latin typeface="Pretendard Medium"/>
                <a:ea typeface="Pretendard Medium"/>
                <a:cs typeface="Pretendard Medium"/>
              </a:rPr>
              <a:t>핵심 조치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1920239"/>
            <a:ext cx="1703527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B6066"/>
                </a:solidFill>
                <a:latin typeface="Pretendard Medium"/>
                <a:ea typeface="Pretendard Medium"/>
                <a:cs typeface="Pretendard Medium"/>
              </a:rPr>
              <a:t>규제 전후 비교 조사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5800" y="2249423"/>
            <a:ext cx="10820095" cy="0"/>
          </a:xfrm>
          <a:prstGeom prst="line">
            <a:avLst/>
          </a:prstGeom>
          <a:ln w="22225">
            <a:solidFill>
              <a:srgbClr val="174E58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685800" y="2340863"/>
            <a:ext cx="987552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174E58"/>
                </a:solidFill>
                <a:latin typeface="Pretendard SemiBold"/>
                <a:ea typeface="Pretendard SemiBold"/>
                <a:cs typeface="Pretendard SemiBold"/>
              </a:rPr>
              <a:t>금지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2340863"/>
            <a:ext cx="2221991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파리 · 마드리드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2340863"/>
            <a:ext cx="5468112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파리  </a:t>
            </a:r>
            <a:r>
              <a:rPr sz="13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2023 주민투표(반대 89%), 1.5만 대 퇴출</a:t>
            </a:r>
          </a:p>
          <a:p>
            <a:pPr algn="l">
              <a:lnSpc>
                <a:spcPct val="120000"/>
              </a:lnSpc>
              <a:spcBef>
                <a:spcPts val="500"/>
              </a:spcBef>
            </a:pPr>
            <a:r>
              <a:rPr sz="135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마드리드  </a:t>
            </a:r>
            <a:r>
              <a:rPr sz="13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공유 킥보드 6,000대 허가 취소(2024.10)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2340863"/>
            <a:ext cx="1703527" cy="8686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969CA2"/>
                </a:solidFill>
                <a:latin typeface="Pretendard"/>
                <a:ea typeface="Pretendard"/>
                <a:cs typeface="Pretendard"/>
              </a:rPr>
              <a:t>찾지 못함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5800" y="3300983"/>
            <a:ext cx="10820095" cy="0"/>
          </a:xfrm>
          <a:prstGeom prst="line">
            <a:avLst/>
          </a:prstGeom>
          <a:ln w="9525">
            <a:solidFill>
              <a:srgbClr val="D3D6D9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685800" y="3392423"/>
            <a:ext cx="987552" cy="10972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174E58"/>
                </a:solidFill>
                <a:latin typeface="Pretendard SemiBold"/>
                <a:ea typeface="Pretendard SemiBold"/>
                <a:cs typeface="Pretendard SemiBold"/>
              </a:rPr>
              <a:t>관리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3392423"/>
            <a:ext cx="2221991" cy="10972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프랑크푸르트 · 하이델베르크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3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쾰른 · 브뤼셀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3392423"/>
            <a:ext cx="5468112" cy="10972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프랑크푸르트  </a:t>
            </a:r>
            <a:r>
              <a:rPr sz="13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주차면 263곳(2026.6), 반경 100m 안 반납 금지</a:t>
            </a:r>
          </a:p>
          <a:p>
            <a:pPr algn="l">
              <a:lnSpc>
                <a:spcPct val="120000"/>
              </a:lnSpc>
              <a:spcBef>
                <a:spcPts val="500"/>
              </a:spcBef>
            </a:pPr>
            <a:r>
              <a:rPr sz="135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브뤼셀  </a:t>
            </a:r>
            <a:r>
              <a:rPr sz="13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지정 주차구역 1,700곳, 2027 금지 예정</a:t>
            </a:r>
          </a:p>
          <a:p>
            <a:pPr algn="l">
              <a:lnSpc>
                <a:spcPct val="120000"/>
              </a:lnSpc>
              <a:spcBef>
                <a:spcPts val="100"/>
              </a:spcBef>
            </a:pPr>
            <a:r>
              <a:rPr sz="115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(12월 마지막 운행)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3392423"/>
            <a:ext cx="1703527" cy="10972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969CA2"/>
                </a:solidFill>
                <a:latin typeface="Pretendard"/>
                <a:ea typeface="Pretendard"/>
                <a:cs typeface="Pretendard"/>
              </a:rPr>
              <a:t>찾지 못함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85800" y="4581144"/>
            <a:ext cx="10820095" cy="0"/>
          </a:xfrm>
          <a:prstGeom prst="line">
            <a:avLst/>
          </a:prstGeom>
          <a:ln w="9525">
            <a:solidFill>
              <a:srgbClr val="D3D6D9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685800" y="4672583"/>
            <a:ext cx="987552" cy="594359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174E58"/>
                </a:solidFill>
                <a:latin typeface="Pretendard SemiBold"/>
                <a:ea typeface="Pretendard SemiBold"/>
                <a:cs typeface="Pretendard SemiBold"/>
              </a:rPr>
              <a:t>불허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83080" y="4672583"/>
            <a:ext cx="2221991" cy="594359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바르셀로나 · 발렌시아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4672583"/>
            <a:ext cx="5468112" cy="594359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공유 킥보드를 허가한 적 없음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4672583"/>
            <a:ext cx="1703527" cy="594359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969CA2"/>
                </a:solidFill>
                <a:latin typeface="Pretendard"/>
                <a:ea typeface="Pretendard"/>
                <a:cs typeface="Pretendard"/>
              </a:rPr>
              <a:t>찾지 못함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85800" y="5358383"/>
            <a:ext cx="10820095" cy="0"/>
          </a:xfrm>
          <a:prstGeom prst="line">
            <a:avLst/>
          </a:prstGeom>
          <a:ln w="9525">
            <a:solidFill>
              <a:srgbClr val="D3D6D9"/>
            </a:solidFill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623552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174E58"/>
                </a:solidFill>
                <a:latin typeface="Pretendard"/>
                <a:ea typeface="Pretendard"/>
                <a:cs typeface="Pretendard"/>
              </a:rPr>
              <a:t>03</a:t>
            </a:r>
            <a:r>
              <a:rPr sz="1050" b="0">
                <a:solidFill>
                  <a:srgbClr val="5B6066"/>
                </a:solidFill>
                <a:latin typeface="Pretendard Medium"/>
                <a:ea typeface="Pretendard Medium"/>
                <a:cs typeface="Pretendard Medium"/>
              </a:rPr>
              <a:t>   질문과 목표</a:t>
            </a:r>
          </a:p>
        </p:txBody>
      </p:sp>
      <p:sp>
        <p:nvSpPr>
          <p:cNvPr id="3" name="Rectangle 2"/>
          <p:cNvSpPr/>
          <p:nvPr/>
        </p:nvSpPr>
        <p:spPr>
          <a:xfrm>
            <a:off x="8021116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462429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8903741" y="457200"/>
            <a:ext cx="395592" cy="82296"/>
          </a:xfrm>
          <a:prstGeom prst="rect">
            <a:avLst/>
          </a:prstGeom>
          <a:solidFill>
            <a:srgbClr val="174E5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9345053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9786366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0227678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0668990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1110302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85800" y="713232"/>
            <a:ext cx="990318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3200" b="0">
                <a:solidFill>
                  <a:srgbClr val="174E58"/>
                </a:solidFill>
                <a:latin typeface="Pretendard SemiBold"/>
                <a:ea typeface="Pretendard SemiBold"/>
                <a:cs typeface="Pretendard SemiBold"/>
              </a:rPr>
              <a:t>금지하면 사라질까, 옮겨갈까?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382512"/>
            <a:ext cx="8986266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969CA2"/>
                </a:solidFill>
                <a:latin typeface="Pretendard"/>
                <a:ea typeface="Pretendard"/>
                <a:cs typeface="Pretendard"/>
              </a:rPr>
              <a:t>출처: 파이낸셜뉴스(2024.11, 서울시의회 자료)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71860" y="6382512"/>
            <a:ext cx="734034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5000"/>
              </a:lnSpc>
            </a:pPr>
            <a:r>
              <a:rPr sz="850" b="0">
                <a:solidFill>
                  <a:srgbClr val="969CA2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965960"/>
            <a:ext cx="440169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74E58"/>
                </a:solidFill>
                <a:latin typeface="Pretendard SemiBold"/>
                <a:ea typeface="Pretendard SemiBold"/>
                <a:cs typeface="Pretendard SemiBold"/>
              </a:rPr>
              <a:t>서울 공유 전기자전거 대수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514600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2021년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83080" y="2514600"/>
            <a:ext cx="129919" cy="411480"/>
          </a:xfrm>
          <a:prstGeom prst="rect">
            <a:avLst/>
          </a:prstGeom>
          <a:solidFill>
            <a:srgbClr val="969CA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2022727" y="251460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1,600대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383280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2024년 9월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83080" y="3383280"/>
            <a:ext cx="2577442" cy="411480"/>
          </a:xfrm>
          <a:prstGeom prst="rect">
            <a:avLst/>
          </a:prstGeom>
          <a:solidFill>
            <a:srgbClr val="174E5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470250" y="3383280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74E58"/>
                </a:solidFill>
                <a:latin typeface="Pretendard SemiBold"/>
                <a:ea typeface="Pretendard SemiBold"/>
                <a:cs typeface="Pretendard SemiBold"/>
              </a:rPr>
              <a:t>3만 1,742대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783080" y="2377439"/>
            <a:ext cx="0" cy="2011681"/>
          </a:xfrm>
          <a:prstGeom prst="line">
            <a:avLst/>
          </a:prstGeom>
          <a:ln w="9525">
            <a:solidFill>
              <a:srgbClr val="5B6066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685800" y="4617720"/>
            <a:ext cx="4401693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킥보드를 막아도 그 자리를 다른 공유 기기가 채울 수 있습니다.</a:t>
            </a:r>
          </a:p>
          <a:p>
            <a:pPr algn="l">
              <a:lnSpc>
                <a:spcPct val="125000"/>
              </a:lnSpc>
            </a:pPr>
            <a:r>
              <a:rPr sz="125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그래서 공유 전기자전거까지 함께 셉니다.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1607" y="1965960"/>
            <a:ext cx="5318607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74E58"/>
                </a:solidFill>
                <a:latin typeface="Pretendard SemiBold"/>
                <a:ea typeface="Pretendard SemiBold"/>
                <a:cs typeface="Pretendard SemiBold"/>
              </a:rPr>
              <a:t>목표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1607" y="2423160"/>
            <a:ext cx="384048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74E58"/>
                </a:solidFill>
                <a:latin typeface="Pretendard SemiBold"/>
                <a:ea typeface="Pretendard SemiBold"/>
                <a:cs typeface="Pretendard SemiBold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45655" y="2423160"/>
            <a:ext cx="4660239" cy="82295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유럽 4개 도시와 서울 2곳의 보도 위 공유 이동수단을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같은 기준으로 셉니다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61607" y="3291839"/>
            <a:ext cx="384048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74E58"/>
                </a:solidFill>
                <a:latin typeface="Pretendard SemiBold"/>
                <a:ea typeface="Pretendard SemiBold"/>
                <a:cs typeface="Pretendard SemiBold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45655" y="3291839"/>
            <a:ext cx="4660239" cy="82295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규제 방식, 주차구역과의 거리, 금지 구역 안팎에 따라</a:t>
            </a:r>
          </a:p>
          <a:p>
            <a:pPr algn="l">
              <a:lnSpc>
                <a:spcPct val="125000"/>
              </a:lnSpc>
            </a:pPr>
            <a:r>
              <a:rPr sz="140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주차 상태를 비교합니다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1607" y="4160520"/>
            <a:ext cx="384048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74E58"/>
                </a:solidFill>
                <a:latin typeface="Pretendard SemiBold"/>
                <a:ea typeface="Pretendard SemiBold"/>
                <a:cs typeface="Pretendard SemiBold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45655" y="4160520"/>
            <a:ext cx="4660239" cy="82295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서울 주차칸의 위치와 규칙을 정할 때 참고할 자료로 정리합니다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623552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174E58"/>
                </a:solidFill>
                <a:latin typeface="Pretendard"/>
                <a:ea typeface="Pretendard"/>
                <a:cs typeface="Pretendard"/>
              </a:rPr>
              <a:t>04</a:t>
            </a:r>
            <a:r>
              <a:rPr sz="1050" b="0">
                <a:solidFill>
                  <a:srgbClr val="5B6066"/>
                </a:solidFill>
                <a:latin typeface="Pretendard Medium"/>
                <a:ea typeface="Pretendard Medium"/>
                <a:cs typeface="Pretendard Medium"/>
              </a:rPr>
              <a:t>   방법</a:t>
            </a:r>
          </a:p>
        </p:txBody>
      </p:sp>
      <p:sp>
        <p:nvSpPr>
          <p:cNvPr id="3" name="Rectangle 2"/>
          <p:cNvSpPr/>
          <p:nvPr/>
        </p:nvSpPr>
        <p:spPr>
          <a:xfrm>
            <a:off x="8021116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462429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8903741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9345053" y="457200"/>
            <a:ext cx="395592" cy="82296"/>
          </a:xfrm>
          <a:prstGeom prst="rect">
            <a:avLst/>
          </a:prstGeom>
          <a:solidFill>
            <a:srgbClr val="174E5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9786366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0227678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0668990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1110302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85800" y="713232"/>
            <a:ext cx="990318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사진 한 장으로 판정할 수 있는 숫자 세 개를 셉니다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71860" y="6382512"/>
            <a:ext cx="734034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5000"/>
              </a:lnSpc>
            </a:pPr>
            <a:r>
              <a:rPr sz="850" b="0">
                <a:solidFill>
                  <a:srgbClr val="969CA2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2057400"/>
            <a:ext cx="10820095" cy="0"/>
          </a:xfrm>
          <a:prstGeom prst="line">
            <a:avLst/>
          </a:prstGeom>
          <a:ln w="9525">
            <a:solidFill>
              <a:srgbClr val="5B6066"/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685800" y="1984248"/>
            <a:ext cx="0" cy="146304"/>
          </a:xfrm>
          <a:prstGeom prst="line">
            <a:avLst/>
          </a:prstGeom>
          <a:ln w="9525">
            <a:solidFill>
              <a:srgbClr val="5B6066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11505895" y="1984248"/>
            <a:ext cx="0" cy="146304"/>
          </a:xfrm>
          <a:prstGeom prst="line">
            <a:avLst/>
          </a:prstGeom>
          <a:ln w="9525">
            <a:solidFill>
              <a:srgbClr val="5B6066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777240" y="176479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B6066"/>
                </a:solidFill>
                <a:latin typeface="Pretendard Medium"/>
                <a:ea typeface="Pretendard Medium"/>
                <a:cs typeface="Pretendard Medium"/>
              </a:rPr>
              <a:t>100m 단위로 환산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17627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969CA2"/>
                </a:solidFill>
                <a:latin typeface="Pretendard"/>
                <a:ea typeface="Pretendard"/>
                <a:cs typeface="Pretendard"/>
              </a:rPr>
              <a:t>건물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5800" y="2377440"/>
            <a:ext cx="10820095" cy="0"/>
          </a:xfrm>
          <a:prstGeom prst="line">
            <a:avLst/>
          </a:prstGeom>
          <a:ln w="12700">
            <a:solidFill>
              <a:srgbClr val="5B6066"/>
            </a:solidFill>
          </a:ln>
        </p:spPr>
      </p:cxnSp>
      <p:sp>
        <p:nvSpPr>
          <p:cNvPr id="19" name="Rectangle 18"/>
          <p:cNvSpPr/>
          <p:nvPr/>
        </p:nvSpPr>
        <p:spPr>
          <a:xfrm>
            <a:off x="685800" y="2377440"/>
            <a:ext cx="10820095" cy="1280160"/>
          </a:xfrm>
          <a:prstGeom prst="rect">
            <a:avLst/>
          </a:prstGeom>
          <a:solidFill>
            <a:srgbClr val="F1F2F3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85800" y="2788920"/>
            <a:ext cx="10820095" cy="182880"/>
          </a:xfrm>
          <a:prstGeom prst="rect">
            <a:avLst/>
          </a:prstGeom>
          <a:solidFill>
            <a:srgbClr val="D9DCD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58952" y="2798064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점자블록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3657600"/>
            <a:ext cx="10820095" cy="0"/>
          </a:xfrm>
          <a:prstGeom prst="line">
            <a:avLst/>
          </a:prstGeom>
          <a:ln w="19050">
            <a:solidFill>
              <a:srgbClr val="26282B"/>
            </a:solidFill>
          </a:ln>
        </p:spPr>
      </p:cxnSp>
      <p:sp>
        <p:nvSpPr>
          <p:cNvPr id="23" name="Rectangle 22"/>
          <p:cNvSpPr/>
          <p:nvPr/>
        </p:nvSpPr>
        <p:spPr>
          <a:xfrm>
            <a:off x="685800" y="3657600"/>
            <a:ext cx="10820095" cy="292608"/>
          </a:xfrm>
          <a:prstGeom prst="rect">
            <a:avLst/>
          </a:prstGeom>
          <a:solidFill>
            <a:srgbClr val="E2E4E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8952" y="372160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차도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48840" y="3200400"/>
            <a:ext cx="146304" cy="384048"/>
          </a:xfrm>
          <a:prstGeom prst="rect">
            <a:avLst/>
          </a:prstGeom>
          <a:solidFill>
            <a:srgbClr val="5B606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2404872" y="3200400"/>
            <a:ext cx="146304" cy="384048"/>
          </a:xfrm>
          <a:prstGeom prst="rect">
            <a:avLst/>
          </a:prstGeom>
          <a:solidFill>
            <a:srgbClr val="5B606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2660904" y="3200400"/>
            <a:ext cx="146304" cy="384048"/>
          </a:xfrm>
          <a:prstGeom prst="rect">
            <a:avLst/>
          </a:prstGeom>
          <a:solidFill>
            <a:srgbClr val="5B606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4617720" y="2697480"/>
            <a:ext cx="146304" cy="384048"/>
          </a:xfrm>
          <a:prstGeom prst="rect">
            <a:avLst/>
          </a:prstGeom>
          <a:solidFill>
            <a:srgbClr val="5B606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446520" y="3108960"/>
            <a:ext cx="146304" cy="384048"/>
          </a:xfrm>
          <a:prstGeom prst="rect">
            <a:avLst/>
          </a:prstGeom>
          <a:solidFill>
            <a:srgbClr val="5B606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 rot="4680000">
            <a:off x="8092440" y="3090672"/>
            <a:ext cx="146304" cy="384048"/>
          </a:xfrm>
          <a:prstGeom prst="rect">
            <a:avLst/>
          </a:prstGeom>
          <a:solidFill>
            <a:srgbClr val="5B6066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10012680" y="3182112"/>
            <a:ext cx="146304" cy="384048"/>
          </a:xfrm>
          <a:prstGeom prst="rect">
            <a:avLst/>
          </a:prstGeom>
          <a:noFill/>
          <a:ln w="12700">
            <a:solidFill>
              <a:srgbClr val="5B6066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472184" y="292608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3C7A4E"/>
                </a:solidFill>
                <a:latin typeface="Pretendard"/>
                <a:ea typeface="Pretendard"/>
                <a:cs typeface="Pretendard"/>
              </a:rPr>
              <a:t>○ </a:t>
            </a:r>
            <a:r>
              <a:rPr sz="100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가장자리 일렬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85031" y="242316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A6433A"/>
                </a:solidFill>
                <a:latin typeface="Pretendard"/>
                <a:ea typeface="Pretendard"/>
                <a:cs typeface="Pretendard"/>
              </a:rPr>
              <a:t>× </a:t>
            </a:r>
            <a:r>
              <a:rPr sz="100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점자블록 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13831" y="2834640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BD772A"/>
                </a:solidFill>
                <a:latin typeface="Pretendard"/>
                <a:ea typeface="Pretendard"/>
                <a:cs typeface="Pretendard"/>
              </a:rPr>
              <a:t>△ </a:t>
            </a:r>
            <a:r>
              <a:rPr sz="100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보도 가운데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59752" y="2916936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BD772A"/>
                </a:solidFill>
                <a:latin typeface="Pretendard"/>
                <a:ea typeface="Pretendard"/>
                <a:cs typeface="Pretendard"/>
              </a:rPr>
              <a:t>△ </a:t>
            </a:r>
            <a:r>
              <a:rPr sz="100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쓰러짐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79992" y="2907792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ctr">
              <a:lnSpc>
                <a:spcPct val="125000"/>
              </a:lnSpc>
            </a:pPr>
            <a:r>
              <a:rPr sz="1300" b="1">
                <a:solidFill>
                  <a:srgbClr val="969CA2"/>
                </a:solidFill>
                <a:latin typeface="Pretendard"/>
                <a:ea typeface="Pretendard"/>
                <a:cs typeface="Pretendard"/>
              </a:rPr>
              <a:t>– </a:t>
            </a:r>
            <a:r>
              <a:rPr sz="100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개인 기기 제외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85800" y="4343400"/>
            <a:ext cx="3393338" cy="0"/>
          </a:xfrm>
          <a:prstGeom prst="line">
            <a:avLst/>
          </a:prstGeom>
          <a:ln w="12700">
            <a:solidFill>
              <a:srgbClr val="26282B"/>
            </a:solidFill>
          </a:ln>
        </p:spPr>
      </p:cxnSp>
      <p:sp>
        <p:nvSpPr>
          <p:cNvPr id="38" name="TextBox 37"/>
          <p:cNvSpPr txBox="1"/>
          <p:nvPr/>
        </p:nvSpPr>
        <p:spPr>
          <a:xfrm>
            <a:off x="685800" y="4480560"/>
            <a:ext cx="3301898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74E58"/>
                </a:solidFill>
                <a:latin typeface="Pretendard"/>
                <a:ea typeface="Pretendard"/>
                <a:cs typeface="Pretendard"/>
              </a:rPr>
              <a:t>1   </a:t>
            </a:r>
            <a:r>
              <a:rPr sz="15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100m당 공유 이동수단 수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25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공유 킥보드 + 공유 전기자전거</a:t>
            </a:r>
          </a:p>
          <a:p>
            <a:pPr algn="l">
              <a:lnSpc>
                <a:spcPct val="125000"/>
              </a:lnSpc>
              <a:spcBef>
                <a:spcPts val="100"/>
              </a:spcBef>
            </a:pPr>
            <a:r>
              <a:rPr sz="125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개인 기기는 제외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353458" y="4343400"/>
            <a:ext cx="3393338" cy="0"/>
          </a:xfrm>
          <a:prstGeom prst="line">
            <a:avLst/>
          </a:prstGeom>
          <a:ln w="12700">
            <a:solidFill>
              <a:srgbClr val="26282B"/>
            </a:solidFill>
          </a:ln>
        </p:spPr>
      </p:cxnSp>
      <p:sp>
        <p:nvSpPr>
          <p:cNvPr id="40" name="TextBox 39"/>
          <p:cNvSpPr txBox="1"/>
          <p:nvPr/>
        </p:nvSpPr>
        <p:spPr>
          <a:xfrm>
            <a:off x="4353458" y="4480560"/>
            <a:ext cx="3301898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74E58"/>
                </a:solidFill>
                <a:latin typeface="Pretendard"/>
                <a:ea typeface="Pretendard"/>
                <a:cs typeface="Pretendard"/>
              </a:rPr>
              <a:t>2   </a:t>
            </a:r>
            <a:r>
              <a:rPr sz="15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통행 방해·위험 비율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25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1번 숫자 가운데 △·×로 분류된 비율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021116" y="4343400"/>
            <a:ext cx="3393339" cy="0"/>
          </a:xfrm>
          <a:prstGeom prst="line">
            <a:avLst/>
          </a:prstGeom>
          <a:ln w="12700">
            <a:solidFill>
              <a:srgbClr val="26282B"/>
            </a:solidFill>
          </a:ln>
        </p:spPr>
      </p:cxnSp>
      <p:sp>
        <p:nvSpPr>
          <p:cNvPr id="42" name="TextBox 41"/>
          <p:cNvSpPr txBox="1"/>
          <p:nvPr/>
        </p:nvSpPr>
        <p:spPr>
          <a:xfrm>
            <a:off x="8021116" y="4480560"/>
            <a:ext cx="3301898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500" b="1">
                <a:solidFill>
                  <a:srgbClr val="174E58"/>
                </a:solidFill>
                <a:latin typeface="Pretendard"/>
                <a:ea typeface="Pretendard"/>
                <a:cs typeface="Pretendard"/>
              </a:rPr>
              <a:t>3   </a:t>
            </a:r>
            <a:r>
              <a:rPr sz="15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위험 유형 분포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25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점자블록·횡단보도·역 출구·정류소·차도</a:t>
            </a:r>
          </a:p>
          <a:p>
            <a:pPr algn="l">
              <a:lnSpc>
                <a:spcPct val="125000"/>
              </a:lnSpc>
              <a:spcBef>
                <a:spcPts val="100"/>
              </a:spcBef>
            </a:pPr>
            <a:r>
              <a:rPr sz="125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쓰러진 기기 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623552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174E58"/>
                </a:solidFill>
                <a:latin typeface="Pretendard"/>
                <a:ea typeface="Pretendard"/>
                <a:cs typeface="Pretendard"/>
              </a:rPr>
              <a:t>04</a:t>
            </a:r>
            <a:r>
              <a:rPr sz="1050" b="0">
                <a:solidFill>
                  <a:srgbClr val="5B6066"/>
                </a:solidFill>
                <a:latin typeface="Pretendard Medium"/>
                <a:ea typeface="Pretendard Medium"/>
                <a:cs typeface="Pretendard Medium"/>
              </a:rPr>
              <a:t>   방법</a:t>
            </a:r>
          </a:p>
        </p:txBody>
      </p:sp>
      <p:sp>
        <p:nvSpPr>
          <p:cNvPr id="3" name="Rectangle 2"/>
          <p:cNvSpPr/>
          <p:nvPr/>
        </p:nvSpPr>
        <p:spPr>
          <a:xfrm>
            <a:off x="8021116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462429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8903741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9345053" y="457200"/>
            <a:ext cx="395592" cy="82296"/>
          </a:xfrm>
          <a:prstGeom prst="rect">
            <a:avLst/>
          </a:prstGeom>
          <a:solidFill>
            <a:srgbClr val="174E5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9786366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0227678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0668990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1110302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85800" y="713232"/>
            <a:ext cx="990318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판정 기준은 서울 즉시견인구역과 보도 유효폭 기준을 그대로 씁니다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382512"/>
            <a:ext cx="8986266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969CA2"/>
                </a:solidFill>
                <a:latin typeface="Pretendard"/>
                <a:ea typeface="Pretendard"/>
                <a:cs typeface="Pretendard"/>
              </a:rPr>
              <a:t>출처: 서울시 전동킥보드 즉시견인구역 안내 · 교통약자의 이동편의 증진법 시행규칙 [별표] · 서울특별시의회(2026.9.11)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71860" y="6382512"/>
            <a:ext cx="734034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5000"/>
              </a:lnSpc>
            </a:pPr>
            <a:r>
              <a:rPr sz="850" b="0">
                <a:solidFill>
                  <a:srgbClr val="969CA2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920239"/>
            <a:ext cx="171907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B6066"/>
                </a:solidFill>
                <a:latin typeface="Pretendard Medium"/>
                <a:ea typeface="Pretendard Medium"/>
                <a:cs typeface="Pretendard Medium"/>
              </a:rPr>
              <a:t>판정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1920239"/>
            <a:ext cx="455371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B6066"/>
                </a:solidFill>
                <a:latin typeface="Pretendard Medium"/>
                <a:ea typeface="Pretendard Medium"/>
                <a:cs typeface="Pretendard Medium"/>
              </a:rPr>
              <a:t>해당하는 모습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1920239"/>
            <a:ext cx="4218127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B6066"/>
                </a:solidFill>
                <a:latin typeface="Pretendard Medium"/>
                <a:ea typeface="Pretendard Medium"/>
                <a:cs typeface="Pretendard Medium"/>
              </a:rPr>
              <a:t>근거 제도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" y="2249423"/>
            <a:ext cx="10820095" cy="0"/>
          </a:xfrm>
          <a:prstGeom prst="line">
            <a:avLst/>
          </a:prstGeom>
          <a:ln w="22225">
            <a:solidFill>
              <a:srgbClr val="174E58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685800" y="2340863"/>
            <a:ext cx="1719072" cy="8412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A6433A"/>
                </a:solidFill>
                <a:latin typeface="Pretendard"/>
                <a:ea typeface="Pretendard"/>
                <a:cs typeface="Pretendard"/>
              </a:rPr>
              <a:t>×  </a:t>
            </a:r>
            <a:r>
              <a:rPr sz="1400" b="0">
                <a:solidFill>
                  <a:srgbClr val="A6433A"/>
                </a:solidFill>
                <a:latin typeface="Pretendard SemiBold"/>
                <a:ea typeface="Pretendard SemiBold"/>
                <a:cs typeface="Pretendard SemiBold"/>
              </a:rPr>
              <a:t>위험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2340863"/>
            <a:ext cx="4553712" cy="8412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점자블록 위 · 횡단보도 진입로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3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지하철역 출구 앞 · 버스정류소 앞 · 차도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2340863"/>
            <a:ext cx="4218127" cy="8412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서울시 전동킥보드 즉시견인구역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5800" y="3273551"/>
            <a:ext cx="10820095" cy="0"/>
          </a:xfrm>
          <a:prstGeom prst="line">
            <a:avLst/>
          </a:prstGeom>
          <a:ln w="9525">
            <a:solidFill>
              <a:srgbClr val="D3D6D9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685800" y="3364991"/>
            <a:ext cx="1719072" cy="8412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BD772A"/>
                </a:solidFill>
                <a:latin typeface="Pretendard"/>
                <a:ea typeface="Pretendard"/>
                <a:cs typeface="Pretendard"/>
              </a:rPr>
              <a:t>△  </a:t>
            </a:r>
            <a:r>
              <a:rPr sz="1400" b="0">
                <a:solidFill>
                  <a:srgbClr val="BD772A"/>
                </a:solidFill>
                <a:latin typeface="Pretendard SemiBold"/>
                <a:ea typeface="Pretendard SemiBold"/>
                <a:cs typeface="Pretendard SemiBold"/>
              </a:rPr>
              <a:t>통행 방해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3364991"/>
            <a:ext cx="4553712" cy="8412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보도 가운데를 막음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3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쓰러져 있음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3364991"/>
            <a:ext cx="4218127" cy="8412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교통약자법 시행규칙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0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보도 최소 유효폭 1.2m보다 좁게 만드는 경우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5800" y="4297679"/>
            <a:ext cx="10820095" cy="0"/>
          </a:xfrm>
          <a:prstGeom prst="line">
            <a:avLst/>
          </a:prstGeom>
          <a:ln w="9525">
            <a:solidFill>
              <a:srgbClr val="D3D6D9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685800" y="4389119"/>
            <a:ext cx="1719072" cy="8412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3C7A4E"/>
                </a:solidFill>
                <a:latin typeface="Pretendard"/>
                <a:ea typeface="Pretendard"/>
                <a:cs typeface="Pretendard"/>
              </a:rPr>
              <a:t>○  </a:t>
            </a:r>
            <a:r>
              <a:rPr sz="1400" b="0">
                <a:solidFill>
                  <a:srgbClr val="3C7A4E"/>
                </a:solidFill>
                <a:latin typeface="Pretendard SemiBold"/>
                <a:ea typeface="Pretendard SemiBold"/>
                <a:cs typeface="Pretendard SemiBold"/>
              </a:rPr>
              <a:t>정상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14600" y="4389119"/>
            <a:ext cx="4553712" cy="8412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보도 가장자리에 일렬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3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지정 주차구역 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4389119"/>
            <a:ext cx="4218127" cy="84124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유럽 관리형 도시의 지정 주차구역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3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서울 조례상 주차칸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85800" y="5321807"/>
            <a:ext cx="10820095" cy="0"/>
          </a:xfrm>
          <a:prstGeom prst="line">
            <a:avLst/>
          </a:prstGeom>
          <a:ln w="9525">
            <a:solidFill>
              <a:srgbClr val="D3D6D9"/>
            </a:solidFill>
          </a:ln>
        </p:spPr>
      </p:cxnSp>
      <p:sp>
        <p:nvSpPr>
          <p:cNvPr id="30" name="Rectangle 29"/>
          <p:cNvSpPr/>
          <p:nvPr/>
        </p:nvSpPr>
        <p:spPr>
          <a:xfrm>
            <a:off x="685800" y="5641847"/>
            <a:ext cx="54864" cy="457200"/>
          </a:xfrm>
          <a:prstGeom prst="rect">
            <a:avLst/>
          </a:prstGeom>
          <a:solidFill>
            <a:srgbClr val="174E5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86968" y="5641847"/>
            <a:ext cx="10618927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74E58"/>
                </a:solidFill>
                <a:latin typeface="Pretendard SemiBold"/>
                <a:ea typeface="Pretendard SemiBold"/>
                <a:cs typeface="Pretendard SemiBold"/>
              </a:rPr>
              <a:t>위험한 위치의 정의는 서울 기준에서 빌려 씁니다.</a:t>
            </a:r>
            <a:r>
              <a:rPr sz="130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 현지 규정을 지켰는지는 따지지 않고, 보행자에게 위험한 위치인지만 봅니다.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623552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174E58"/>
                </a:solidFill>
                <a:latin typeface="Pretendard"/>
                <a:ea typeface="Pretendard"/>
                <a:cs typeface="Pretendard"/>
              </a:rPr>
              <a:t>04</a:t>
            </a:r>
            <a:r>
              <a:rPr sz="1050" b="0">
                <a:solidFill>
                  <a:srgbClr val="5B6066"/>
                </a:solidFill>
                <a:latin typeface="Pretendard Medium"/>
                <a:ea typeface="Pretendard Medium"/>
                <a:cs typeface="Pretendard Medium"/>
              </a:rPr>
              <a:t>   방법</a:t>
            </a:r>
          </a:p>
        </p:txBody>
      </p:sp>
      <p:sp>
        <p:nvSpPr>
          <p:cNvPr id="3" name="Rectangle 2"/>
          <p:cNvSpPr/>
          <p:nvPr/>
        </p:nvSpPr>
        <p:spPr>
          <a:xfrm>
            <a:off x="8021116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462429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8903741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9345053" y="457200"/>
            <a:ext cx="395592" cy="82296"/>
          </a:xfrm>
          <a:prstGeom prst="rect">
            <a:avLst/>
          </a:prstGeom>
          <a:solidFill>
            <a:srgbClr val="174E5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9786366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0227678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0668990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1110302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85800" y="713232"/>
            <a:ext cx="990318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AI 분류 결과는 두 사람의 판정과 비교해 검증합니다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382512"/>
            <a:ext cx="8986266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969CA2"/>
                </a:solidFill>
                <a:latin typeface="Pretendard"/>
                <a:ea typeface="Pretendard"/>
                <a:cs typeface="Pretendard"/>
              </a:rPr>
              <a:t>출처: Globes(2021.6)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71860" y="6382512"/>
            <a:ext cx="734034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5000"/>
              </a:lnSpc>
            </a:pPr>
            <a:r>
              <a:rPr sz="850" b="0">
                <a:solidFill>
                  <a:srgbClr val="969CA2"/>
                </a:solidFill>
                <a:latin typeface="Pretendard"/>
                <a:ea typeface="Pretendard"/>
                <a:cs typeface="Pretendard"/>
              </a:rPr>
              <a:t>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011679"/>
            <a:ext cx="2240280" cy="960120"/>
          </a:xfrm>
          <a:prstGeom prst="rect">
            <a:avLst/>
          </a:prstGeom>
          <a:noFill/>
          <a:ln w="12700">
            <a:solidFill>
              <a:srgbClr val="26282B"/>
            </a:solidFill>
          </a:ln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50392" y="2157984"/>
            <a:ext cx="196596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1  찾기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15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공유 킥보드·전기자전거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999232" y="2491739"/>
            <a:ext cx="473354" cy="0"/>
          </a:xfrm>
          <a:prstGeom prst="line">
            <a:avLst/>
          </a:prstGeom>
          <a:ln w="12700">
            <a:solidFill>
              <a:srgbClr val="26282B"/>
            </a:solidFill>
            <a:tailEnd type="triangle" w="med" len="med"/>
          </a:ln>
        </p:spPr>
      </p:cxnSp>
      <p:sp>
        <p:nvSpPr>
          <p:cNvPr id="17" name="Rectangle 16"/>
          <p:cNvSpPr/>
          <p:nvPr/>
        </p:nvSpPr>
        <p:spPr>
          <a:xfrm>
            <a:off x="3545738" y="2011679"/>
            <a:ext cx="2240280" cy="960120"/>
          </a:xfrm>
          <a:prstGeom prst="rect">
            <a:avLst/>
          </a:prstGeom>
          <a:noFill/>
          <a:ln w="12700">
            <a:solidFill>
              <a:srgbClr val="26282B"/>
            </a:solidFill>
          </a:ln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710330" y="2157984"/>
            <a:ext cx="196596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2  구분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15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운영사 색·로고·QR로 공유/개인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59170" y="2491739"/>
            <a:ext cx="473354" cy="0"/>
          </a:xfrm>
          <a:prstGeom prst="line">
            <a:avLst/>
          </a:prstGeom>
          <a:ln w="12700">
            <a:solidFill>
              <a:srgbClr val="26282B"/>
            </a:solidFill>
            <a:tailEnd type="triangle" w="med" len="med"/>
          </a:ln>
        </p:spPr>
      </p:cxnSp>
      <p:sp>
        <p:nvSpPr>
          <p:cNvPr id="20" name="Rectangle 19"/>
          <p:cNvSpPr/>
          <p:nvPr/>
        </p:nvSpPr>
        <p:spPr>
          <a:xfrm>
            <a:off x="6405676" y="2011679"/>
            <a:ext cx="2240280" cy="960120"/>
          </a:xfrm>
          <a:prstGeom prst="rect">
            <a:avLst/>
          </a:prstGeom>
          <a:noFill/>
          <a:ln w="12700">
            <a:solidFill>
              <a:srgbClr val="26282B"/>
            </a:solidFill>
          </a:ln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570268" y="2157984"/>
            <a:ext cx="196596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3  상태 분류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15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기준표로 ○ △ ×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719108" y="2491739"/>
            <a:ext cx="473355" cy="0"/>
          </a:xfrm>
          <a:prstGeom prst="line">
            <a:avLst/>
          </a:prstGeom>
          <a:ln w="12700">
            <a:solidFill>
              <a:srgbClr val="26282B"/>
            </a:solidFill>
            <a:tailEnd type="triangle" w="med" len="med"/>
          </a:ln>
        </p:spPr>
      </p:cxnSp>
      <p:sp>
        <p:nvSpPr>
          <p:cNvPr id="23" name="Rectangle 22"/>
          <p:cNvSpPr/>
          <p:nvPr/>
        </p:nvSpPr>
        <p:spPr>
          <a:xfrm>
            <a:off x="9265615" y="2011679"/>
            <a:ext cx="2240280" cy="960120"/>
          </a:xfrm>
          <a:prstGeom prst="rect">
            <a:avLst/>
          </a:prstGeom>
          <a:solidFill>
            <a:srgbClr val="DDE9EA"/>
          </a:solidFill>
          <a:ln w="12700">
            <a:solidFill>
              <a:srgbClr val="174E58"/>
            </a:solidFill>
          </a:ln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430207" y="2157984"/>
            <a:ext cx="196596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174E58"/>
                </a:solidFill>
                <a:latin typeface="Pretendard SemiBold"/>
                <a:ea typeface="Pretendard SemiBold"/>
                <a:cs typeface="Pretendard SemiBold"/>
              </a:rPr>
              <a:t>사람 판정과 대조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15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일치율 공개, 애매하면 재판정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520440"/>
            <a:ext cx="348477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74E58"/>
                </a:solidFill>
                <a:latin typeface="Pretendard SemiBold"/>
                <a:ea typeface="Pretendard SemiBold"/>
                <a:cs typeface="Pretendard SemiBold"/>
              </a:rPr>
              <a:t>검증 순서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5800" y="3977639"/>
            <a:ext cx="10820095" cy="0"/>
          </a:xfrm>
          <a:prstGeom prst="line">
            <a:avLst/>
          </a:prstGeom>
          <a:ln w="12700">
            <a:solidFill>
              <a:srgbClr val="D3D6D9"/>
            </a:solidFill>
          </a:ln>
        </p:spPr>
      </p:cxnSp>
      <p:sp>
        <p:nvSpPr>
          <p:cNvPr id="27" name="Oval 26"/>
          <p:cNvSpPr/>
          <p:nvPr/>
        </p:nvSpPr>
        <p:spPr>
          <a:xfrm>
            <a:off x="685800" y="3922776"/>
            <a:ext cx="109728" cy="109728"/>
          </a:xfrm>
          <a:prstGeom prst="ellipse">
            <a:avLst/>
          </a:prstGeom>
          <a:solidFill>
            <a:srgbClr val="174E5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85800" y="4160520"/>
            <a:ext cx="2430703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74E58"/>
                </a:solidFill>
                <a:latin typeface="Pretendard"/>
                <a:ea typeface="Pretendard"/>
                <a:cs typeface="Pretendard"/>
              </a:rPr>
              <a:t>1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출국 전 서울 사진을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두 사람이 따로 판정해 일치율 확인</a:t>
            </a:r>
          </a:p>
        </p:txBody>
      </p:sp>
      <p:sp>
        <p:nvSpPr>
          <p:cNvPr id="29" name="Oval 28"/>
          <p:cNvSpPr/>
          <p:nvPr/>
        </p:nvSpPr>
        <p:spPr>
          <a:xfrm>
            <a:off x="3390823" y="3922776"/>
            <a:ext cx="109728" cy="109728"/>
          </a:xfrm>
          <a:prstGeom prst="ellipse">
            <a:avLst/>
          </a:prstGeom>
          <a:solidFill>
            <a:srgbClr val="174E5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390823" y="4160520"/>
            <a:ext cx="2430703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74E58"/>
                </a:solidFill>
                <a:latin typeface="Pretendard"/>
                <a:ea typeface="Pretendard"/>
                <a:cs typeface="Pretendard"/>
              </a:rPr>
              <a:t>2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이미지를 보는 AI 모델에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기준표와 예시 사진을 주고 분류</a:t>
            </a:r>
          </a:p>
        </p:txBody>
      </p:sp>
      <p:sp>
        <p:nvSpPr>
          <p:cNvPr id="31" name="Oval 30"/>
          <p:cNvSpPr/>
          <p:nvPr/>
        </p:nvSpPr>
        <p:spPr>
          <a:xfrm>
            <a:off x="6095847" y="3922776"/>
            <a:ext cx="109728" cy="109728"/>
          </a:xfrm>
          <a:prstGeom prst="ellipse">
            <a:avLst/>
          </a:prstGeom>
          <a:solidFill>
            <a:srgbClr val="174E5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095847" y="4160520"/>
            <a:ext cx="2430703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74E58"/>
                </a:solidFill>
                <a:latin typeface="Pretendard"/>
                <a:ea typeface="Pretendard"/>
                <a:cs typeface="Pretendard"/>
              </a:rPr>
              <a:t>3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AI와 사람 판정의 일치율 공개</a:t>
            </a:r>
          </a:p>
        </p:txBody>
      </p:sp>
      <p:sp>
        <p:nvSpPr>
          <p:cNvPr id="33" name="Oval 32"/>
          <p:cNvSpPr/>
          <p:nvPr/>
        </p:nvSpPr>
        <p:spPr>
          <a:xfrm>
            <a:off x="8800871" y="3922776"/>
            <a:ext cx="109728" cy="109728"/>
          </a:xfrm>
          <a:prstGeom prst="ellipse">
            <a:avLst/>
          </a:prstGeom>
          <a:solidFill>
            <a:srgbClr val="174E5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800871" y="4160520"/>
            <a:ext cx="2430703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74E58"/>
                </a:solidFill>
                <a:latin typeface="Pretendard"/>
                <a:ea typeface="Pretendard"/>
                <a:cs typeface="Pretendard"/>
              </a:rPr>
              <a:t>4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2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애매한 사진은 사람이 다시 판정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212080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174E58"/>
                </a:solidFill>
                <a:latin typeface="Pretendard SemiBold"/>
                <a:ea typeface="Pretendard SemiBold"/>
                <a:cs typeface="Pretendard SemiBold"/>
              </a:rPr>
              <a:t>선례  </a:t>
            </a:r>
            <a:r>
              <a:rPr sz="120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공유 킥보드 업체 Lime은 2021년 텔아비브에서 AI로 주차 합법 여부를 판정해 경고하는 기능을 도입했습니다.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623552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174E58"/>
                </a:solidFill>
                <a:latin typeface="Pretendard"/>
                <a:ea typeface="Pretendard"/>
                <a:cs typeface="Pretendard"/>
              </a:rPr>
              <a:t>04</a:t>
            </a:r>
            <a:r>
              <a:rPr sz="1050" b="0">
                <a:solidFill>
                  <a:srgbClr val="5B6066"/>
                </a:solidFill>
                <a:latin typeface="Pretendard Medium"/>
                <a:ea typeface="Pretendard Medium"/>
                <a:cs typeface="Pretendard Medium"/>
              </a:rPr>
              <a:t>   방법 · 전공 연계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8021116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462429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8903741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9345053" y="457200"/>
            <a:ext cx="395592" cy="82296"/>
          </a:xfrm>
          <a:prstGeom prst="rect">
            <a:avLst/>
          </a:prstGeom>
          <a:solidFill>
            <a:srgbClr val="174E5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9786366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0227678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0668990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1110302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85800" y="713232"/>
            <a:ext cx="990318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조사 단계마다 데이터 분석과 AI 방법을 씁니다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71860" y="6382512"/>
            <a:ext cx="734034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5000"/>
              </a:lnSpc>
            </a:pPr>
            <a:r>
              <a:rPr sz="850" b="0">
                <a:solidFill>
                  <a:srgbClr val="969CA2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20239"/>
            <a:ext cx="1993391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B6066"/>
                </a:solidFill>
                <a:latin typeface="Pretendard Medium"/>
                <a:ea typeface="Pretendard Medium"/>
                <a:cs typeface="Pretendard Medium"/>
              </a:rPr>
              <a:t>과정 단계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1920239"/>
            <a:ext cx="318211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B6066"/>
                </a:solidFill>
                <a:latin typeface="Pretendard Medium"/>
                <a:ea typeface="Pretendard Medium"/>
                <a:cs typeface="Pretendard Medium"/>
              </a:rPr>
              <a:t>쓰는 방법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920239"/>
            <a:ext cx="5315407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B6066"/>
                </a:solidFill>
                <a:latin typeface="Pretendard Medium"/>
                <a:ea typeface="Pretendard Medium"/>
                <a:cs typeface="Pretendard Medium"/>
              </a:rPr>
              <a:t>이 조사에서 하는 일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" y="2249423"/>
            <a:ext cx="10820095" cy="0"/>
          </a:xfrm>
          <a:prstGeom prst="line">
            <a:avLst/>
          </a:prstGeom>
          <a:ln w="22225">
            <a:solidFill>
              <a:srgbClr val="174E58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685800" y="2340863"/>
            <a:ext cx="1993391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사진 분류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2340863"/>
            <a:ext cx="3182112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74E58"/>
                </a:solidFill>
                <a:latin typeface="Pretendard SemiBold"/>
                <a:ea typeface="Pretendard SemiBold"/>
                <a:cs typeface="Pretendard SemiBold"/>
              </a:rPr>
              <a:t>이미지 분류 모델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2340863"/>
            <a:ext cx="5315407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분류 원리 이해, 정확도·일치율 계산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2907791"/>
            <a:ext cx="10820095" cy="0"/>
          </a:xfrm>
          <a:prstGeom prst="line">
            <a:avLst/>
          </a:prstGeom>
          <a:ln w="9525">
            <a:solidFill>
              <a:srgbClr val="D3D6D9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685800" y="2999232"/>
            <a:ext cx="1993391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수집·검증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2999232"/>
            <a:ext cx="3182112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74E58"/>
                </a:solidFill>
                <a:latin typeface="Pretendard SemiBold"/>
                <a:ea typeface="Pretendard SemiBold"/>
                <a:cs typeface="Pretendard SemiBold"/>
              </a:rPr>
              <a:t>표본 설계와 신뢰도 검증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2999232"/>
            <a:ext cx="5315407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측정 구간 설계, 두 사람 판정 비교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5800" y="3566159"/>
            <a:ext cx="10820095" cy="0"/>
          </a:xfrm>
          <a:prstGeom prst="line">
            <a:avLst/>
          </a:prstGeom>
          <a:ln w="9525">
            <a:solidFill>
              <a:srgbClr val="D3D6D9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685800" y="3657599"/>
            <a:ext cx="1993391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기록 관리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3657599"/>
            <a:ext cx="3182112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74E58"/>
                </a:solidFill>
                <a:latin typeface="Pretendard SemiBold"/>
                <a:ea typeface="Pretendard SemiBold"/>
                <a:cs typeface="Pretendard SemiBold"/>
              </a:rPr>
              <a:t>데이터 구조 설계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3657599"/>
            <a:ext cx="5315407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사진·위치·판정 기록의 저장 구조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85800" y="4224527"/>
            <a:ext cx="10820095" cy="0"/>
          </a:xfrm>
          <a:prstGeom prst="line">
            <a:avLst/>
          </a:prstGeom>
          <a:ln w="9525">
            <a:solidFill>
              <a:srgbClr val="D3D6D9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685800" y="4315967"/>
            <a:ext cx="1993391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견인 분석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88920" y="4315967"/>
            <a:ext cx="3182112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74E58"/>
                </a:solidFill>
                <a:latin typeface="Pretendard SemiBold"/>
                <a:ea typeface="Pretendard SemiBold"/>
                <a:cs typeface="Pretendard SemiBold"/>
              </a:rPr>
              <a:t>회귀분석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0760" y="4315967"/>
            <a:ext cx="5315407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견인이 몰리는 요인 분석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85800" y="4882895"/>
            <a:ext cx="10820095" cy="0"/>
          </a:xfrm>
          <a:prstGeom prst="line">
            <a:avLst/>
          </a:prstGeom>
          <a:ln w="9525">
            <a:solidFill>
              <a:srgbClr val="D3D6D9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685800" y="4974335"/>
            <a:ext cx="1993391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지도 시각화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88920" y="4974335"/>
            <a:ext cx="3182112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74E58"/>
                </a:solidFill>
                <a:latin typeface="Pretendard SemiBold"/>
                <a:ea typeface="Pretendard SemiBold"/>
                <a:cs typeface="Pretendard SemiBold"/>
              </a:rPr>
              <a:t>웹 개발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0760" y="4974335"/>
            <a:ext cx="5315407" cy="475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결과와 후보지를 담은 웹 지도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85800" y="5541263"/>
            <a:ext cx="10820095" cy="0"/>
          </a:xfrm>
          <a:prstGeom prst="line">
            <a:avLst/>
          </a:prstGeom>
          <a:ln w="9525">
            <a:solidFill>
              <a:srgbClr val="D3D6D9"/>
            </a:solidFill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623552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174E58"/>
                </a:solidFill>
                <a:latin typeface="Pretendard"/>
                <a:ea typeface="Pretendard"/>
                <a:cs typeface="Pretendard"/>
              </a:rPr>
              <a:t>04</a:t>
            </a:r>
            <a:r>
              <a:rPr sz="1050" b="0">
                <a:solidFill>
                  <a:srgbClr val="5B6066"/>
                </a:solidFill>
                <a:latin typeface="Pretendard Medium"/>
                <a:ea typeface="Pretendard Medium"/>
                <a:cs typeface="Pretendard Medium"/>
              </a:rPr>
              <a:t>   방법</a:t>
            </a:r>
          </a:p>
        </p:txBody>
      </p:sp>
      <p:sp>
        <p:nvSpPr>
          <p:cNvPr id="3" name="Rectangle 2"/>
          <p:cNvSpPr/>
          <p:nvPr/>
        </p:nvSpPr>
        <p:spPr>
          <a:xfrm>
            <a:off x="8021116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462429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8903741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9345053" y="457200"/>
            <a:ext cx="395592" cy="82296"/>
          </a:xfrm>
          <a:prstGeom prst="rect">
            <a:avLst/>
          </a:prstGeom>
          <a:solidFill>
            <a:srgbClr val="174E5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9786366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0227678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0668990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1110302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85800" y="713232"/>
            <a:ext cx="990318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홍대 사전 조사에서 보행을 막는 기기를 실제로 확인했습니다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382512"/>
            <a:ext cx="8986266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969CA2"/>
                </a:solidFill>
                <a:latin typeface="Pretendard"/>
                <a:ea typeface="Pretendard"/>
                <a:cs typeface="Pretendard"/>
              </a:rPr>
              <a:t>출처: 사전 조사 기록(2026.9.28)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71860" y="6382512"/>
            <a:ext cx="734034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5000"/>
              </a:lnSpc>
            </a:pPr>
            <a:r>
              <a:rPr sz="850" b="0">
                <a:solidFill>
                  <a:srgbClr val="969CA2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691639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B6066"/>
                </a:solidFill>
                <a:latin typeface="Pretendard Medium"/>
                <a:ea typeface="Pretendard Medium"/>
                <a:cs typeface="Pretendard Medium"/>
              </a:rPr>
              <a:t>2026.9.28  ·  1명  ·  약 1시간  ·  11개 지점  ·  공유 기기 약 30대</a:t>
            </a:r>
          </a:p>
        </p:txBody>
      </p:sp>
      <p:pic>
        <p:nvPicPr>
          <p:cNvPr id="15" name="Picture 14" descr="1_inside.jpg"/>
          <p:cNvPicPr>
            <a:picLocks noChangeAspect="1"/>
          </p:cNvPicPr>
          <p:nvPr/>
        </p:nvPicPr>
        <p:blipFill>
          <a:blip r:embed="rId2"/>
          <a:srcRect t="0" b="0"/>
          <a:stretch>
            <a:fillRect/>
          </a:stretch>
        </p:blipFill>
        <p:spPr>
          <a:xfrm>
            <a:off x="685800" y="2103120"/>
            <a:ext cx="2613583" cy="196018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85800" y="4154747"/>
            <a:ext cx="26135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킥보드 없는 거리 안</a:t>
            </a:r>
          </a:p>
        </p:txBody>
      </p:sp>
      <p:pic>
        <p:nvPicPr>
          <p:cNvPr id="17" name="Picture 16" descr="2_outside.jpg"/>
          <p:cNvPicPr>
            <a:picLocks noChangeAspect="1"/>
          </p:cNvPicPr>
          <p:nvPr/>
        </p:nvPicPr>
        <p:blipFill>
          <a:blip r:embed="rId3"/>
          <a:srcRect l="11" r="11"/>
          <a:stretch>
            <a:fillRect/>
          </a:stretch>
        </p:blipFill>
        <p:spPr>
          <a:xfrm>
            <a:off x="3482263" y="2103120"/>
            <a:ext cx="2613583" cy="1960187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3909843" y="3163162"/>
            <a:ext cx="1175845" cy="329593"/>
          </a:xfrm>
          <a:prstGeom prst="rect">
            <a:avLst/>
          </a:prstGeom>
          <a:noFill/>
          <a:ln w="22225">
            <a:solidFill>
              <a:srgbClr val="174E58"/>
            </a:solidFill>
          </a:ln>
        </p:spPr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3909843" y="2961994"/>
            <a:ext cx="658368" cy="201168"/>
          </a:xfrm>
          <a:prstGeom prst="rect">
            <a:avLst/>
          </a:prstGeom>
          <a:solidFill>
            <a:srgbClr val="174E5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909843" y="2961994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5000"/>
              </a:lnSpc>
            </a:pPr>
            <a:r>
              <a:rPr sz="9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점자블록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82263" y="4154747"/>
            <a:ext cx="261358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A6433A"/>
                </a:solidFill>
                <a:latin typeface="Pretendard"/>
                <a:ea typeface="Pretendard"/>
                <a:cs typeface="Pretendard"/>
              </a:rPr>
              <a:t>×  </a:t>
            </a:r>
            <a:r>
              <a:rPr sz="110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구역 밖 · 횡단보도 앞 점자블록 위 (× 위험)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4202" y="2103120"/>
            <a:ext cx="440169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74E58"/>
                </a:solidFill>
                <a:latin typeface="Pretendard SemiBold"/>
                <a:ea typeface="Pretendard SemiBold"/>
                <a:cs typeface="Pretendard SemiBold"/>
              </a:rPr>
              <a:t>지점당 공유 기기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04202" y="2487168"/>
            <a:ext cx="82296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구역 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72882" y="2505456"/>
            <a:ext cx="1286446" cy="292608"/>
          </a:xfrm>
          <a:prstGeom prst="rect">
            <a:avLst/>
          </a:prstGeom>
          <a:solidFill>
            <a:srgbClr val="969CA2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50768" y="2487168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약 2대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04202" y="2944368"/>
            <a:ext cx="82296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구역 밖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72882" y="2962656"/>
            <a:ext cx="2572893" cy="292608"/>
          </a:xfrm>
          <a:prstGeom prst="rect">
            <a:avLst/>
          </a:prstGeom>
          <a:solidFill>
            <a:srgbClr val="174E5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0637215" y="2944368"/>
            <a:ext cx="914400" cy="32918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약 4대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04202" y="3566160"/>
            <a:ext cx="4401693" cy="0"/>
          </a:xfrm>
          <a:prstGeom prst="line">
            <a:avLst/>
          </a:prstGeom>
          <a:ln w="9525">
            <a:solidFill>
              <a:srgbClr val="D3D6D9"/>
            </a:solidFill>
          </a:ln>
        </p:spPr>
      </p:cxnSp>
      <p:sp>
        <p:nvSpPr>
          <p:cNvPr id="30" name="TextBox 29"/>
          <p:cNvSpPr txBox="1"/>
          <p:nvPr/>
        </p:nvSpPr>
        <p:spPr>
          <a:xfrm>
            <a:off x="7104202" y="3675887"/>
            <a:ext cx="4401693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기록한 기기의 약 4분의 3이 공유 전기자전거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104202" y="4041648"/>
            <a:ext cx="4401693" cy="0"/>
          </a:xfrm>
          <a:prstGeom prst="line">
            <a:avLst/>
          </a:prstGeom>
          <a:ln w="9525">
            <a:solidFill>
              <a:srgbClr val="D3D6D9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7104202" y="4151376"/>
            <a:ext cx="4401693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점자블록 위(×) 2곳, 모두 구역 밖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104202" y="4517136"/>
            <a:ext cx="4401693" cy="0"/>
          </a:xfrm>
          <a:prstGeom prst="line">
            <a:avLst/>
          </a:prstGeom>
          <a:ln w="9525">
            <a:solidFill>
              <a:srgbClr val="D3D6D9"/>
            </a:solidFill>
          </a:ln>
        </p:spPr>
      </p:cxnSp>
      <p:sp>
        <p:nvSpPr>
          <p:cNvPr id="34" name="TextBox 33"/>
          <p:cNvSpPr txBox="1"/>
          <p:nvPr/>
        </p:nvSpPr>
        <p:spPr>
          <a:xfrm>
            <a:off x="7104202" y="4709160"/>
            <a:ext cx="4401693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74E58"/>
                </a:solidFill>
                <a:latin typeface="Pretendard SemiBold"/>
                <a:ea typeface="Pretendard SemiBold"/>
                <a:cs typeface="Pretendard SemiBold"/>
              </a:rPr>
              <a:t>그래서 바꾼 것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30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측정 대상에 공유 전기자전거 포함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30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구간을 정해 모두 찍는 방식으로 변경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4538795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969CA2"/>
                </a:solidFill>
                <a:latin typeface="Pretendard"/>
                <a:ea typeface="Pretendard"/>
                <a:cs typeface="Pretendard"/>
              </a:rPr>
              <a:t>기기가 있는 곳 위주로 찍은 시험이라 경향으로만 해석합니다.  레드로드는 주행 금지 구역이며 주차 금지 구역은 아닙니다.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623552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174E58"/>
                </a:solidFill>
                <a:latin typeface="Pretendard"/>
                <a:ea typeface="Pretendard"/>
                <a:cs typeface="Pretendard"/>
              </a:rPr>
              <a:t>05</a:t>
            </a:r>
            <a:r>
              <a:rPr sz="1050" b="0">
                <a:solidFill>
                  <a:srgbClr val="5B6066"/>
                </a:solidFill>
                <a:latin typeface="Pretendard Medium"/>
                <a:ea typeface="Pretendard Medium"/>
                <a:cs typeface="Pretendard Medium"/>
              </a:rPr>
              <a:t>   국가별 활동 세부 내용</a:t>
            </a:r>
          </a:p>
        </p:txBody>
      </p:sp>
      <p:sp>
        <p:nvSpPr>
          <p:cNvPr id="3" name="Rectangle 2"/>
          <p:cNvSpPr/>
          <p:nvPr/>
        </p:nvSpPr>
        <p:spPr>
          <a:xfrm>
            <a:off x="8021116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462429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8903741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9345053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9786366" y="457200"/>
            <a:ext cx="395592" cy="82296"/>
          </a:xfrm>
          <a:prstGeom prst="rect">
            <a:avLst/>
          </a:prstGeom>
          <a:solidFill>
            <a:srgbClr val="174E5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0227678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0668990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1110302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85800" y="713232"/>
            <a:ext cx="990318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유럽 8개 도시를 돌며 4곳에서 보도를 측정합니다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382512"/>
            <a:ext cx="8986266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969CA2"/>
                </a:solidFill>
                <a:latin typeface="Pretendard"/>
                <a:ea typeface="Pretendard"/>
                <a:cs typeface="Pretendard"/>
              </a:rPr>
              <a:t>출처: 지도: Natural Earth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71860" y="6382512"/>
            <a:ext cx="734034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5000"/>
              </a:lnSpc>
            </a:pPr>
            <a:r>
              <a:rPr sz="850" b="0">
                <a:solidFill>
                  <a:srgbClr val="969CA2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14" name="Freeform 13"/>
          <p:cNvSpPr/>
          <p:nvPr/>
        </p:nvSpPr>
        <p:spPr>
          <a:xfrm>
            <a:off x="2413878" y="2956305"/>
            <a:ext cx="38211" cy="21759"/>
          </a:xfrm>
          <a:custGeom>
            <a:avLst/>
            <a:gdLst/>
            <a:ahLst/>
            <a:cxnLst/>
            <a:rect l="l" t="t" r="r" b="b"/>
            <a:pathLst>
              <a:path w="38211" h="21759">
                <a:moveTo>
                  <a:pt x="37027" y="8368"/>
                </a:moveTo>
                <a:lnTo>
                  <a:pt x="38211" y="20324"/>
                </a:lnTo>
                <a:lnTo>
                  <a:pt x="24854" y="19128"/>
                </a:lnTo>
                <a:lnTo>
                  <a:pt x="12173" y="19128"/>
                </a:lnTo>
                <a:lnTo>
                  <a:pt x="0" y="21759"/>
                </a:lnTo>
                <a:lnTo>
                  <a:pt x="3043" y="0"/>
                </a:lnTo>
                <a:lnTo>
                  <a:pt x="26037" y="2869"/>
                </a:lnTo>
                <a:lnTo>
                  <a:pt x="37027" y="8368"/>
                </a:lnTo>
                <a:close/>
              </a:path>
            </a:pathLst>
          </a:custGeom>
          <a:solidFill>
            <a:srgbClr val="E9EBEC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2345571" y="2899157"/>
            <a:ext cx="21980" cy="18651"/>
          </a:xfrm>
          <a:custGeom>
            <a:avLst/>
            <a:gdLst/>
            <a:ahLst/>
            <a:cxnLst/>
            <a:rect l="l" t="t" r="r" b="b"/>
            <a:pathLst>
              <a:path w="21980" h="18651">
                <a:moveTo>
                  <a:pt x="21980" y="2870"/>
                </a:moveTo>
                <a:lnTo>
                  <a:pt x="15893" y="18651"/>
                </a:lnTo>
                <a:lnTo>
                  <a:pt x="0" y="13151"/>
                </a:lnTo>
                <a:lnTo>
                  <a:pt x="16569" y="0"/>
                </a:lnTo>
                <a:close/>
              </a:path>
            </a:pathLst>
          </a:custGeom>
          <a:solidFill>
            <a:srgbClr val="E9EBEC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reeform 15"/>
          <p:cNvSpPr/>
          <p:nvPr/>
        </p:nvSpPr>
        <p:spPr>
          <a:xfrm>
            <a:off x="1835636" y="1920239"/>
            <a:ext cx="1252012" cy="855537"/>
          </a:xfrm>
          <a:custGeom>
            <a:avLst/>
            <a:gdLst/>
            <a:ahLst/>
            <a:cxnLst/>
            <a:rect l="l" t="t" r="r" b="b"/>
            <a:pathLst>
              <a:path w="1252012" h="855537">
                <a:moveTo>
                  <a:pt x="505200" y="472961"/>
                </a:moveTo>
                <a:lnTo>
                  <a:pt x="493027" y="482764"/>
                </a:lnTo>
                <a:lnTo>
                  <a:pt x="452787" y="492807"/>
                </a:lnTo>
                <a:lnTo>
                  <a:pt x="435710" y="503089"/>
                </a:lnTo>
                <a:lnTo>
                  <a:pt x="405276" y="526521"/>
                </a:lnTo>
                <a:lnTo>
                  <a:pt x="354215" y="522696"/>
                </a:lnTo>
                <a:lnTo>
                  <a:pt x="320062" y="492807"/>
                </a:lnTo>
                <a:lnTo>
                  <a:pt x="298758" y="480373"/>
                </a:lnTo>
                <a:lnTo>
                  <a:pt x="280498" y="482525"/>
                </a:lnTo>
                <a:lnTo>
                  <a:pt x="260378" y="486112"/>
                </a:lnTo>
                <a:lnTo>
                  <a:pt x="240427" y="485634"/>
                </a:lnTo>
                <a:lnTo>
                  <a:pt x="250740" y="471526"/>
                </a:lnTo>
                <a:lnTo>
                  <a:pt x="264774" y="463635"/>
                </a:lnTo>
                <a:lnTo>
                  <a:pt x="233664" y="458375"/>
                </a:lnTo>
                <a:lnTo>
                  <a:pt x="224533" y="454071"/>
                </a:lnTo>
                <a:lnTo>
                  <a:pt x="214727" y="444746"/>
                </a:lnTo>
                <a:lnTo>
                  <a:pt x="190380" y="443072"/>
                </a:lnTo>
                <a:lnTo>
                  <a:pt x="178883" y="445463"/>
                </a:lnTo>
                <a:lnTo>
                  <a:pt x="158763" y="458375"/>
                </a:lnTo>
                <a:lnTo>
                  <a:pt x="127822" y="472004"/>
                </a:lnTo>
                <a:lnTo>
                  <a:pt x="89948" y="452875"/>
                </a:lnTo>
                <a:lnTo>
                  <a:pt x="82678" y="444746"/>
                </a:lnTo>
                <a:lnTo>
                  <a:pt x="82678" y="428486"/>
                </a:lnTo>
                <a:lnTo>
                  <a:pt x="77268" y="415574"/>
                </a:lnTo>
                <a:lnTo>
                  <a:pt x="66954" y="411509"/>
                </a:lnTo>
                <a:lnTo>
                  <a:pt x="80311" y="394772"/>
                </a:lnTo>
                <a:lnTo>
                  <a:pt x="96035" y="383533"/>
                </a:lnTo>
                <a:lnTo>
                  <a:pt x="131372" y="372295"/>
                </a:lnTo>
                <a:lnTo>
                  <a:pt x="185646" y="346711"/>
                </a:lnTo>
                <a:lnTo>
                  <a:pt x="215403" y="335472"/>
                </a:lnTo>
                <a:lnTo>
                  <a:pt x="243470" y="316343"/>
                </a:lnTo>
                <a:lnTo>
                  <a:pt x="254967" y="304627"/>
                </a:lnTo>
                <a:lnTo>
                  <a:pt x="263421" y="288607"/>
                </a:lnTo>
                <a:lnTo>
                  <a:pt x="271368" y="269000"/>
                </a:lnTo>
                <a:lnTo>
                  <a:pt x="283541" y="252740"/>
                </a:lnTo>
                <a:lnTo>
                  <a:pt x="272044" y="249153"/>
                </a:lnTo>
                <a:lnTo>
                  <a:pt x="266464" y="237198"/>
                </a:lnTo>
                <a:lnTo>
                  <a:pt x="268324" y="225003"/>
                </a:lnTo>
                <a:lnTo>
                  <a:pt x="273227" y="214243"/>
                </a:lnTo>
                <a:lnTo>
                  <a:pt x="269001" y="200614"/>
                </a:lnTo>
                <a:lnTo>
                  <a:pt x="260378" y="186507"/>
                </a:lnTo>
                <a:lnTo>
                  <a:pt x="261054" y="175747"/>
                </a:lnTo>
                <a:lnTo>
                  <a:pt x="262914" y="163552"/>
                </a:lnTo>
                <a:lnTo>
                  <a:pt x="241610" y="164508"/>
                </a:lnTo>
                <a:lnTo>
                  <a:pt x="219630" y="168095"/>
                </a:lnTo>
                <a:lnTo>
                  <a:pt x="200186" y="176464"/>
                </a:lnTo>
                <a:lnTo>
                  <a:pt x="181250" y="187702"/>
                </a:lnTo>
                <a:lnTo>
                  <a:pt x="164849" y="189854"/>
                </a:lnTo>
                <a:lnTo>
                  <a:pt x="172120" y="169530"/>
                </a:lnTo>
                <a:lnTo>
                  <a:pt x="191056" y="153748"/>
                </a:lnTo>
                <a:lnTo>
                  <a:pt x="211684" y="140358"/>
                </a:lnTo>
                <a:lnTo>
                  <a:pt x="219123" y="130077"/>
                </a:lnTo>
                <a:lnTo>
                  <a:pt x="224533" y="118360"/>
                </a:lnTo>
                <a:lnTo>
                  <a:pt x="234847" y="108796"/>
                </a:lnTo>
                <a:lnTo>
                  <a:pt x="261730" y="90862"/>
                </a:lnTo>
                <a:lnTo>
                  <a:pt x="312115" y="71016"/>
                </a:lnTo>
                <a:lnTo>
                  <a:pt x="340182" y="72212"/>
                </a:lnTo>
                <a:lnTo>
                  <a:pt x="359626" y="69342"/>
                </a:lnTo>
                <a:lnTo>
                  <a:pt x="376702" y="61930"/>
                </a:lnTo>
                <a:lnTo>
                  <a:pt x="394286" y="60256"/>
                </a:lnTo>
                <a:lnTo>
                  <a:pt x="432667" y="81537"/>
                </a:lnTo>
                <a:lnTo>
                  <a:pt x="421169" y="49018"/>
                </a:lnTo>
                <a:lnTo>
                  <a:pt x="438246" y="41606"/>
                </a:lnTo>
                <a:lnTo>
                  <a:pt x="463100" y="70538"/>
                </a:lnTo>
                <a:lnTo>
                  <a:pt x="472231" y="73646"/>
                </a:lnTo>
                <a:lnTo>
                  <a:pt x="491674" y="69342"/>
                </a:lnTo>
                <a:lnTo>
                  <a:pt x="483897" y="64321"/>
                </a:lnTo>
                <a:lnTo>
                  <a:pt x="463777" y="59778"/>
                </a:lnTo>
                <a:lnTo>
                  <a:pt x="454647" y="50214"/>
                </a:lnTo>
                <a:lnTo>
                  <a:pt x="438246" y="20803"/>
                </a:lnTo>
                <a:lnTo>
                  <a:pt x="439430" y="3348"/>
                </a:lnTo>
                <a:lnTo>
                  <a:pt x="936162" y="0"/>
                </a:lnTo>
                <a:lnTo>
                  <a:pt x="978108" y="31563"/>
                </a:lnTo>
                <a:lnTo>
                  <a:pt x="1002455" y="63126"/>
                </a:lnTo>
                <a:lnTo>
                  <a:pt x="1016488" y="104970"/>
                </a:lnTo>
                <a:lnTo>
                  <a:pt x="1006682" y="124099"/>
                </a:lnTo>
                <a:lnTo>
                  <a:pt x="991465" y="136293"/>
                </a:lnTo>
                <a:lnTo>
                  <a:pt x="977431" y="150401"/>
                </a:lnTo>
                <a:lnTo>
                  <a:pt x="964074" y="166182"/>
                </a:lnTo>
                <a:lnTo>
                  <a:pt x="1003638" y="189376"/>
                </a:lnTo>
                <a:lnTo>
                  <a:pt x="1021222" y="185311"/>
                </a:lnTo>
                <a:lnTo>
                  <a:pt x="1029169" y="177420"/>
                </a:lnTo>
                <a:lnTo>
                  <a:pt x="1043878" y="158292"/>
                </a:lnTo>
                <a:lnTo>
                  <a:pt x="1051149" y="151596"/>
                </a:lnTo>
                <a:lnTo>
                  <a:pt x="1075496" y="148966"/>
                </a:lnTo>
                <a:lnTo>
                  <a:pt x="1096123" y="150401"/>
                </a:lnTo>
                <a:lnTo>
                  <a:pt x="1116919" y="154466"/>
                </a:lnTo>
                <a:lnTo>
                  <a:pt x="1135180" y="153270"/>
                </a:lnTo>
                <a:lnTo>
                  <a:pt x="1171700" y="161639"/>
                </a:lnTo>
                <a:lnTo>
                  <a:pt x="1189961" y="169052"/>
                </a:lnTo>
                <a:lnTo>
                  <a:pt x="1236795" y="202288"/>
                </a:lnTo>
                <a:lnTo>
                  <a:pt x="1246432" y="220460"/>
                </a:lnTo>
                <a:lnTo>
                  <a:pt x="1251335" y="244132"/>
                </a:lnTo>
                <a:lnTo>
                  <a:pt x="1252012" y="270195"/>
                </a:lnTo>
                <a:lnTo>
                  <a:pt x="1244065" y="294345"/>
                </a:lnTo>
                <a:lnTo>
                  <a:pt x="1234935" y="315865"/>
                </a:lnTo>
                <a:lnTo>
                  <a:pt x="1229524" y="343841"/>
                </a:lnTo>
                <a:lnTo>
                  <a:pt x="1225805" y="354123"/>
                </a:lnTo>
                <a:lnTo>
                  <a:pt x="1220394" y="361535"/>
                </a:lnTo>
                <a:lnTo>
                  <a:pt x="1195371" y="384012"/>
                </a:lnTo>
                <a:lnTo>
                  <a:pt x="1178971" y="392859"/>
                </a:lnTo>
                <a:lnTo>
                  <a:pt x="1164937" y="389511"/>
                </a:lnTo>
                <a:lnTo>
                  <a:pt x="1171700" y="406010"/>
                </a:lnTo>
                <a:lnTo>
                  <a:pt x="1172207" y="419639"/>
                </a:lnTo>
                <a:lnTo>
                  <a:pt x="1157667" y="429682"/>
                </a:lnTo>
                <a:lnTo>
                  <a:pt x="1142450" y="433747"/>
                </a:lnTo>
                <a:lnTo>
                  <a:pt x="1118103" y="428486"/>
                </a:lnTo>
                <a:lnTo>
                  <a:pt x="1083442" y="447137"/>
                </a:lnTo>
                <a:lnTo>
                  <a:pt x="1108297" y="456701"/>
                </a:lnTo>
                <a:lnTo>
                  <a:pt x="1113200" y="466983"/>
                </a:lnTo>
                <a:lnTo>
                  <a:pt x="1107113" y="484916"/>
                </a:lnTo>
                <a:lnTo>
                  <a:pt x="1091896" y="493285"/>
                </a:lnTo>
                <a:lnTo>
                  <a:pt x="1074312" y="496633"/>
                </a:lnTo>
                <a:lnTo>
                  <a:pt x="1056559" y="497350"/>
                </a:lnTo>
                <a:lnTo>
                  <a:pt x="1042019" y="501893"/>
                </a:lnTo>
                <a:lnTo>
                  <a:pt x="1027985" y="510262"/>
                </a:lnTo>
                <a:lnTo>
                  <a:pt x="1045569" y="505719"/>
                </a:lnTo>
                <a:lnTo>
                  <a:pt x="1057743" y="509784"/>
                </a:lnTo>
                <a:lnTo>
                  <a:pt x="1065689" y="524848"/>
                </a:lnTo>
                <a:lnTo>
                  <a:pt x="1072452" y="529391"/>
                </a:lnTo>
                <a:lnTo>
                  <a:pt x="1107113" y="535608"/>
                </a:lnTo>
                <a:lnTo>
                  <a:pt x="1127740" y="535608"/>
                </a:lnTo>
                <a:lnTo>
                  <a:pt x="1169164" y="531782"/>
                </a:lnTo>
                <a:lnTo>
                  <a:pt x="1188608" y="532260"/>
                </a:lnTo>
                <a:lnTo>
                  <a:pt x="1196047" y="547085"/>
                </a:lnTo>
                <a:lnTo>
                  <a:pt x="1193004" y="578408"/>
                </a:lnTo>
                <a:lnTo>
                  <a:pt x="1187424" y="584625"/>
                </a:lnTo>
                <a:lnTo>
                  <a:pt x="1133320" y="610210"/>
                </a:lnTo>
                <a:lnTo>
                  <a:pt x="1121654" y="628622"/>
                </a:lnTo>
                <a:lnTo>
                  <a:pt x="1118610" y="639382"/>
                </a:lnTo>
                <a:lnTo>
                  <a:pt x="1086993" y="637708"/>
                </a:lnTo>
                <a:lnTo>
                  <a:pt x="1072452" y="648946"/>
                </a:lnTo>
                <a:lnTo>
                  <a:pt x="1046245" y="656837"/>
                </a:lnTo>
                <a:lnTo>
                  <a:pt x="1026802" y="664966"/>
                </a:lnTo>
                <a:lnTo>
                  <a:pt x="1007358" y="675487"/>
                </a:lnTo>
                <a:lnTo>
                  <a:pt x="990788" y="678357"/>
                </a:lnTo>
                <a:lnTo>
                  <a:pt x="922143" y="665923"/>
                </a:lnTo>
                <a:lnTo>
                  <a:pt x="880043" y="667118"/>
                </a:lnTo>
                <a:lnTo>
                  <a:pt x="823403" y="677878"/>
                </a:lnTo>
                <a:lnTo>
                  <a:pt x="808862" y="675726"/>
                </a:lnTo>
                <a:lnTo>
                  <a:pt x="787558" y="665923"/>
                </a:lnTo>
                <a:lnTo>
                  <a:pt x="765071" y="658750"/>
                </a:lnTo>
                <a:lnTo>
                  <a:pt x="739541" y="655880"/>
                </a:lnTo>
                <a:lnTo>
                  <a:pt x="716884" y="646316"/>
                </a:lnTo>
                <a:lnTo>
                  <a:pt x="730918" y="664727"/>
                </a:lnTo>
                <a:lnTo>
                  <a:pt x="699977" y="682182"/>
                </a:lnTo>
                <a:lnTo>
                  <a:pt x="685943" y="685291"/>
                </a:lnTo>
                <a:lnTo>
                  <a:pt x="671234" y="685052"/>
                </a:lnTo>
                <a:lnTo>
                  <a:pt x="640800" y="690073"/>
                </a:lnTo>
                <a:lnTo>
                  <a:pt x="612902" y="687443"/>
                </a:lnTo>
                <a:lnTo>
                  <a:pt x="617129" y="699876"/>
                </a:lnTo>
                <a:lnTo>
                  <a:pt x="624399" y="710636"/>
                </a:lnTo>
                <a:lnTo>
                  <a:pt x="612226" y="716614"/>
                </a:lnTo>
                <a:lnTo>
                  <a:pt x="559305" y="708245"/>
                </a:lnTo>
                <a:lnTo>
                  <a:pt x="545272" y="717332"/>
                </a:lnTo>
                <a:lnTo>
                  <a:pt x="525828" y="713506"/>
                </a:lnTo>
                <a:lnTo>
                  <a:pt x="506891" y="700833"/>
                </a:lnTo>
                <a:lnTo>
                  <a:pt x="486940" y="691986"/>
                </a:lnTo>
                <a:lnTo>
                  <a:pt x="466144" y="687921"/>
                </a:lnTo>
                <a:lnTo>
                  <a:pt x="449067" y="689595"/>
                </a:lnTo>
                <a:lnTo>
                  <a:pt x="380929" y="709441"/>
                </a:lnTo>
                <a:lnTo>
                  <a:pt x="366896" y="729765"/>
                </a:lnTo>
                <a:lnTo>
                  <a:pt x="360302" y="758459"/>
                </a:lnTo>
                <a:lnTo>
                  <a:pt x="350495" y="783804"/>
                </a:lnTo>
                <a:lnTo>
                  <a:pt x="334095" y="803172"/>
                </a:lnTo>
                <a:lnTo>
                  <a:pt x="315158" y="806281"/>
                </a:lnTo>
                <a:lnTo>
                  <a:pt x="296898" y="792412"/>
                </a:lnTo>
                <a:lnTo>
                  <a:pt x="262914" y="777587"/>
                </a:lnTo>
                <a:lnTo>
                  <a:pt x="250740" y="767066"/>
                </a:lnTo>
                <a:lnTo>
                  <a:pt x="229944" y="774957"/>
                </a:lnTo>
                <a:lnTo>
                  <a:pt x="216080" y="774957"/>
                </a:lnTo>
                <a:lnTo>
                  <a:pt x="194776" y="779261"/>
                </a:lnTo>
                <a:lnTo>
                  <a:pt x="156903" y="791217"/>
                </a:lnTo>
                <a:lnTo>
                  <a:pt x="141686" y="799585"/>
                </a:lnTo>
                <a:lnTo>
                  <a:pt x="109561" y="822301"/>
                </a:lnTo>
                <a:lnTo>
                  <a:pt x="102798" y="828518"/>
                </a:lnTo>
                <a:lnTo>
                  <a:pt x="91301" y="851472"/>
                </a:lnTo>
                <a:lnTo>
                  <a:pt x="73041" y="855537"/>
                </a:lnTo>
                <a:lnTo>
                  <a:pt x="56471" y="840952"/>
                </a:lnTo>
                <a:lnTo>
                  <a:pt x="37704" y="835691"/>
                </a:lnTo>
                <a:lnTo>
                  <a:pt x="18260" y="840952"/>
                </a:lnTo>
                <a:lnTo>
                  <a:pt x="6087" y="848603"/>
                </a:lnTo>
                <a:lnTo>
                  <a:pt x="507" y="842386"/>
                </a:lnTo>
                <a:lnTo>
                  <a:pt x="0" y="829474"/>
                </a:lnTo>
                <a:lnTo>
                  <a:pt x="14540" y="813693"/>
                </a:lnTo>
                <a:lnTo>
                  <a:pt x="53428" y="801977"/>
                </a:lnTo>
                <a:lnTo>
                  <a:pt x="86905" y="771370"/>
                </a:lnTo>
                <a:lnTo>
                  <a:pt x="103982" y="752720"/>
                </a:lnTo>
                <a:lnTo>
                  <a:pt x="110069" y="742199"/>
                </a:lnTo>
                <a:lnTo>
                  <a:pt x="118692" y="735504"/>
                </a:lnTo>
                <a:lnTo>
                  <a:pt x="129005" y="733113"/>
                </a:lnTo>
                <a:lnTo>
                  <a:pt x="134416" y="721396"/>
                </a:lnTo>
                <a:lnTo>
                  <a:pt x="181250" y="675009"/>
                </a:lnTo>
                <a:lnTo>
                  <a:pt x="185646" y="664727"/>
                </a:lnTo>
                <a:lnTo>
                  <a:pt x="188013" y="645598"/>
                </a:lnTo>
                <a:lnTo>
                  <a:pt x="191733" y="627187"/>
                </a:lnTo>
                <a:lnTo>
                  <a:pt x="229944" y="615231"/>
                </a:lnTo>
                <a:lnTo>
                  <a:pt x="248204" y="576735"/>
                </a:lnTo>
                <a:lnTo>
                  <a:pt x="306705" y="566692"/>
                </a:lnTo>
                <a:lnTo>
                  <a:pt x="346269" y="567170"/>
                </a:lnTo>
                <a:lnTo>
                  <a:pt x="385832" y="574583"/>
                </a:lnTo>
                <a:lnTo>
                  <a:pt x="405953" y="575300"/>
                </a:lnTo>
                <a:lnTo>
                  <a:pt x="426073" y="572431"/>
                </a:lnTo>
                <a:lnTo>
                  <a:pt x="441797" y="562149"/>
                </a:lnTo>
                <a:lnTo>
                  <a:pt x="469187" y="524848"/>
                </a:lnTo>
                <a:lnTo>
                  <a:pt x="484404" y="508110"/>
                </a:lnTo>
                <a:lnTo>
                  <a:pt x="502157" y="493285"/>
                </a:lnTo>
                <a:lnTo>
                  <a:pt x="518558" y="476069"/>
                </a:lnTo>
                <a:lnTo>
                  <a:pt x="545272" y="444746"/>
                </a:lnTo>
                <a:lnTo>
                  <a:pt x="527011" y="455506"/>
                </a:lnTo>
                <a:lnTo>
                  <a:pt x="505200" y="472961"/>
                </a:lnTo>
                <a:close/>
              </a:path>
            </a:pathLst>
          </a:custGeom>
          <a:solidFill>
            <a:srgbClr val="E9EBEC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reeform 16"/>
          <p:cNvSpPr/>
          <p:nvPr/>
        </p:nvSpPr>
        <p:spPr>
          <a:xfrm>
            <a:off x="2019929" y="1963518"/>
            <a:ext cx="87751" cy="68147"/>
          </a:xfrm>
          <a:custGeom>
            <a:avLst/>
            <a:gdLst/>
            <a:ahLst/>
            <a:cxnLst/>
            <a:rect l="l" t="t" r="r" b="b"/>
            <a:pathLst>
              <a:path w="87751" h="68147">
                <a:moveTo>
                  <a:pt x="62728" y="23194"/>
                </a:moveTo>
                <a:lnTo>
                  <a:pt x="69491" y="27737"/>
                </a:lnTo>
                <a:lnTo>
                  <a:pt x="87751" y="27020"/>
                </a:lnTo>
                <a:lnTo>
                  <a:pt x="81664" y="36823"/>
                </a:lnTo>
                <a:lnTo>
                  <a:pt x="62220" y="48062"/>
                </a:lnTo>
                <a:lnTo>
                  <a:pt x="48694" y="58822"/>
                </a:lnTo>
                <a:lnTo>
                  <a:pt x="32970" y="68147"/>
                </a:lnTo>
                <a:lnTo>
                  <a:pt x="25024" y="57626"/>
                </a:lnTo>
                <a:lnTo>
                  <a:pt x="2536" y="37780"/>
                </a:lnTo>
                <a:lnTo>
                  <a:pt x="0" y="7891"/>
                </a:lnTo>
                <a:lnTo>
                  <a:pt x="17753" y="0"/>
                </a:lnTo>
                <a:lnTo>
                  <a:pt x="42608" y="479"/>
                </a:lnTo>
                <a:lnTo>
                  <a:pt x="62728" y="23194"/>
                </a:lnTo>
                <a:close/>
              </a:path>
            </a:pathLst>
          </a:custGeom>
          <a:solidFill>
            <a:srgbClr val="E9EBEC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reeform 17"/>
          <p:cNvSpPr/>
          <p:nvPr/>
        </p:nvSpPr>
        <p:spPr>
          <a:xfrm>
            <a:off x="2536120" y="2595965"/>
            <a:ext cx="76084" cy="43997"/>
          </a:xfrm>
          <a:custGeom>
            <a:avLst/>
            <a:gdLst/>
            <a:ahLst/>
            <a:cxnLst/>
            <a:rect l="l" t="t" r="r" b="b"/>
            <a:pathLst>
              <a:path w="76084" h="43997">
                <a:moveTo>
                  <a:pt x="76084" y="20086"/>
                </a:moveTo>
                <a:lnTo>
                  <a:pt x="61544" y="28454"/>
                </a:lnTo>
                <a:lnTo>
                  <a:pt x="57317" y="37780"/>
                </a:lnTo>
                <a:lnTo>
                  <a:pt x="44467" y="43997"/>
                </a:lnTo>
                <a:lnTo>
                  <a:pt x="0" y="25107"/>
                </a:lnTo>
                <a:lnTo>
                  <a:pt x="21980" y="9565"/>
                </a:lnTo>
                <a:lnTo>
                  <a:pt x="34153" y="0"/>
                </a:lnTo>
                <a:lnTo>
                  <a:pt x="62727" y="9326"/>
                </a:lnTo>
                <a:lnTo>
                  <a:pt x="76084" y="20086"/>
                </a:lnTo>
                <a:close/>
              </a:path>
            </a:pathLst>
          </a:custGeom>
          <a:solidFill>
            <a:srgbClr val="E9EBEC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Freeform 18"/>
          <p:cNvSpPr/>
          <p:nvPr/>
        </p:nvSpPr>
        <p:spPr>
          <a:xfrm>
            <a:off x="4180220" y="5808174"/>
            <a:ext cx="493027" cy="272585"/>
          </a:xfrm>
          <a:custGeom>
            <a:avLst/>
            <a:gdLst/>
            <a:ahLst/>
            <a:cxnLst/>
            <a:rect l="l" t="t" r="r" b="b"/>
            <a:pathLst>
              <a:path w="493027" h="272585">
                <a:moveTo>
                  <a:pt x="16847" y="272585"/>
                </a:moveTo>
                <a:lnTo>
                  <a:pt x="23671" y="232415"/>
                </a:lnTo>
                <a:lnTo>
                  <a:pt x="20628" y="220220"/>
                </a:lnTo>
                <a:lnTo>
                  <a:pt x="15724" y="211612"/>
                </a:lnTo>
                <a:lnTo>
                  <a:pt x="0" y="202048"/>
                </a:lnTo>
                <a:lnTo>
                  <a:pt x="3551" y="190092"/>
                </a:lnTo>
                <a:lnTo>
                  <a:pt x="26714" y="169290"/>
                </a:lnTo>
                <a:lnTo>
                  <a:pt x="39564" y="138445"/>
                </a:lnTo>
                <a:lnTo>
                  <a:pt x="49878" y="131989"/>
                </a:lnTo>
                <a:lnTo>
                  <a:pt x="66278" y="121229"/>
                </a:lnTo>
                <a:lnTo>
                  <a:pt x="65771" y="109034"/>
                </a:lnTo>
                <a:lnTo>
                  <a:pt x="62051" y="96122"/>
                </a:lnTo>
                <a:lnTo>
                  <a:pt x="103475" y="81775"/>
                </a:lnTo>
                <a:lnTo>
                  <a:pt x="143546" y="43996"/>
                </a:lnTo>
                <a:lnTo>
                  <a:pt x="157580" y="34671"/>
                </a:lnTo>
                <a:lnTo>
                  <a:pt x="250064" y="0"/>
                </a:lnTo>
                <a:lnTo>
                  <a:pt x="261731" y="2391"/>
                </a:lnTo>
                <a:lnTo>
                  <a:pt x="275088" y="7412"/>
                </a:lnTo>
                <a:lnTo>
                  <a:pt x="271368" y="20324"/>
                </a:lnTo>
                <a:lnTo>
                  <a:pt x="265958" y="30606"/>
                </a:lnTo>
                <a:lnTo>
                  <a:pt x="273904" y="49017"/>
                </a:lnTo>
                <a:lnTo>
                  <a:pt x="284894" y="37779"/>
                </a:lnTo>
                <a:lnTo>
                  <a:pt x="281851" y="20563"/>
                </a:lnTo>
                <a:lnTo>
                  <a:pt x="300618" y="19846"/>
                </a:lnTo>
                <a:lnTo>
                  <a:pt x="317695" y="21041"/>
                </a:lnTo>
                <a:lnTo>
                  <a:pt x="335955" y="31801"/>
                </a:lnTo>
                <a:lnTo>
                  <a:pt x="334772" y="73407"/>
                </a:lnTo>
                <a:lnTo>
                  <a:pt x="359119" y="113577"/>
                </a:lnTo>
                <a:lnTo>
                  <a:pt x="352356" y="133662"/>
                </a:lnTo>
                <a:lnTo>
                  <a:pt x="372476" y="145618"/>
                </a:lnTo>
                <a:lnTo>
                  <a:pt x="390229" y="131032"/>
                </a:lnTo>
                <a:lnTo>
                  <a:pt x="399359" y="109990"/>
                </a:lnTo>
                <a:lnTo>
                  <a:pt x="432160" y="97796"/>
                </a:lnTo>
                <a:lnTo>
                  <a:pt x="463777" y="67190"/>
                </a:lnTo>
                <a:lnTo>
                  <a:pt x="480854" y="63842"/>
                </a:lnTo>
                <a:lnTo>
                  <a:pt x="484574" y="89188"/>
                </a:lnTo>
                <a:lnTo>
                  <a:pt x="493027" y="111664"/>
                </a:lnTo>
                <a:lnTo>
                  <a:pt x="481530" y="119077"/>
                </a:lnTo>
                <a:lnTo>
                  <a:pt x="466313" y="142749"/>
                </a:lnTo>
                <a:lnTo>
                  <a:pt x="437570" y="202526"/>
                </a:lnTo>
                <a:lnTo>
                  <a:pt x="411533" y="219981"/>
                </a:lnTo>
                <a:lnTo>
                  <a:pt x="391412" y="243175"/>
                </a:lnTo>
                <a:lnTo>
                  <a:pt x="385326" y="259434"/>
                </a:lnTo>
                <a:lnTo>
                  <a:pt x="384047" y="272585"/>
                </a:lnTo>
                <a:close/>
              </a:path>
            </a:pathLst>
          </a:custGeom>
          <a:solidFill>
            <a:srgbClr val="E9EBEC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3801658" y="3313057"/>
            <a:ext cx="758308" cy="465309"/>
          </a:xfrm>
          <a:custGeom>
            <a:avLst/>
            <a:gdLst/>
            <a:ahLst/>
            <a:cxnLst/>
            <a:rect l="l" t="t" r="r" b="b"/>
            <a:pathLst>
              <a:path w="758308" h="465309">
                <a:moveTo>
                  <a:pt x="600729" y="60017"/>
                </a:moveTo>
                <a:lnTo>
                  <a:pt x="617806" y="73885"/>
                </a:lnTo>
                <a:lnTo>
                  <a:pt x="615269" y="91580"/>
                </a:lnTo>
                <a:lnTo>
                  <a:pt x="601236" y="120751"/>
                </a:lnTo>
                <a:lnTo>
                  <a:pt x="593966" y="143945"/>
                </a:lnTo>
                <a:lnTo>
                  <a:pt x="593459" y="162117"/>
                </a:lnTo>
                <a:lnTo>
                  <a:pt x="597009" y="170486"/>
                </a:lnTo>
                <a:lnTo>
                  <a:pt x="610366" y="171681"/>
                </a:lnTo>
                <a:lnTo>
                  <a:pt x="637757" y="176225"/>
                </a:lnTo>
                <a:lnTo>
                  <a:pt x="654833" y="183398"/>
                </a:lnTo>
                <a:lnTo>
                  <a:pt x="658553" y="191289"/>
                </a:lnTo>
                <a:lnTo>
                  <a:pt x="680364" y="212808"/>
                </a:lnTo>
                <a:lnTo>
                  <a:pt x="703527" y="220699"/>
                </a:lnTo>
                <a:lnTo>
                  <a:pt x="740048" y="188658"/>
                </a:lnTo>
                <a:lnTo>
                  <a:pt x="751714" y="193680"/>
                </a:lnTo>
                <a:lnTo>
                  <a:pt x="758308" y="209461"/>
                </a:lnTo>
                <a:lnTo>
                  <a:pt x="749854" y="248436"/>
                </a:lnTo>
                <a:lnTo>
                  <a:pt x="748671" y="265652"/>
                </a:lnTo>
                <a:lnTo>
                  <a:pt x="755265" y="276412"/>
                </a:lnTo>
                <a:lnTo>
                  <a:pt x="754081" y="292910"/>
                </a:lnTo>
                <a:lnTo>
                  <a:pt x="742584" y="293867"/>
                </a:lnTo>
                <a:lnTo>
                  <a:pt x="727367" y="289324"/>
                </a:lnTo>
                <a:lnTo>
                  <a:pt x="714517" y="275934"/>
                </a:lnTo>
                <a:lnTo>
                  <a:pt x="704204" y="277607"/>
                </a:lnTo>
                <a:lnTo>
                  <a:pt x="695750" y="280955"/>
                </a:lnTo>
                <a:lnTo>
                  <a:pt x="691354" y="293867"/>
                </a:lnTo>
                <a:lnTo>
                  <a:pt x="687803" y="308692"/>
                </a:lnTo>
                <a:lnTo>
                  <a:pt x="695074" y="323756"/>
                </a:lnTo>
                <a:lnTo>
                  <a:pt x="699977" y="337863"/>
                </a:lnTo>
                <a:lnTo>
                  <a:pt x="703020" y="355557"/>
                </a:lnTo>
                <a:lnTo>
                  <a:pt x="706064" y="363926"/>
                </a:lnTo>
                <a:lnTo>
                  <a:pt x="695074" y="369665"/>
                </a:lnTo>
                <a:lnTo>
                  <a:pt x="676137" y="345993"/>
                </a:lnTo>
                <a:lnTo>
                  <a:pt x="670727" y="337863"/>
                </a:lnTo>
                <a:lnTo>
                  <a:pt x="645196" y="341450"/>
                </a:lnTo>
                <a:lnTo>
                  <a:pt x="620173" y="353644"/>
                </a:lnTo>
                <a:lnTo>
                  <a:pt x="601236" y="351014"/>
                </a:lnTo>
                <a:lnTo>
                  <a:pt x="593459" y="341211"/>
                </a:lnTo>
                <a:lnTo>
                  <a:pt x="586695" y="321604"/>
                </a:lnTo>
                <a:lnTo>
                  <a:pt x="584328" y="309170"/>
                </a:lnTo>
                <a:lnTo>
                  <a:pt x="563532" y="305822"/>
                </a:lnTo>
                <a:lnTo>
                  <a:pt x="556262" y="310844"/>
                </a:lnTo>
                <a:lnTo>
                  <a:pt x="556262" y="330690"/>
                </a:lnTo>
                <a:lnTo>
                  <a:pt x="554402" y="356036"/>
                </a:lnTo>
                <a:lnTo>
                  <a:pt x="546455" y="371817"/>
                </a:lnTo>
                <a:lnTo>
                  <a:pt x="523968" y="400032"/>
                </a:lnTo>
                <a:lnTo>
                  <a:pt x="516021" y="411987"/>
                </a:lnTo>
                <a:lnTo>
                  <a:pt x="512471" y="420834"/>
                </a:lnTo>
                <a:lnTo>
                  <a:pt x="515514" y="441637"/>
                </a:lnTo>
                <a:lnTo>
                  <a:pt x="519741" y="454071"/>
                </a:lnTo>
                <a:lnTo>
                  <a:pt x="516021" y="461483"/>
                </a:lnTo>
                <a:lnTo>
                  <a:pt x="504524" y="465309"/>
                </a:lnTo>
                <a:lnTo>
                  <a:pt x="496070" y="457418"/>
                </a:lnTo>
                <a:lnTo>
                  <a:pt x="493027" y="444028"/>
                </a:lnTo>
                <a:lnTo>
                  <a:pt x="474767" y="425378"/>
                </a:lnTo>
                <a:lnTo>
                  <a:pt x="482544" y="410074"/>
                </a:lnTo>
                <a:lnTo>
                  <a:pt x="451603" y="397880"/>
                </a:lnTo>
                <a:lnTo>
                  <a:pt x="438753" y="386403"/>
                </a:lnTo>
                <a:lnTo>
                  <a:pt x="420493" y="365600"/>
                </a:lnTo>
                <a:lnTo>
                  <a:pt x="416943" y="356992"/>
                </a:lnTo>
                <a:lnTo>
                  <a:pt x="418126" y="328299"/>
                </a:lnTo>
                <a:lnTo>
                  <a:pt x="414406" y="317778"/>
                </a:lnTo>
                <a:lnTo>
                  <a:pt x="393779" y="327821"/>
                </a:lnTo>
                <a:lnTo>
                  <a:pt x="382113" y="342645"/>
                </a:lnTo>
                <a:lnTo>
                  <a:pt x="359118" y="359861"/>
                </a:lnTo>
                <a:lnTo>
                  <a:pt x="364529" y="379707"/>
                </a:lnTo>
                <a:lnTo>
                  <a:pt x="345592" y="411987"/>
                </a:lnTo>
                <a:lnTo>
                  <a:pt x="342042" y="420834"/>
                </a:lnTo>
                <a:lnTo>
                  <a:pt x="318202" y="437094"/>
                </a:lnTo>
                <a:lnTo>
                  <a:pt x="307381" y="443311"/>
                </a:lnTo>
                <a:lnTo>
                  <a:pt x="274411" y="431116"/>
                </a:lnTo>
                <a:lnTo>
                  <a:pt x="250064" y="437811"/>
                </a:lnTo>
                <a:lnTo>
                  <a:pt x="229437" y="445224"/>
                </a:lnTo>
                <a:lnTo>
                  <a:pt x="195960" y="453114"/>
                </a:lnTo>
                <a:lnTo>
                  <a:pt x="183110" y="447376"/>
                </a:lnTo>
                <a:lnTo>
                  <a:pt x="174656" y="433986"/>
                </a:lnTo>
                <a:lnTo>
                  <a:pt x="166033" y="420356"/>
                </a:lnTo>
                <a:lnTo>
                  <a:pt x="156396" y="411987"/>
                </a:lnTo>
                <a:lnTo>
                  <a:pt x="149633" y="402901"/>
                </a:lnTo>
                <a:lnTo>
                  <a:pt x="141179" y="393098"/>
                </a:lnTo>
                <a:lnTo>
                  <a:pt x="135599" y="385207"/>
                </a:lnTo>
                <a:lnTo>
                  <a:pt x="143039" y="358427"/>
                </a:lnTo>
                <a:lnTo>
                  <a:pt x="137459" y="349340"/>
                </a:lnTo>
                <a:lnTo>
                  <a:pt x="134416" y="336189"/>
                </a:lnTo>
                <a:lnTo>
                  <a:pt x="133232" y="324951"/>
                </a:lnTo>
                <a:lnTo>
                  <a:pt x="102798" y="319930"/>
                </a:lnTo>
                <a:lnTo>
                  <a:pt x="77268" y="321604"/>
                </a:lnTo>
                <a:lnTo>
                  <a:pt x="59515" y="330212"/>
                </a:lnTo>
                <a:lnTo>
                  <a:pt x="44298" y="344797"/>
                </a:lnTo>
                <a:lnTo>
                  <a:pt x="51061" y="363926"/>
                </a:lnTo>
                <a:lnTo>
                  <a:pt x="38887" y="378512"/>
                </a:lnTo>
                <a:lnTo>
                  <a:pt x="19444" y="389272"/>
                </a:lnTo>
                <a:lnTo>
                  <a:pt x="6087" y="390467"/>
                </a:lnTo>
                <a:lnTo>
                  <a:pt x="0" y="373012"/>
                </a:lnTo>
                <a:lnTo>
                  <a:pt x="10821" y="367752"/>
                </a:lnTo>
                <a:lnTo>
                  <a:pt x="21304" y="357709"/>
                </a:lnTo>
                <a:lnTo>
                  <a:pt x="24347" y="343602"/>
                </a:lnTo>
                <a:lnTo>
                  <a:pt x="15217" y="322082"/>
                </a:lnTo>
                <a:lnTo>
                  <a:pt x="22994" y="300801"/>
                </a:lnTo>
                <a:lnTo>
                  <a:pt x="26714" y="288846"/>
                </a:lnTo>
                <a:lnTo>
                  <a:pt x="32124" y="278325"/>
                </a:lnTo>
                <a:lnTo>
                  <a:pt x="52921" y="261109"/>
                </a:lnTo>
                <a:lnTo>
                  <a:pt x="74224" y="243893"/>
                </a:lnTo>
                <a:lnTo>
                  <a:pt x="77268" y="225242"/>
                </a:lnTo>
                <a:lnTo>
                  <a:pt x="79128" y="202766"/>
                </a:lnTo>
                <a:lnTo>
                  <a:pt x="110745" y="184115"/>
                </a:lnTo>
                <a:lnTo>
                  <a:pt x="117339" y="178855"/>
                </a:lnTo>
                <a:lnTo>
                  <a:pt x="121059" y="171442"/>
                </a:lnTo>
                <a:lnTo>
                  <a:pt x="143546" y="146336"/>
                </a:lnTo>
                <a:lnTo>
                  <a:pt x="166033" y="121468"/>
                </a:lnTo>
                <a:lnTo>
                  <a:pt x="170429" y="113099"/>
                </a:lnTo>
                <a:lnTo>
                  <a:pt x="173980" y="104013"/>
                </a:lnTo>
                <a:lnTo>
                  <a:pt x="160623" y="98992"/>
                </a:lnTo>
                <a:lnTo>
                  <a:pt x="156903" y="91101"/>
                </a:lnTo>
                <a:lnTo>
                  <a:pt x="168569" y="76994"/>
                </a:lnTo>
                <a:lnTo>
                  <a:pt x="183110" y="68386"/>
                </a:lnTo>
                <a:lnTo>
                  <a:pt x="197143" y="68386"/>
                </a:lnTo>
                <a:lnTo>
                  <a:pt x="202046" y="76755"/>
                </a:lnTo>
                <a:lnTo>
                  <a:pt x="208133" y="81776"/>
                </a:lnTo>
                <a:lnTo>
                  <a:pt x="219123" y="83211"/>
                </a:lnTo>
                <a:lnTo>
                  <a:pt x="231804" y="81776"/>
                </a:lnTo>
                <a:lnTo>
                  <a:pt x="245161" y="76276"/>
                </a:lnTo>
                <a:lnTo>
                  <a:pt x="253107" y="63843"/>
                </a:lnTo>
                <a:lnTo>
                  <a:pt x="257334" y="54278"/>
                </a:lnTo>
                <a:lnTo>
                  <a:pt x="278131" y="43518"/>
                </a:lnTo>
                <a:lnTo>
                  <a:pt x="292164" y="48779"/>
                </a:lnTo>
                <a:lnTo>
                  <a:pt x="330375" y="50453"/>
                </a:lnTo>
                <a:lnTo>
                  <a:pt x="359118" y="47583"/>
                </a:lnTo>
                <a:lnTo>
                  <a:pt x="376702" y="40171"/>
                </a:lnTo>
                <a:lnTo>
                  <a:pt x="398682" y="40171"/>
                </a:lnTo>
                <a:lnTo>
                  <a:pt x="413223" y="44236"/>
                </a:lnTo>
                <a:lnTo>
                  <a:pt x="423537" y="38975"/>
                </a:lnTo>
                <a:lnTo>
                  <a:pt x="437570" y="36106"/>
                </a:lnTo>
                <a:lnTo>
                  <a:pt x="419310" y="29411"/>
                </a:lnTo>
                <a:lnTo>
                  <a:pt x="411363" y="20564"/>
                </a:lnTo>
                <a:lnTo>
                  <a:pt x="416943" y="10282"/>
                </a:lnTo>
                <a:lnTo>
                  <a:pt x="429116" y="1913"/>
                </a:lnTo>
                <a:lnTo>
                  <a:pt x="439937" y="0"/>
                </a:lnTo>
                <a:lnTo>
                  <a:pt x="466144" y="17694"/>
                </a:lnTo>
                <a:lnTo>
                  <a:pt x="477134" y="14108"/>
                </a:lnTo>
                <a:lnTo>
                  <a:pt x="490491" y="26781"/>
                </a:lnTo>
                <a:lnTo>
                  <a:pt x="533775" y="24868"/>
                </a:lnTo>
                <a:lnTo>
                  <a:pt x="571479" y="42323"/>
                </a:lnTo>
                <a:lnTo>
                  <a:pt x="600729" y="60017"/>
                </a:lnTo>
                <a:close/>
              </a:path>
            </a:pathLst>
          </a:custGeom>
          <a:solidFill>
            <a:srgbClr val="E9EBEC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3029823" y="5473419"/>
            <a:ext cx="31618" cy="16260"/>
          </a:xfrm>
          <a:custGeom>
            <a:avLst/>
            <a:gdLst/>
            <a:ahLst/>
            <a:cxnLst/>
            <a:rect l="l" t="t" r="r" b="b"/>
            <a:pathLst>
              <a:path w="31618" h="16260">
                <a:moveTo>
                  <a:pt x="31618" y="16260"/>
                </a:moveTo>
                <a:lnTo>
                  <a:pt x="17077" y="16260"/>
                </a:lnTo>
                <a:lnTo>
                  <a:pt x="0" y="16260"/>
                </a:lnTo>
                <a:lnTo>
                  <a:pt x="1860" y="0"/>
                </a:lnTo>
                <a:lnTo>
                  <a:pt x="15217" y="6695"/>
                </a:lnTo>
                <a:lnTo>
                  <a:pt x="31618" y="9326"/>
                </a:lnTo>
                <a:close/>
              </a:path>
            </a:pathLst>
          </a:custGeom>
          <a:solidFill>
            <a:srgbClr val="E9EBEC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3192982" y="5179314"/>
            <a:ext cx="184294" cy="159725"/>
          </a:xfrm>
          <a:custGeom>
            <a:avLst/>
            <a:gdLst/>
            <a:ahLst/>
            <a:cxnLst/>
            <a:rect l="l" t="t" r="r" b="b"/>
            <a:pathLst>
              <a:path w="184294" h="159725">
                <a:moveTo>
                  <a:pt x="130866" y="43039"/>
                </a:moveTo>
                <a:lnTo>
                  <a:pt x="147266" y="50930"/>
                </a:lnTo>
                <a:lnTo>
                  <a:pt x="164343" y="43996"/>
                </a:lnTo>
                <a:lnTo>
                  <a:pt x="173473" y="45909"/>
                </a:lnTo>
                <a:lnTo>
                  <a:pt x="182603" y="49734"/>
                </a:lnTo>
                <a:lnTo>
                  <a:pt x="184294" y="65038"/>
                </a:lnTo>
                <a:lnTo>
                  <a:pt x="176516" y="82014"/>
                </a:lnTo>
                <a:lnTo>
                  <a:pt x="165526" y="99230"/>
                </a:lnTo>
                <a:lnTo>
                  <a:pt x="155720" y="117881"/>
                </a:lnTo>
                <a:lnTo>
                  <a:pt x="147773" y="139401"/>
                </a:lnTo>
                <a:lnTo>
                  <a:pt x="132556" y="152313"/>
                </a:lnTo>
                <a:lnTo>
                  <a:pt x="118692" y="159725"/>
                </a:lnTo>
                <a:lnTo>
                  <a:pt x="89442" y="143944"/>
                </a:lnTo>
                <a:lnTo>
                  <a:pt x="72365" y="139879"/>
                </a:lnTo>
                <a:lnTo>
                  <a:pt x="63235" y="109990"/>
                </a:lnTo>
                <a:lnTo>
                  <a:pt x="55965" y="102339"/>
                </a:lnTo>
                <a:lnTo>
                  <a:pt x="44298" y="99230"/>
                </a:lnTo>
                <a:lnTo>
                  <a:pt x="34661" y="104969"/>
                </a:lnTo>
                <a:lnTo>
                  <a:pt x="21811" y="117881"/>
                </a:lnTo>
                <a:lnTo>
                  <a:pt x="14541" y="104969"/>
                </a:lnTo>
                <a:lnTo>
                  <a:pt x="4227" y="102817"/>
                </a:lnTo>
                <a:lnTo>
                  <a:pt x="0" y="94926"/>
                </a:lnTo>
                <a:lnTo>
                  <a:pt x="69998" y="27736"/>
                </a:lnTo>
                <a:lnTo>
                  <a:pt x="89949" y="14824"/>
                </a:lnTo>
                <a:lnTo>
                  <a:pt x="133233" y="0"/>
                </a:lnTo>
                <a:lnTo>
                  <a:pt x="134416" y="11238"/>
                </a:lnTo>
                <a:lnTo>
                  <a:pt x="139996" y="18889"/>
                </a:lnTo>
                <a:lnTo>
                  <a:pt x="133233" y="31801"/>
                </a:lnTo>
                <a:lnTo>
                  <a:pt x="130866" y="43039"/>
                </a:lnTo>
                <a:close/>
              </a:path>
            </a:pathLst>
          </a:custGeom>
          <a:solidFill>
            <a:srgbClr val="E9EBEC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442539" y="5154207"/>
            <a:ext cx="79128" cy="55713"/>
          </a:xfrm>
          <a:custGeom>
            <a:avLst/>
            <a:gdLst/>
            <a:ahLst/>
            <a:cxnLst/>
            <a:rect l="l" t="t" r="r" b="b"/>
            <a:pathLst>
              <a:path w="79128" h="55713">
                <a:moveTo>
                  <a:pt x="75408" y="55713"/>
                </a:moveTo>
                <a:lnTo>
                  <a:pt x="20628" y="30845"/>
                </a:lnTo>
                <a:lnTo>
                  <a:pt x="3551" y="27976"/>
                </a:lnTo>
                <a:lnTo>
                  <a:pt x="0" y="9325"/>
                </a:lnTo>
                <a:lnTo>
                  <a:pt x="35845" y="0"/>
                </a:lnTo>
                <a:lnTo>
                  <a:pt x="63911" y="10043"/>
                </a:lnTo>
                <a:lnTo>
                  <a:pt x="79128" y="37779"/>
                </a:lnTo>
                <a:lnTo>
                  <a:pt x="75408" y="55713"/>
                </a:lnTo>
                <a:close/>
              </a:path>
            </a:pathLst>
          </a:custGeom>
          <a:solidFill>
            <a:srgbClr val="E9EBEC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2998713" y="5382318"/>
            <a:ext cx="68138" cy="62886"/>
          </a:xfrm>
          <a:custGeom>
            <a:avLst/>
            <a:gdLst/>
            <a:ahLst/>
            <a:cxnLst/>
            <a:rect l="l" t="t" r="r" b="b"/>
            <a:pathLst>
              <a:path w="68138" h="62886">
                <a:moveTo>
                  <a:pt x="37704" y="48540"/>
                </a:moveTo>
                <a:lnTo>
                  <a:pt x="31618" y="62886"/>
                </a:lnTo>
                <a:lnTo>
                  <a:pt x="6087" y="58104"/>
                </a:lnTo>
                <a:lnTo>
                  <a:pt x="0" y="51887"/>
                </a:lnTo>
                <a:lnTo>
                  <a:pt x="5580" y="35149"/>
                </a:lnTo>
                <a:lnTo>
                  <a:pt x="13357" y="21520"/>
                </a:lnTo>
                <a:lnTo>
                  <a:pt x="21304" y="9325"/>
                </a:lnTo>
                <a:lnTo>
                  <a:pt x="57825" y="0"/>
                </a:lnTo>
                <a:lnTo>
                  <a:pt x="66447" y="8130"/>
                </a:lnTo>
                <a:lnTo>
                  <a:pt x="68138" y="19846"/>
                </a:lnTo>
                <a:lnTo>
                  <a:pt x="46327" y="45192"/>
                </a:lnTo>
                <a:lnTo>
                  <a:pt x="37704" y="48540"/>
                </a:lnTo>
                <a:close/>
              </a:path>
            </a:pathLst>
          </a:custGeom>
          <a:solidFill>
            <a:srgbClr val="E9EBEC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1230511" y="4271890"/>
            <a:ext cx="2120727" cy="1808869"/>
          </a:xfrm>
          <a:custGeom>
            <a:avLst/>
            <a:gdLst/>
            <a:ahLst/>
            <a:cxnLst/>
            <a:rect l="l" t="t" r="r" b="b"/>
            <a:pathLst>
              <a:path w="2120727" h="1808869">
                <a:moveTo>
                  <a:pt x="1258098" y="85362"/>
                </a:moveTo>
                <a:lnTo>
                  <a:pt x="1264861" y="105447"/>
                </a:lnTo>
                <a:lnTo>
                  <a:pt x="1272132" y="109512"/>
                </a:lnTo>
                <a:lnTo>
                  <a:pt x="1286841" y="115251"/>
                </a:lnTo>
                <a:lnTo>
                  <a:pt x="1297662" y="116207"/>
                </a:lnTo>
                <a:lnTo>
                  <a:pt x="1312879" y="119077"/>
                </a:lnTo>
                <a:lnTo>
                  <a:pt x="1323362" y="125772"/>
                </a:lnTo>
                <a:lnTo>
                  <a:pt x="1320826" y="147292"/>
                </a:lnTo>
                <a:lnTo>
                  <a:pt x="1314739" y="157573"/>
                </a:lnTo>
                <a:lnTo>
                  <a:pt x="1311188" y="165942"/>
                </a:lnTo>
                <a:lnTo>
                  <a:pt x="1320319" y="174311"/>
                </a:lnTo>
                <a:lnTo>
                  <a:pt x="1332999" y="167616"/>
                </a:lnTo>
                <a:lnTo>
                  <a:pt x="1338579" y="159725"/>
                </a:lnTo>
                <a:lnTo>
                  <a:pt x="1343989" y="168573"/>
                </a:lnTo>
                <a:lnTo>
                  <a:pt x="1362926" y="177898"/>
                </a:lnTo>
                <a:lnTo>
                  <a:pt x="1403673" y="195114"/>
                </a:lnTo>
                <a:lnTo>
                  <a:pt x="1419397" y="195353"/>
                </a:lnTo>
                <a:lnTo>
                  <a:pt x="1432924" y="197505"/>
                </a:lnTo>
                <a:lnTo>
                  <a:pt x="1462681" y="231219"/>
                </a:lnTo>
                <a:lnTo>
                  <a:pt x="1480265" y="230741"/>
                </a:lnTo>
                <a:lnTo>
                  <a:pt x="1494298" y="228589"/>
                </a:lnTo>
                <a:lnTo>
                  <a:pt x="1504105" y="223568"/>
                </a:lnTo>
                <a:lnTo>
                  <a:pt x="1518138" y="229785"/>
                </a:lnTo>
                <a:lnTo>
                  <a:pt x="1526592" y="234089"/>
                </a:lnTo>
                <a:lnTo>
                  <a:pt x="1538089" y="242697"/>
                </a:lnTo>
                <a:lnTo>
                  <a:pt x="1547896" y="253457"/>
                </a:lnTo>
                <a:lnTo>
                  <a:pt x="1595406" y="249870"/>
                </a:lnTo>
                <a:lnTo>
                  <a:pt x="1604536" y="256565"/>
                </a:lnTo>
                <a:lnTo>
                  <a:pt x="1625164" y="254891"/>
                </a:lnTo>
                <a:lnTo>
                  <a:pt x="1649003" y="258239"/>
                </a:lnTo>
                <a:lnTo>
                  <a:pt x="1668447" y="257282"/>
                </a:lnTo>
                <a:lnTo>
                  <a:pt x="1671998" y="230741"/>
                </a:lnTo>
                <a:lnTo>
                  <a:pt x="1675041" y="221894"/>
                </a:lnTo>
                <a:lnTo>
                  <a:pt x="1690934" y="221655"/>
                </a:lnTo>
                <a:lnTo>
                  <a:pt x="1732358" y="235763"/>
                </a:lnTo>
                <a:lnTo>
                  <a:pt x="1749435" y="244371"/>
                </a:lnTo>
                <a:lnTo>
                  <a:pt x="1765835" y="251544"/>
                </a:lnTo>
                <a:lnTo>
                  <a:pt x="1780376" y="252261"/>
                </a:lnTo>
                <a:lnTo>
                  <a:pt x="1789506" y="256804"/>
                </a:lnTo>
                <a:lnTo>
                  <a:pt x="1802863" y="279759"/>
                </a:lnTo>
                <a:lnTo>
                  <a:pt x="1801172" y="290997"/>
                </a:lnTo>
                <a:lnTo>
                  <a:pt x="1803539" y="302953"/>
                </a:lnTo>
                <a:lnTo>
                  <a:pt x="1806583" y="317538"/>
                </a:lnTo>
                <a:lnTo>
                  <a:pt x="1821123" y="316343"/>
                </a:lnTo>
                <a:lnTo>
                  <a:pt x="1829746" y="312995"/>
                </a:lnTo>
                <a:lnTo>
                  <a:pt x="1845470" y="303431"/>
                </a:lnTo>
                <a:lnTo>
                  <a:pt x="1875904" y="312995"/>
                </a:lnTo>
                <a:lnTo>
                  <a:pt x="1887570" y="319929"/>
                </a:lnTo>
                <a:lnTo>
                  <a:pt x="1891797" y="328298"/>
                </a:lnTo>
                <a:lnTo>
                  <a:pt x="1897208" y="336189"/>
                </a:lnTo>
                <a:lnTo>
                  <a:pt x="1916144" y="329494"/>
                </a:lnTo>
                <a:lnTo>
                  <a:pt x="1933728" y="321125"/>
                </a:lnTo>
                <a:lnTo>
                  <a:pt x="1962979" y="328776"/>
                </a:lnTo>
                <a:lnTo>
                  <a:pt x="1995948" y="339536"/>
                </a:lnTo>
                <a:lnTo>
                  <a:pt x="2009813" y="340732"/>
                </a:lnTo>
                <a:lnTo>
                  <a:pt x="2012856" y="327820"/>
                </a:lnTo>
                <a:lnTo>
                  <a:pt x="2026382" y="323277"/>
                </a:lnTo>
                <a:lnTo>
                  <a:pt x="2037879" y="319451"/>
                </a:lnTo>
                <a:lnTo>
                  <a:pt x="2050729" y="312995"/>
                </a:lnTo>
                <a:lnTo>
                  <a:pt x="2063410" y="310365"/>
                </a:lnTo>
                <a:lnTo>
                  <a:pt x="2077443" y="314908"/>
                </a:lnTo>
                <a:lnTo>
                  <a:pt x="2094520" y="319212"/>
                </a:lnTo>
                <a:lnTo>
                  <a:pt x="2109061" y="334037"/>
                </a:lnTo>
                <a:lnTo>
                  <a:pt x="2117684" y="340015"/>
                </a:lnTo>
                <a:lnTo>
                  <a:pt x="2120727" y="352688"/>
                </a:lnTo>
                <a:lnTo>
                  <a:pt x="2106017" y="359861"/>
                </a:lnTo>
                <a:lnTo>
                  <a:pt x="2094520" y="383055"/>
                </a:lnTo>
                <a:lnTo>
                  <a:pt x="2106694" y="395488"/>
                </a:lnTo>
                <a:lnTo>
                  <a:pt x="2110920" y="435420"/>
                </a:lnTo>
                <a:lnTo>
                  <a:pt x="2093844" y="455266"/>
                </a:lnTo>
                <a:lnTo>
                  <a:pt x="2069497" y="477742"/>
                </a:lnTo>
                <a:lnTo>
                  <a:pt x="1951989" y="549475"/>
                </a:lnTo>
                <a:lnTo>
                  <a:pt x="1924091" y="584385"/>
                </a:lnTo>
                <a:lnTo>
                  <a:pt x="1913777" y="592276"/>
                </a:lnTo>
                <a:lnTo>
                  <a:pt x="1826703" y="614274"/>
                </a:lnTo>
                <a:lnTo>
                  <a:pt x="1765159" y="637946"/>
                </a:lnTo>
                <a:lnTo>
                  <a:pt x="1735909" y="646315"/>
                </a:lnTo>
                <a:lnTo>
                  <a:pt x="1699388" y="686964"/>
                </a:lnTo>
                <a:lnTo>
                  <a:pt x="1682481" y="703462"/>
                </a:lnTo>
                <a:lnTo>
                  <a:pt x="1696345" y="708005"/>
                </a:lnTo>
                <a:lnTo>
                  <a:pt x="1712238" y="727613"/>
                </a:lnTo>
                <a:lnTo>
                  <a:pt x="1706828" y="736220"/>
                </a:lnTo>
                <a:lnTo>
                  <a:pt x="1683664" y="749611"/>
                </a:lnTo>
                <a:lnTo>
                  <a:pt x="1673350" y="753676"/>
                </a:lnTo>
                <a:lnTo>
                  <a:pt x="1662360" y="753436"/>
                </a:lnTo>
                <a:lnTo>
                  <a:pt x="1623304" y="823974"/>
                </a:lnTo>
                <a:lnTo>
                  <a:pt x="1588136" y="874904"/>
                </a:lnTo>
                <a:lnTo>
                  <a:pt x="1568523" y="896903"/>
                </a:lnTo>
                <a:lnTo>
                  <a:pt x="1549079" y="929661"/>
                </a:lnTo>
                <a:lnTo>
                  <a:pt x="1506472" y="1015262"/>
                </a:lnTo>
                <a:lnTo>
                  <a:pt x="1505965" y="1039652"/>
                </a:lnTo>
                <a:lnTo>
                  <a:pt x="1527268" y="1124536"/>
                </a:lnTo>
                <a:lnTo>
                  <a:pt x="1538765" y="1146773"/>
                </a:lnTo>
                <a:lnTo>
                  <a:pt x="1555842" y="1165424"/>
                </a:lnTo>
                <a:lnTo>
                  <a:pt x="1588136" y="1181205"/>
                </a:lnTo>
                <a:lnTo>
                  <a:pt x="1595406" y="1196986"/>
                </a:lnTo>
                <a:lnTo>
                  <a:pt x="1584416" y="1212050"/>
                </a:lnTo>
                <a:lnTo>
                  <a:pt x="1552799" y="1238591"/>
                </a:lnTo>
                <a:lnTo>
                  <a:pt x="1497342" y="1274219"/>
                </a:lnTo>
                <a:lnTo>
                  <a:pt x="1473671" y="1302434"/>
                </a:lnTo>
                <a:lnTo>
                  <a:pt x="1468768" y="1329931"/>
                </a:lnTo>
                <a:lnTo>
                  <a:pt x="1452367" y="1342365"/>
                </a:lnTo>
                <a:lnTo>
                  <a:pt x="1446281" y="1380623"/>
                </a:lnTo>
                <a:lnTo>
                  <a:pt x="1436474" y="1405969"/>
                </a:lnTo>
                <a:lnTo>
                  <a:pt x="1423793" y="1433705"/>
                </a:lnTo>
                <a:lnTo>
                  <a:pt x="1422441" y="1447335"/>
                </a:lnTo>
                <a:lnTo>
                  <a:pt x="1439518" y="1466942"/>
                </a:lnTo>
                <a:lnTo>
                  <a:pt x="1431064" y="1475071"/>
                </a:lnTo>
                <a:lnTo>
                  <a:pt x="1422441" y="1478897"/>
                </a:lnTo>
                <a:lnTo>
                  <a:pt x="1402997" y="1481049"/>
                </a:lnTo>
                <a:lnTo>
                  <a:pt x="1337226" y="1483440"/>
                </a:lnTo>
                <a:lnTo>
                  <a:pt x="1284305" y="1525046"/>
                </a:lnTo>
                <a:lnTo>
                  <a:pt x="1257591" y="1561869"/>
                </a:lnTo>
                <a:lnTo>
                  <a:pt x="1233751" y="1630493"/>
                </a:lnTo>
                <a:lnTo>
                  <a:pt x="1204670" y="1671142"/>
                </a:lnTo>
                <a:lnTo>
                  <a:pt x="1191820" y="1678554"/>
                </a:lnTo>
                <a:lnTo>
                  <a:pt x="1171700" y="1660621"/>
                </a:lnTo>
                <a:lnTo>
                  <a:pt x="1146846" y="1657752"/>
                </a:lnTo>
                <a:lnTo>
                  <a:pt x="1122499" y="1663969"/>
                </a:lnTo>
                <a:lnTo>
                  <a:pt x="1110325" y="1677837"/>
                </a:lnTo>
                <a:lnTo>
                  <a:pt x="1090205" y="1685728"/>
                </a:lnTo>
                <a:lnTo>
                  <a:pt x="1070762" y="1679033"/>
                </a:lnTo>
                <a:lnTo>
                  <a:pt x="1029338" y="1675207"/>
                </a:lnTo>
                <a:lnTo>
                  <a:pt x="1010401" y="1676163"/>
                </a:lnTo>
                <a:lnTo>
                  <a:pt x="981151" y="1687401"/>
                </a:lnTo>
                <a:lnTo>
                  <a:pt x="956297" y="1679750"/>
                </a:lnTo>
                <a:lnTo>
                  <a:pt x="914197" y="1676163"/>
                </a:lnTo>
                <a:lnTo>
                  <a:pt x="822895" y="1684771"/>
                </a:lnTo>
                <a:lnTo>
                  <a:pt x="812074" y="1689314"/>
                </a:lnTo>
                <a:lnTo>
                  <a:pt x="800408" y="1706291"/>
                </a:lnTo>
                <a:lnTo>
                  <a:pt x="771158" y="1735463"/>
                </a:lnTo>
                <a:lnTo>
                  <a:pt x="727367" y="1736658"/>
                </a:lnTo>
                <a:lnTo>
                  <a:pt x="687296" y="1755309"/>
                </a:lnTo>
                <a:lnTo>
                  <a:pt x="677490" y="1767503"/>
                </a:lnTo>
                <a:lnTo>
                  <a:pt x="660413" y="1800262"/>
                </a:lnTo>
                <a:lnTo>
                  <a:pt x="538719" y="1808869"/>
                </a:lnTo>
                <a:lnTo>
                  <a:pt x="518558" y="1777068"/>
                </a:lnTo>
                <a:lnTo>
                  <a:pt x="508920" y="1754591"/>
                </a:lnTo>
                <a:lnTo>
                  <a:pt x="502157" y="1730920"/>
                </a:lnTo>
                <a:lnTo>
                  <a:pt x="501650" y="1713943"/>
                </a:lnTo>
                <a:lnTo>
                  <a:pt x="482037" y="1704378"/>
                </a:lnTo>
                <a:lnTo>
                  <a:pt x="477303" y="1682380"/>
                </a:lnTo>
                <a:lnTo>
                  <a:pt x="491843" y="1654165"/>
                </a:lnTo>
                <a:lnTo>
                  <a:pt x="503341" y="1641731"/>
                </a:lnTo>
                <a:lnTo>
                  <a:pt x="493027" y="1639579"/>
                </a:lnTo>
                <a:lnTo>
                  <a:pt x="480346" y="1657752"/>
                </a:lnTo>
                <a:lnTo>
                  <a:pt x="463777" y="1628341"/>
                </a:lnTo>
                <a:lnTo>
                  <a:pt x="397499" y="1570955"/>
                </a:lnTo>
                <a:lnTo>
                  <a:pt x="401726" y="1558282"/>
                </a:lnTo>
                <a:lnTo>
                  <a:pt x="390228" y="1566172"/>
                </a:lnTo>
                <a:lnTo>
                  <a:pt x="382282" y="1570237"/>
                </a:lnTo>
                <a:lnTo>
                  <a:pt x="348128" y="1567846"/>
                </a:lnTo>
                <a:lnTo>
                  <a:pt x="309241" y="1574780"/>
                </a:lnTo>
                <a:lnTo>
                  <a:pt x="298927" y="1515003"/>
                </a:lnTo>
                <a:lnTo>
                  <a:pt x="294024" y="1492287"/>
                </a:lnTo>
                <a:lnTo>
                  <a:pt x="292840" y="1477702"/>
                </a:lnTo>
                <a:lnTo>
                  <a:pt x="303154" y="1443748"/>
                </a:lnTo>
                <a:lnTo>
                  <a:pt x="314144" y="1429640"/>
                </a:lnTo>
                <a:lnTo>
                  <a:pt x="328685" y="1400947"/>
                </a:lnTo>
                <a:lnTo>
                  <a:pt x="346945" y="1376797"/>
                </a:lnTo>
                <a:lnTo>
                  <a:pt x="365881" y="1371298"/>
                </a:lnTo>
                <a:lnTo>
                  <a:pt x="374335" y="1367711"/>
                </a:lnTo>
                <a:lnTo>
                  <a:pt x="381098" y="1349299"/>
                </a:lnTo>
                <a:lnTo>
                  <a:pt x="385325" y="1333757"/>
                </a:lnTo>
                <a:lnTo>
                  <a:pt x="360302" y="1335192"/>
                </a:lnTo>
                <a:lnTo>
                  <a:pt x="320231" y="1269197"/>
                </a:lnTo>
                <a:lnTo>
                  <a:pt x="321414" y="1258437"/>
                </a:lnTo>
                <a:lnTo>
                  <a:pt x="326318" y="1242656"/>
                </a:lnTo>
                <a:lnTo>
                  <a:pt x="329868" y="1223288"/>
                </a:lnTo>
                <a:lnTo>
                  <a:pt x="330544" y="1207507"/>
                </a:lnTo>
                <a:lnTo>
                  <a:pt x="340858" y="1194117"/>
                </a:lnTo>
                <a:lnTo>
                  <a:pt x="356751" y="1180966"/>
                </a:lnTo>
                <a:lnTo>
                  <a:pt x="370108" y="1161837"/>
                </a:lnTo>
                <a:lnTo>
                  <a:pt x="376871" y="1142708"/>
                </a:lnTo>
                <a:lnTo>
                  <a:pt x="378562" y="1125731"/>
                </a:lnTo>
                <a:lnTo>
                  <a:pt x="370785" y="1113537"/>
                </a:lnTo>
                <a:lnTo>
                  <a:pt x="348805" y="1107081"/>
                </a:lnTo>
                <a:lnTo>
                  <a:pt x="326318" y="1058541"/>
                </a:lnTo>
                <a:lnTo>
                  <a:pt x="321414" y="1028174"/>
                </a:lnTo>
                <a:lnTo>
                  <a:pt x="302478" y="1011197"/>
                </a:lnTo>
                <a:lnTo>
                  <a:pt x="289121" y="985373"/>
                </a:lnTo>
                <a:lnTo>
                  <a:pt x="301294" y="976766"/>
                </a:lnTo>
                <a:lnTo>
                  <a:pt x="357935" y="976287"/>
                </a:lnTo>
                <a:lnTo>
                  <a:pt x="370108" y="970788"/>
                </a:lnTo>
                <a:lnTo>
                  <a:pt x="382282" y="948311"/>
                </a:lnTo>
                <a:lnTo>
                  <a:pt x="393272" y="915314"/>
                </a:lnTo>
                <a:lnTo>
                  <a:pt x="395639" y="894990"/>
                </a:lnTo>
                <a:lnTo>
                  <a:pt x="392088" y="886621"/>
                </a:lnTo>
                <a:lnTo>
                  <a:pt x="373152" y="866297"/>
                </a:lnTo>
                <a:lnTo>
                  <a:pt x="375519" y="850515"/>
                </a:lnTo>
                <a:lnTo>
                  <a:pt x="386509" y="839994"/>
                </a:lnTo>
                <a:lnTo>
                  <a:pt x="401726" y="828517"/>
                </a:lnTo>
                <a:lnTo>
                  <a:pt x="410349" y="817996"/>
                </a:lnTo>
                <a:lnTo>
                  <a:pt x="403586" y="801976"/>
                </a:lnTo>
                <a:lnTo>
                  <a:pt x="405953" y="784999"/>
                </a:lnTo>
                <a:lnTo>
                  <a:pt x="406629" y="752002"/>
                </a:lnTo>
                <a:lnTo>
                  <a:pt x="405953" y="714222"/>
                </a:lnTo>
                <a:lnTo>
                  <a:pt x="402402" y="690311"/>
                </a:lnTo>
                <a:lnTo>
                  <a:pt x="390228" y="658988"/>
                </a:lnTo>
                <a:lnTo>
                  <a:pt x="398175" y="646315"/>
                </a:lnTo>
                <a:lnTo>
                  <a:pt x="415759" y="635555"/>
                </a:lnTo>
                <a:lnTo>
                  <a:pt x="430300" y="609731"/>
                </a:lnTo>
                <a:lnTo>
                  <a:pt x="451603" y="588450"/>
                </a:lnTo>
                <a:lnTo>
                  <a:pt x="478994" y="571473"/>
                </a:lnTo>
                <a:lnTo>
                  <a:pt x="497930" y="552345"/>
                </a:lnTo>
                <a:lnTo>
                  <a:pt x="505877" y="537998"/>
                </a:lnTo>
                <a:lnTo>
                  <a:pt x="509427" y="526999"/>
                </a:lnTo>
                <a:lnTo>
                  <a:pt x="505877" y="517195"/>
                </a:lnTo>
                <a:lnTo>
                  <a:pt x="494887" y="507631"/>
                </a:lnTo>
                <a:lnTo>
                  <a:pt x="480854" y="502131"/>
                </a:lnTo>
                <a:lnTo>
                  <a:pt x="465129" y="502131"/>
                </a:lnTo>
                <a:lnTo>
                  <a:pt x="455323" y="500458"/>
                </a:lnTo>
                <a:lnTo>
                  <a:pt x="453463" y="472243"/>
                </a:lnTo>
                <a:lnTo>
                  <a:pt x="452956" y="451918"/>
                </a:lnTo>
                <a:lnTo>
                  <a:pt x="449913" y="442832"/>
                </a:lnTo>
                <a:lnTo>
                  <a:pt x="442473" y="435898"/>
                </a:lnTo>
                <a:lnTo>
                  <a:pt x="427933" y="437811"/>
                </a:lnTo>
                <a:lnTo>
                  <a:pt x="415759" y="432072"/>
                </a:lnTo>
                <a:lnTo>
                  <a:pt x="405953" y="430877"/>
                </a:lnTo>
                <a:lnTo>
                  <a:pt x="373152" y="433746"/>
                </a:lnTo>
                <a:lnTo>
                  <a:pt x="361655" y="430398"/>
                </a:lnTo>
                <a:lnTo>
                  <a:pt x="353032" y="426573"/>
                </a:lnTo>
                <a:lnTo>
                  <a:pt x="345085" y="432789"/>
                </a:lnTo>
                <a:lnTo>
                  <a:pt x="342718" y="446897"/>
                </a:lnTo>
                <a:lnTo>
                  <a:pt x="332404" y="454549"/>
                </a:lnTo>
                <a:lnTo>
                  <a:pt x="309917" y="461961"/>
                </a:lnTo>
                <a:lnTo>
                  <a:pt x="291657" y="461004"/>
                </a:lnTo>
                <a:lnTo>
                  <a:pt x="274580" y="456222"/>
                </a:lnTo>
                <a:lnTo>
                  <a:pt x="261223" y="448571"/>
                </a:lnTo>
                <a:lnTo>
                  <a:pt x="226393" y="452875"/>
                </a:lnTo>
                <a:lnTo>
                  <a:pt x="210669" y="457418"/>
                </a:lnTo>
                <a:lnTo>
                  <a:pt x="192916" y="466504"/>
                </a:lnTo>
                <a:lnTo>
                  <a:pt x="179559" y="465308"/>
                </a:lnTo>
                <a:lnTo>
                  <a:pt x="171105" y="446897"/>
                </a:lnTo>
                <a:lnTo>
                  <a:pt x="186829" y="417486"/>
                </a:lnTo>
                <a:lnTo>
                  <a:pt x="179559" y="405531"/>
                </a:lnTo>
                <a:lnTo>
                  <a:pt x="174656" y="395010"/>
                </a:lnTo>
                <a:lnTo>
                  <a:pt x="163835" y="389271"/>
                </a:lnTo>
                <a:lnTo>
                  <a:pt x="154705" y="394771"/>
                </a:lnTo>
                <a:lnTo>
                  <a:pt x="118184" y="405531"/>
                </a:lnTo>
                <a:lnTo>
                  <a:pt x="109561" y="409118"/>
                </a:lnTo>
                <a:lnTo>
                  <a:pt x="93837" y="420117"/>
                </a:lnTo>
                <a:lnTo>
                  <a:pt x="77268" y="436137"/>
                </a:lnTo>
                <a:lnTo>
                  <a:pt x="65094" y="439485"/>
                </a:lnTo>
                <a:lnTo>
                  <a:pt x="59008" y="396684"/>
                </a:lnTo>
                <a:lnTo>
                  <a:pt x="78620" y="371816"/>
                </a:lnTo>
                <a:lnTo>
                  <a:pt x="91977" y="356513"/>
                </a:lnTo>
                <a:lnTo>
                  <a:pt x="71181" y="354122"/>
                </a:lnTo>
                <a:lnTo>
                  <a:pt x="71857" y="341928"/>
                </a:lnTo>
                <a:lnTo>
                  <a:pt x="79128" y="336667"/>
                </a:lnTo>
                <a:lnTo>
                  <a:pt x="85891" y="323755"/>
                </a:lnTo>
                <a:lnTo>
                  <a:pt x="77944" y="318016"/>
                </a:lnTo>
                <a:lnTo>
                  <a:pt x="71857" y="309648"/>
                </a:lnTo>
                <a:lnTo>
                  <a:pt x="71857" y="287649"/>
                </a:lnTo>
                <a:lnTo>
                  <a:pt x="71857" y="268999"/>
                </a:lnTo>
                <a:lnTo>
                  <a:pt x="42100" y="282150"/>
                </a:lnTo>
                <a:lnTo>
                  <a:pt x="34153" y="263499"/>
                </a:lnTo>
                <a:lnTo>
                  <a:pt x="50554" y="238632"/>
                </a:lnTo>
                <a:lnTo>
                  <a:pt x="32970" y="227394"/>
                </a:lnTo>
                <a:lnTo>
                  <a:pt x="18260" y="214960"/>
                </a:lnTo>
                <a:lnTo>
                  <a:pt x="9806" y="204200"/>
                </a:lnTo>
                <a:lnTo>
                  <a:pt x="0" y="188419"/>
                </a:lnTo>
                <a:lnTo>
                  <a:pt x="0" y="174311"/>
                </a:lnTo>
                <a:lnTo>
                  <a:pt x="9806" y="141553"/>
                </a:lnTo>
                <a:lnTo>
                  <a:pt x="23840" y="131510"/>
                </a:lnTo>
                <a:lnTo>
                  <a:pt x="36013" y="125772"/>
                </a:lnTo>
                <a:lnTo>
                  <a:pt x="61544" y="102817"/>
                </a:lnTo>
                <a:lnTo>
                  <a:pt x="96204" y="107121"/>
                </a:lnTo>
                <a:lnTo>
                  <a:pt x="118184" y="102578"/>
                </a:lnTo>
                <a:lnTo>
                  <a:pt x="137628" y="90862"/>
                </a:lnTo>
                <a:lnTo>
                  <a:pt x="149125" y="87992"/>
                </a:lnTo>
                <a:lnTo>
                  <a:pt x="166878" y="77950"/>
                </a:lnTo>
                <a:lnTo>
                  <a:pt x="166202" y="64320"/>
                </a:lnTo>
                <a:lnTo>
                  <a:pt x="160115" y="53800"/>
                </a:lnTo>
                <a:lnTo>
                  <a:pt x="165526" y="44235"/>
                </a:lnTo>
                <a:lnTo>
                  <a:pt x="185646" y="32280"/>
                </a:lnTo>
                <a:lnTo>
                  <a:pt x="208133" y="16977"/>
                </a:lnTo>
                <a:lnTo>
                  <a:pt x="233833" y="14107"/>
                </a:lnTo>
                <a:lnTo>
                  <a:pt x="259870" y="0"/>
                </a:lnTo>
                <a:lnTo>
                  <a:pt x="277624" y="9086"/>
                </a:lnTo>
                <a:lnTo>
                  <a:pt x="292840" y="6217"/>
                </a:lnTo>
                <a:lnTo>
                  <a:pt x="310424" y="16498"/>
                </a:lnTo>
                <a:lnTo>
                  <a:pt x="333588" y="40649"/>
                </a:lnTo>
                <a:lnTo>
                  <a:pt x="367741" y="50691"/>
                </a:lnTo>
                <a:lnTo>
                  <a:pt x="395132" y="42800"/>
                </a:lnTo>
                <a:lnTo>
                  <a:pt x="442473" y="41366"/>
                </a:lnTo>
                <a:lnTo>
                  <a:pt x="466820" y="44235"/>
                </a:lnTo>
                <a:lnTo>
                  <a:pt x="509427" y="38497"/>
                </a:lnTo>
                <a:lnTo>
                  <a:pt x="533774" y="40649"/>
                </a:lnTo>
                <a:lnTo>
                  <a:pt x="572831" y="28693"/>
                </a:lnTo>
                <a:lnTo>
                  <a:pt x="603772" y="43518"/>
                </a:lnTo>
                <a:lnTo>
                  <a:pt x="662949" y="50691"/>
                </a:lnTo>
                <a:lnTo>
                  <a:pt x="698117" y="63125"/>
                </a:lnTo>
                <a:lnTo>
                  <a:pt x="796858" y="83449"/>
                </a:lnTo>
                <a:lnTo>
                  <a:pt x="832702" y="83688"/>
                </a:lnTo>
                <a:lnTo>
                  <a:pt x="882579" y="72211"/>
                </a:lnTo>
                <a:lnTo>
                  <a:pt x="903883" y="63364"/>
                </a:lnTo>
                <a:lnTo>
                  <a:pt x="923327" y="68864"/>
                </a:lnTo>
                <a:lnTo>
                  <a:pt x="952070" y="58821"/>
                </a:lnTo>
                <a:lnTo>
                  <a:pt x="965934" y="60495"/>
                </a:lnTo>
                <a:lnTo>
                  <a:pt x="983687" y="75080"/>
                </a:lnTo>
                <a:lnTo>
                  <a:pt x="1046922" y="94209"/>
                </a:lnTo>
                <a:lnTo>
                  <a:pt x="1063322" y="77950"/>
                </a:lnTo>
                <a:lnTo>
                  <a:pt x="1075496" y="74124"/>
                </a:lnTo>
                <a:lnTo>
                  <a:pt x="1120639" y="84167"/>
                </a:lnTo>
                <a:lnTo>
                  <a:pt x="1166290" y="104491"/>
                </a:lnTo>
                <a:lnTo>
                  <a:pt x="1189961" y="105687"/>
                </a:lnTo>
                <a:lnTo>
                  <a:pt x="1224621" y="100426"/>
                </a:lnTo>
                <a:lnTo>
                  <a:pt x="1252688" y="87036"/>
                </a:lnTo>
                <a:close/>
              </a:path>
            </a:pathLst>
          </a:custGeom>
          <a:solidFill>
            <a:srgbClr val="E9EBEC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5054346" y="3613141"/>
            <a:ext cx="216027" cy="261108"/>
          </a:xfrm>
          <a:custGeom>
            <a:avLst/>
            <a:gdLst/>
            <a:ahLst/>
            <a:cxnLst/>
            <a:rect l="l" t="t" r="r" b="b"/>
            <a:pathLst>
              <a:path w="216027" h="261108">
                <a:moveTo>
                  <a:pt x="216027" y="228310"/>
                </a:moveTo>
                <a:lnTo>
                  <a:pt x="207457" y="217351"/>
                </a:lnTo>
                <a:lnTo>
                  <a:pt x="205090" y="207787"/>
                </a:lnTo>
                <a:lnTo>
                  <a:pt x="195283" y="209221"/>
                </a:lnTo>
                <a:lnTo>
                  <a:pt x="190380" y="221177"/>
                </a:lnTo>
                <a:lnTo>
                  <a:pt x="177023" y="242458"/>
                </a:lnTo>
                <a:lnTo>
                  <a:pt x="167386" y="248196"/>
                </a:lnTo>
                <a:lnTo>
                  <a:pt x="152676" y="247001"/>
                </a:lnTo>
                <a:lnTo>
                  <a:pt x="132049" y="247240"/>
                </a:lnTo>
                <a:lnTo>
                  <a:pt x="119199" y="249392"/>
                </a:lnTo>
                <a:lnTo>
                  <a:pt x="103475" y="241501"/>
                </a:lnTo>
                <a:lnTo>
                  <a:pt x="93668" y="256087"/>
                </a:lnTo>
                <a:lnTo>
                  <a:pt x="84538" y="261108"/>
                </a:lnTo>
                <a:lnTo>
                  <a:pt x="39564" y="249392"/>
                </a:lnTo>
                <a:lnTo>
                  <a:pt x="33477" y="239827"/>
                </a:lnTo>
                <a:lnTo>
                  <a:pt x="43791" y="235284"/>
                </a:lnTo>
                <a:lnTo>
                  <a:pt x="57824" y="222851"/>
                </a:lnTo>
                <a:lnTo>
                  <a:pt x="78452" y="221655"/>
                </a:lnTo>
                <a:lnTo>
                  <a:pt x="76084" y="200852"/>
                </a:lnTo>
                <a:lnTo>
                  <a:pt x="57824" y="181245"/>
                </a:lnTo>
                <a:lnTo>
                  <a:pt x="48018" y="174311"/>
                </a:lnTo>
                <a:lnTo>
                  <a:pt x="34661" y="169290"/>
                </a:lnTo>
                <a:lnTo>
                  <a:pt x="39564" y="133662"/>
                </a:lnTo>
                <a:lnTo>
                  <a:pt x="21811" y="130793"/>
                </a:lnTo>
                <a:lnTo>
                  <a:pt x="16908" y="121946"/>
                </a:lnTo>
                <a:lnTo>
                  <a:pt x="28574" y="102817"/>
                </a:lnTo>
                <a:lnTo>
                  <a:pt x="40071" y="92535"/>
                </a:lnTo>
                <a:lnTo>
                  <a:pt x="42607" y="82015"/>
                </a:lnTo>
                <a:lnTo>
                  <a:pt x="27898" y="77232"/>
                </a:lnTo>
                <a:lnTo>
                  <a:pt x="18767" y="72450"/>
                </a:lnTo>
                <a:lnTo>
                  <a:pt x="7270" y="73407"/>
                </a:lnTo>
                <a:lnTo>
                  <a:pt x="0" y="61690"/>
                </a:lnTo>
                <a:lnTo>
                  <a:pt x="3551" y="48539"/>
                </a:lnTo>
                <a:lnTo>
                  <a:pt x="16400" y="36105"/>
                </a:lnTo>
                <a:lnTo>
                  <a:pt x="30941" y="25345"/>
                </a:lnTo>
                <a:lnTo>
                  <a:pt x="43791" y="16977"/>
                </a:lnTo>
                <a:lnTo>
                  <a:pt x="54104" y="0"/>
                </a:lnTo>
                <a:lnTo>
                  <a:pt x="76592" y="1913"/>
                </a:lnTo>
                <a:lnTo>
                  <a:pt x="92992" y="5260"/>
                </a:lnTo>
                <a:lnTo>
                  <a:pt x="108209" y="9086"/>
                </a:lnTo>
                <a:lnTo>
                  <a:pt x="121735" y="14107"/>
                </a:lnTo>
                <a:lnTo>
                  <a:pt x="150309" y="19129"/>
                </a:lnTo>
                <a:lnTo>
                  <a:pt x="175840" y="21998"/>
                </a:lnTo>
                <a:lnTo>
                  <a:pt x="189873" y="24389"/>
                </a:lnTo>
                <a:lnTo>
                  <a:pt x="197820" y="28454"/>
                </a:lnTo>
                <a:lnTo>
                  <a:pt x="205597" y="20324"/>
                </a:lnTo>
                <a:lnTo>
                  <a:pt x="216027" y="15348"/>
                </a:lnTo>
                <a:close/>
              </a:path>
            </a:pathLst>
          </a:custGeom>
          <a:solidFill>
            <a:srgbClr val="E9EBEC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Freeform 26"/>
          <p:cNvSpPr/>
          <p:nvPr/>
        </p:nvSpPr>
        <p:spPr>
          <a:xfrm>
            <a:off x="4888144" y="4218329"/>
            <a:ext cx="18260" cy="22716"/>
          </a:xfrm>
          <a:custGeom>
            <a:avLst/>
            <a:gdLst/>
            <a:ahLst/>
            <a:cxnLst/>
            <a:rect l="l" t="t" r="r" b="b"/>
            <a:pathLst>
              <a:path w="18260" h="22716">
                <a:moveTo>
                  <a:pt x="15217" y="21042"/>
                </a:moveTo>
                <a:lnTo>
                  <a:pt x="4903" y="22716"/>
                </a:lnTo>
                <a:lnTo>
                  <a:pt x="0" y="12912"/>
                </a:lnTo>
                <a:lnTo>
                  <a:pt x="7270" y="1674"/>
                </a:lnTo>
                <a:lnTo>
                  <a:pt x="18260" y="0"/>
                </a:lnTo>
                <a:lnTo>
                  <a:pt x="15217" y="21042"/>
                </a:lnTo>
                <a:close/>
              </a:path>
            </a:pathLst>
          </a:custGeom>
          <a:solidFill>
            <a:srgbClr val="E9EBEC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1189087" y="4661161"/>
            <a:ext cx="550851" cy="1227115"/>
          </a:xfrm>
          <a:custGeom>
            <a:avLst/>
            <a:gdLst/>
            <a:ahLst/>
            <a:cxnLst/>
            <a:rect l="l" t="t" r="r" b="b"/>
            <a:pathLst>
              <a:path w="550851" h="1227115">
                <a:moveTo>
                  <a:pt x="118692" y="46866"/>
                </a:moveTo>
                <a:lnTo>
                  <a:pt x="135261" y="30846"/>
                </a:lnTo>
                <a:lnTo>
                  <a:pt x="150985" y="19847"/>
                </a:lnTo>
                <a:lnTo>
                  <a:pt x="159608" y="16260"/>
                </a:lnTo>
                <a:lnTo>
                  <a:pt x="196129" y="5500"/>
                </a:lnTo>
                <a:lnTo>
                  <a:pt x="205259" y="0"/>
                </a:lnTo>
                <a:lnTo>
                  <a:pt x="216080" y="5739"/>
                </a:lnTo>
                <a:lnTo>
                  <a:pt x="220983" y="16260"/>
                </a:lnTo>
                <a:lnTo>
                  <a:pt x="227070" y="23194"/>
                </a:lnTo>
                <a:lnTo>
                  <a:pt x="214389" y="50214"/>
                </a:lnTo>
                <a:lnTo>
                  <a:pt x="219800" y="71733"/>
                </a:lnTo>
                <a:lnTo>
                  <a:pt x="234340" y="77233"/>
                </a:lnTo>
                <a:lnTo>
                  <a:pt x="252093" y="68147"/>
                </a:lnTo>
                <a:lnTo>
                  <a:pt x="263590" y="60734"/>
                </a:lnTo>
                <a:lnTo>
                  <a:pt x="302647" y="59300"/>
                </a:lnTo>
                <a:lnTo>
                  <a:pt x="310425" y="62647"/>
                </a:lnTo>
                <a:lnTo>
                  <a:pt x="333081" y="71733"/>
                </a:lnTo>
                <a:lnTo>
                  <a:pt x="351341" y="72690"/>
                </a:lnTo>
                <a:lnTo>
                  <a:pt x="373828" y="65278"/>
                </a:lnTo>
                <a:lnTo>
                  <a:pt x="384142" y="57626"/>
                </a:lnTo>
                <a:lnTo>
                  <a:pt x="386509" y="43518"/>
                </a:lnTo>
                <a:lnTo>
                  <a:pt x="394456" y="37302"/>
                </a:lnTo>
                <a:lnTo>
                  <a:pt x="403079" y="41127"/>
                </a:lnTo>
                <a:lnTo>
                  <a:pt x="414576" y="44475"/>
                </a:lnTo>
                <a:lnTo>
                  <a:pt x="441966" y="45670"/>
                </a:lnTo>
                <a:lnTo>
                  <a:pt x="457183" y="42801"/>
                </a:lnTo>
                <a:lnTo>
                  <a:pt x="469357" y="48540"/>
                </a:lnTo>
                <a:lnTo>
                  <a:pt x="483897" y="46627"/>
                </a:lnTo>
                <a:lnTo>
                  <a:pt x="491337" y="53561"/>
                </a:lnTo>
                <a:lnTo>
                  <a:pt x="494380" y="62647"/>
                </a:lnTo>
                <a:lnTo>
                  <a:pt x="494887" y="82972"/>
                </a:lnTo>
                <a:lnTo>
                  <a:pt x="494380" y="103296"/>
                </a:lnTo>
                <a:lnTo>
                  <a:pt x="506553" y="112860"/>
                </a:lnTo>
                <a:lnTo>
                  <a:pt x="522278" y="112860"/>
                </a:lnTo>
                <a:lnTo>
                  <a:pt x="536311" y="118360"/>
                </a:lnTo>
                <a:lnTo>
                  <a:pt x="547301" y="127924"/>
                </a:lnTo>
                <a:lnTo>
                  <a:pt x="550851" y="137728"/>
                </a:lnTo>
                <a:lnTo>
                  <a:pt x="547301" y="148727"/>
                </a:lnTo>
                <a:lnTo>
                  <a:pt x="539354" y="163074"/>
                </a:lnTo>
                <a:lnTo>
                  <a:pt x="520418" y="182202"/>
                </a:lnTo>
                <a:lnTo>
                  <a:pt x="493027" y="199179"/>
                </a:lnTo>
                <a:lnTo>
                  <a:pt x="471724" y="220460"/>
                </a:lnTo>
                <a:lnTo>
                  <a:pt x="457183" y="246284"/>
                </a:lnTo>
                <a:lnTo>
                  <a:pt x="439599" y="257044"/>
                </a:lnTo>
                <a:lnTo>
                  <a:pt x="434020" y="262783"/>
                </a:lnTo>
                <a:lnTo>
                  <a:pt x="443826" y="301040"/>
                </a:lnTo>
                <a:lnTo>
                  <a:pt x="447377" y="324951"/>
                </a:lnTo>
                <a:lnTo>
                  <a:pt x="450420" y="354601"/>
                </a:lnTo>
                <a:lnTo>
                  <a:pt x="447377" y="395728"/>
                </a:lnTo>
                <a:lnTo>
                  <a:pt x="444333" y="405053"/>
                </a:lnTo>
                <a:lnTo>
                  <a:pt x="449913" y="420835"/>
                </a:lnTo>
                <a:lnTo>
                  <a:pt x="443150" y="439246"/>
                </a:lnTo>
                <a:lnTo>
                  <a:pt x="427933" y="450723"/>
                </a:lnTo>
                <a:lnTo>
                  <a:pt x="416943" y="461244"/>
                </a:lnTo>
                <a:lnTo>
                  <a:pt x="413899" y="470809"/>
                </a:lnTo>
                <a:lnTo>
                  <a:pt x="433512" y="497350"/>
                </a:lnTo>
                <a:lnTo>
                  <a:pt x="437063" y="505719"/>
                </a:lnTo>
                <a:lnTo>
                  <a:pt x="434696" y="526043"/>
                </a:lnTo>
                <a:lnTo>
                  <a:pt x="423706" y="559040"/>
                </a:lnTo>
                <a:lnTo>
                  <a:pt x="413392" y="579604"/>
                </a:lnTo>
                <a:lnTo>
                  <a:pt x="399359" y="587016"/>
                </a:lnTo>
                <a:lnTo>
                  <a:pt x="342718" y="587495"/>
                </a:lnTo>
                <a:lnTo>
                  <a:pt x="328685" y="592038"/>
                </a:lnTo>
                <a:lnTo>
                  <a:pt x="343902" y="621926"/>
                </a:lnTo>
                <a:lnTo>
                  <a:pt x="357935" y="635556"/>
                </a:lnTo>
                <a:lnTo>
                  <a:pt x="367742" y="669270"/>
                </a:lnTo>
                <a:lnTo>
                  <a:pt x="390229" y="717810"/>
                </a:lnTo>
                <a:lnTo>
                  <a:pt x="412209" y="724266"/>
                </a:lnTo>
                <a:lnTo>
                  <a:pt x="419986" y="736460"/>
                </a:lnTo>
                <a:lnTo>
                  <a:pt x="418295" y="753437"/>
                </a:lnTo>
                <a:lnTo>
                  <a:pt x="411532" y="772566"/>
                </a:lnTo>
                <a:lnTo>
                  <a:pt x="398175" y="791695"/>
                </a:lnTo>
                <a:lnTo>
                  <a:pt x="382282" y="804846"/>
                </a:lnTo>
                <a:lnTo>
                  <a:pt x="371968" y="818236"/>
                </a:lnTo>
                <a:lnTo>
                  <a:pt x="371292" y="834017"/>
                </a:lnTo>
                <a:lnTo>
                  <a:pt x="367742" y="853385"/>
                </a:lnTo>
                <a:lnTo>
                  <a:pt x="362838" y="869166"/>
                </a:lnTo>
                <a:lnTo>
                  <a:pt x="361655" y="879926"/>
                </a:lnTo>
                <a:lnTo>
                  <a:pt x="401726" y="945921"/>
                </a:lnTo>
                <a:lnTo>
                  <a:pt x="423706" y="942812"/>
                </a:lnTo>
                <a:lnTo>
                  <a:pt x="422522" y="960028"/>
                </a:lnTo>
                <a:lnTo>
                  <a:pt x="415759" y="978440"/>
                </a:lnTo>
                <a:lnTo>
                  <a:pt x="407305" y="982027"/>
                </a:lnTo>
                <a:lnTo>
                  <a:pt x="388369" y="987526"/>
                </a:lnTo>
                <a:lnTo>
                  <a:pt x="370109" y="1011676"/>
                </a:lnTo>
                <a:lnTo>
                  <a:pt x="355568" y="1040369"/>
                </a:lnTo>
                <a:lnTo>
                  <a:pt x="344578" y="1054477"/>
                </a:lnTo>
                <a:lnTo>
                  <a:pt x="334264" y="1088431"/>
                </a:lnTo>
                <a:lnTo>
                  <a:pt x="335448" y="1103016"/>
                </a:lnTo>
                <a:lnTo>
                  <a:pt x="340351" y="1125732"/>
                </a:lnTo>
                <a:lnTo>
                  <a:pt x="350665" y="1185509"/>
                </a:lnTo>
                <a:lnTo>
                  <a:pt x="336124" y="1188140"/>
                </a:lnTo>
                <a:lnTo>
                  <a:pt x="278300" y="1227115"/>
                </a:lnTo>
                <a:lnTo>
                  <a:pt x="260547" y="1227115"/>
                </a:lnTo>
                <a:lnTo>
                  <a:pt x="227070" y="1210138"/>
                </a:lnTo>
                <a:lnTo>
                  <a:pt x="168738" y="1204160"/>
                </a:lnTo>
                <a:lnTo>
                  <a:pt x="149126" y="1199139"/>
                </a:lnTo>
                <a:lnTo>
                  <a:pt x="125455" y="1210377"/>
                </a:lnTo>
                <a:lnTo>
                  <a:pt x="107195" y="1210138"/>
                </a:lnTo>
                <a:lnTo>
                  <a:pt x="91978" y="1224484"/>
                </a:lnTo>
                <a:lnTo>
                  <a:pt x="81664" y="1220420"/>
                </a:lnTo>
                <a:lnTo>
                  <a:pt x="93838" y="1188379"/>
                </a:lnTo>
                <a:lnTo>
                  <a:pt x="112605" y="1125254"/>
                </a:lnTo>
                <a:lnTo>
                  <a:pt x="112098" y="1086757"/>
                </a:lnTo>
                <a:lnTo>
                  <a:pt x="116325" y="1053042"/>
                </a:lnTo>
                <a:lnTo>
                  <a:pt x="111422" y="1019806"/>
                </a:lnTo>
                <a:lnTo>
                  <a:pt x="101784" y="999243"/>
                </a:lnTo>
                <a:lnTo>
                  <a:pt x="114465" y="945204"/>
                </a:lnTo>
                <a:lnTo>
                  <a:pt x="113281" y="917467"/>
                </a:lnTo>
                <a:lnTo>
                  <a:pt x="101784" y="882557"/>
                </a:lnTo>
                <a:lnTo>
                  <a:pt x="137628" y="887817"/>
                </a:lnTo>
                <a:lnTo>
                  <a:pt x="126131" y="873710"/>
                </a:lnTo>
                <a:lnTo>
                  <a:pt x="115141" y="865580"/>
                </a:lnTo>
                <a:lnTo>
                  <a:pt x="104828" y="867254"/>
                </a:lnTo>
                <a:lnTo>
                  <a:pt x="65264" y="880405"/>
                </a:lnTo>
                <a:lnTo>
                  <a:pt x="50047" y="884709"/>
                </a:lnTo>
                <a:lnTo>
                  <a:pt x="47003" y="860559"/>
                </a:lnTo>
                <a:lnTo>
                  <a:pt x="39057" y="832343"/>
                </a:lnTo>
                <a:lnTo>
                  <a:pt x="51230" y="824931"/>
                </a:lnTo>
                <a:lnTo>
                  <a:pt x="65771" y="822779"/>
                </a:lnTo>
                <a:lnTo>
                  <a:pt x="77944" y="810824"/>
                </a:lnTo>
                <a:lnTo>
                  <a:pt x="85215" y="796955"/>
                </a:lnTo>
                <a:lnTo>
                  <a:pt x="80988" y="773283"/>
                </a:lnTo>
                <a:lnTo>
                  <a:pt x="91978" y="750568"/>
                </a:lnTo>
                <a:lnTo>
                  <a:pt x="116325" y="731439"/>
                </a:lnTo>
                <a:lnTo>
                  <a:pt x="103475" y="734308"/>
                </a:lnTo>
                <a:lnTo>
                  <a:pt x="88934" y="746264"/>
                </a:lnTo>
                <a:lnTo>
                  <a:pt x="65771" y="789543"/>
                </a:lnTo>
                <a:lnTo>
                  <a:pt x="58501" y="811541"/>
                </a:lnTo>
                <a:lnTo>
                  <a:pt x="38380" y="818475"/>
                </a:lnTo>
                <a:lnTo>
                  <a:pt x="20796" y="822301"/>
                </a:lnTo>
                <a:lnTo>
                  <a:pt x="12174" y="819910"/>
                </a:lnTo>
                <a:lnTo>
                  <a:pt x="1353" y="814410"/>
                </a:lnTo>
                <a:lnTo>
                  <a:pt x="0" y="798151"/>
                </a:lnTo>
                <a:lnTo>
                  <a:pt x="1353" y="785478"/>
                </a:lnTo>
                <a:lnTo>
                  <a:pt x="8623" y="759654"/>
                </a:lnTo>
                <a:lnTo>
                  <a:pt x="10990" y="723070"/>
                </a:lnTo>
                <a:lnTo>
                  <a:pt x="21980" y="690790"/>
                </a:lnTo>
                <a:lnTo>
                  <a:pt x="17753" y="669270"/>
                </a:lnTo>
                <a:lnTo>
                  <a:pt x="27390" y="656597"/>
                </a:lnTo>
                <a:lnTo>
                  <a:pt x="39057" y="648468"/>
                </a:lnTo>
                <a:lnTo>
                  <a:pt x="56133" y="620253"/>
                </a:lnTo>
                <a:lnTo>
                  <a:pt x="80480" y="553780"/>
                </a:lnTo>
                <a:lnTo>
                  <a:pt x="109054" y="483242"/>
                </a:lnTo>
                <a:lnTo>
                  <a:pt x="106518" y="474395"/>
                </a:lnTo>
                <a:lnTo>
                  <a:pt x="100432" y="468178"/>
                </a:lnTo>
                <a:lnTo>
                  <a:pt x="102968" y="449050"/>
                </a:lnTo>
                <a:lnTo>
                  <a:pt x="120044" y="366078"/>
                </a:lnTo>
                <a:lnTo>
                  <a:pt x="126638" y="355318"/>
                </a:lnTo>
                <a:lnTo>
                  <a:pt x="134585" y="330929"/>
                </a:lnTo>
                <a:lnTo>
                  <a:pt x="136445" y="291954"/>
                </a:lnTo>
                <a:lnTo>
                  <a:pt x="139488" y="264935"/>
                </a:lnTo>
                <a:lnTo>
                  <a:pt x="138812" y="251066"/>
                </a:lnTo>
                <a:lnTo>
                  <a:pt x="136445" y="235046"/>
                </a:lnTo>
                <a:lnTo>
                  <a:pt x="125455" y="203722"/>
                </a:lnTo>
                <a:lnTo>
                  <a:pt x="114465" y="137728"/>
                </a:lnTo>
                <a:lnTo>
                  <a:pt x="113281" y="115730"/>
                </a:lnTo>
                <a:lnTo>
                  <a:pt x="122411" y="104970"/>
                </a:lnTo>
                <a:lnTo>
                  <a:pt x="107195" y="103296"/>
                </a:lnTo>
                <a:lnTo>
                  <a:pt x="100432" y="88949"/>
                </a:lnTo>
                <a:lnTo>
                  <a:pt x="101784" y="73168"/>
                </a:lnTo>
                <a:lnTo>
                  <a:pt x="118692" y="46866"/>
                </a:lnTo>
                <a:close/>
              </a:path>
            </a:pathLst>
          </a:custGeom>
          <a:solidFill>
            <a:srgbClr val="E9EBEC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Freeform 28"/>
          <p:cNvSpPr/>
          <p:nvPr/>
        </p:nvSpPr>
        <p:spPr>
          <a:xfrm>
            <a:off x="5180815" y="1920239"/>
            <a:ext cx="89558" cy="447139"/>
          </a:xfrm>
          <a:custGeom>
            <a:avLst/>
            <a:gdLst/>
            <a:ahLst/>
            <a:cxnLst/>
            <a:rect l="l" t="t" r="r" b="b"/>
            <a:pathLst>
              <a:path w="89558" h="447139">
                <a:moveTo>
                  <a:pt x="89558" y="0"/>
                </a:moveTo>
                <a:lnTo>
                  <a:pt x="89558" y="447139"/>
                </a:lnTo>
                <a:lnTo>
                  <a:pt x="84031" y="437572"/>
                </a:lnTo>
                <a:lnTo>
                  <a:pt x="79804" y="422748"/>
                </a:lnTo>
                <a:lnTo>
                  <a:pt x="89558" y="409499"/>
                </a:lnTo>
                <a:lnTo>
                  <a:pt x="89558" y="320522"/>
                </a:lnTo>
                <a:lnTo>
                  <a:pt x="82171" y="316343"/>
                </a:lnTo>
                <a:lnTo>
                  <a:pt x="75577" y="307736"/>
                </a:lnTo>
                <a:lnTo>
                  <a:pt x="71858" y="296497"/>
                </a:lnTo>
                <a:lnTo>
                  <a:pt x="74901" y="279520"/>
                </a:lnTo>
                <a:lnTo>
                  <a:pt x="82848" y="256088"/>
                </a:lnTo>
                <a:lnTo>
                  <a:pt x="65264" y="228351"/>
                </a:lnTo>
                <a:lnTo>
                  <a:pt x="21304" y="195593"/>
                </a:lnTo>
                <a:lnTo>
                  <a:pt x="0" y="172638"/>
                </a:lnTo>
                <a:lnTo>
                  <a:pt x="1860" y="159487"/>
                </a:lnTo>
                <a:lnTo>
                  <a:pt x="10990" y="147771"/>
                </a:lnTo>
                <a:lnTo>
                  <a:pt x="28067" y="137011"/>
                </a:lnTo>
                <a:lnTo>
                  <a:pt x="40917" y="118360"/>
                </a:lnTo>
                <a:lnTo>
                  <a:pt x="47511" y="95884"/>
                </a:lnTo>
                <a:lnTo>
                  <a:pt x="48694" y="75559"/>
                </a:lnTo>
                <a:lnTo>
                  <a:pt x="28743" y="10521"/>
                </a:lnTo>
                <a:lnTo>
                  <a:pt x="26774" y="0"/>
                </a:lnTo>
                <a:close/>
              </a:path>
            </a:pathLst>
          </a:custGeom>
          <a:solidFill>
            <a:srgbClr val="E9EBEC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3375585" y="1958019"/>
            <a:ext cx="633530" cy="643446"/>
          </a:xfrm>
          <a:custGeom>
            <a:avLst/>
            <a:gdLst/>
            <a:ahLst/>
            <a:cxnLst/>
            <a:rect l="l" t="t" r="r" b="b"/>
            <a:pathLst>
              <a:path w="633530" h="643446">
                <a:moveTo>
                  <a:pt x="429623" y="643446"/>
                </a:moveTo>
                <a:lnTo>
                  <a:pt x="412547" y="642968"/>
                </a:lnTo>
                <a:lnTo>
                  <a:pt x="396823" y="642729"/>
                </a:lnTo>
                <a:lnTo>
                  <a:pt x="379070" y="637707"/>
                </a:lnTo>
                <a:lnTo>
                  <a:pt x="374843" y="630056"/>
                </a:lnTo>
                <a:lnTo>
                  <a:pt x="369939" y="621448"/>
                </a:lnTo>
                <a:lnTo>
                  <a:pt x="386509" y="600406"/>
                </a:lnTo>
                <a:lnTo>
                  <a:pt x="388876" y="586538"/>
                </a:lnTo>
                <a:lnTo>
                  <a:pt x="400373" y="563344"/>
                </a:lnTo>
                <a:lnTo>
                  <a:pt x="396823" y="547084"/>
                </a:lnTo>
                <a:lnTo>
                  <a:pt x="388876" y="543498"/>
                </a:lnTo>
                <a:lnTo>
                  <a:pt x="364529" y="536324"/>
                </a:lnTo>
                <a:lnTo>
                  <a:pt x="353032" y="526760"/>
                </a:lnTo>
                <a:lnTo>
                  <a:pt x="348129" y="518152"/>
                </a:lnTo>
                <a:lnTo>
                  <a:pt x="334772" y="518630"/>
                </a:lnTo>
                <a:lnTo>
                  <a:pt x="314651" y="521739"/>
                </a:lnTo>
                <a:lnTo>
                  <a:pt x="298251" y="517196"/>
                </a:lnTo>
                <a:lnTo>
                  <a:pt x="278638" y="501175"/>
                </a:lnTo>
                <a:lnTo>
                  <a:pt x="274411" y="486589"/>
                </a:lnTo>
                <a:lnTo>
                  <a:pt x="272044" y="475830"/>
                </a:lnTo>
                <a:lnTo>
                  <a:pt x="260378" y="477503"/>
                </a:lnTo>
                <a:lnTo>
                  <a:pt x="252600" y="486589"/>
                </a:lnTo>
                <a:lnTo>
                  <a:pt x="236031" y="487307"/>
                </a:lnTo>
                <a:lnTo>
                  <a:pt x="230620" y="480373"/>
                </a:lnTo>
                <a:lnTo>
                  <a:pt x="225210" y="469852"/>
                </a:lnTo>
                <a:lnTo>
                  <a:pt x="200187" y="483242"/>
                </a:lnTo>
                <a:lnTo>
                  <a:pt x="182603" y="476547"/>
                </a:lnTo>
                <a:lnTo>
                  <a:pt x="177699" y="470330"/>
                </a:lnTo>
                <a:lnTo>
                  <a:pt x="167386" y="474156"/>
                </a:lnTo>
                <a:lnTo>
                  <a:pt x="157579" y="481568"/>
                </a:lnTo>
                <a:lnTo>
                  <a:pt x="161299" y="496154"/>
                </a:lnTo>
                <a:lnTo>
                  <a:pt x="144222" y="497349"/>
                </a:lnTo>
                <a:lnTo>
                  <a:pt x="130865" y="491611"/>
                </a:lnTo>
                <a:lnTo>
                  <a:pt x="116156" y="487785"/>
                </a:lnTo>
                <a:lnTo>
                  <a:pt x="93668" y="477742"/>
                </a:lnTo>
                <a:lnTo>
                  <a:pt x="62558" y="486111"/>
                </a:lnTo>
                <a:lnTo>
                  <a:pt x="40747" y="476069"/>
                </a:lnTo>
                <a:lnTo>
                  <a:pt x="22994" y="475351"/>
                </a:lnTo>
                <a:lnTo>
                  <a:pt x="11497" y="467461"/>
                </a:lnTo>
                <a:lnTo>
                  <a:pt x="0" y="454549"/>
                </a:lnTo>
                <a:lnTo>
                  <a:pt x="8454" y="445941"/>
                </a:lnTo>
                <a:lnTo>
                  <a:pt x="49201" y="441398"/>
                </a:lnTo>
                <a:lnTo>
                  <a:pt x="73548" y="446658"/>
                </a:lnTo>
                <a:lnTo>
                  <a:pt x="116832" y="474873"/>
                </a:lnTo>
                <a:lnTo>
                  <a:pt x="127822" y="474395"/>
                </a:lnTo>
                <a:lnTo>
                  <a:pt x="139319" y="471286"/>
                </a:lnTo>
                <a:lnTo>
                  <a:pt x="133232" y="463396"/>
                </a:lnTo>
                <a:lnTo>
                  <a:pt x="122242" y="459570"/>
                </a:lnTo>
                <a:lnTo>
                  <a:pt x="106518" y="452158"/>
                </a:lnTo>
                <a:lnTo>
                  <a:pt x="93668" y="441398"/>
                </a:lnTo>
                <a:lnTo>
                  <a:pt x="123426" y="438050"/>
                </a:lnTo>
                <a:lnTo>
                  <a:pt x="115648" y="422986"/>
                </a:lnTo>
                <a:lnTo>
                  <a:pt x="83862" y="390228"/>
                </a:lnTo>
                <a:lnTo>
                  <a:pt x="89441" y="381142"/>
                </a:lnTo>
                <a:lnTo>
                  <a:pt x="97388" y="362013"/>
                </a:lnTo>
                <a:lnTo>
                  <a:pt x="107025" y="346232"/>
                </a:lnTo>
                <a:lnTo>
                  <a:pt x="114972" y="342167"/>
                </a:lnTo>
                <a:lnTo>
                  <a:pt x="128329" y="330929"/>
                </a:lnTo>
                <a:lnTo>
                  <a:pt x="156396" y="297692"/>
                </a:lnTo>
                <a:lnTo>
                  <a:pt x="174656" y="270673"/>
                </a:lnTo>
                <a:lnTo>
                  <a:pt x="188013" y="239110"/>
                </a:lnTo>
                <a:lnTo>
                  <a:pt x="207457" y="151118"/>
                </a:lnTo>
                <a:lnTo>
                  <a:pt x="213544" y="136293"/>
                </a:lnTo>
                <a:lnTo>
                  <a:pt x="222674" y="119555"/>
                </a:lnTo>
                <a:lnTo>
                  <a:pt x="234847" y="122903"/>
                </a:lnTo>
                <a:lnTo>
                  <a:pt x="242794" y="127446"/>
                </a:lnTo>
                <a:lnTo>
                  <a:pt x="272044" y="115012"/>
                </a:lnTo>
                <a:lnTo>
                  <a:pt x="322598" y="82732"/>
                </a:lnTo>
                <a:lnTo>
                  <a:pt x="337139" y="54517"/>
                </a:lnTo>
                <a:lnTo>
                  <a:pt x="351679" y="41605"/>
                </a:lnTo>
                <a:lnTo>
                  <a:pt x="409503" y="15781"/>
                </a:lnTo>
                <a:lnTo>
                  <a:pt x="441290" y="8369"/>
                </a:lnTo>
                <a:lnTo>
                  <a:pt x="490491" y="6217"/>
                </a:lnTo>
                <a:lnTo>
                  <a:pt x="526504" y="1674"/>
                </a:lnTo>
                <a:lnTo>
                  <a:pt x="569112" y="0"/>
                </a:lnTo>
                <a:lnTo>
                  <a:pt x="585512" y="15781"/>
                </a:lnTo>
                <a:lnTo>
                  <a:pt x="594642" y="27498"/>
                </a:lnTo>
                <a:lnTo>
                  <a:pt x="609859" y="33714"/>
                </a:lnTo>
                <a:lnTo>
                  <a:pt x="633530" y="38258"/>
                </a:lnTo>
                <a:lnTo>
                  <a:pt x="631670" y="60973"/>
                </a:lnTo>
                <a:lnTo>
                  <a:pt x="632346" y="105926"/>
                </a:lnTo>
                <a:lnTo>
                  <a:pt x="619496" y="132945"/>
                </a:lnTo>
                <a:lnTo>
                  <a:pt x="608676" y="166421"/>
                </a:lnTo>
                <a:lnTo>
                  <a:pt x="605632" y="188897"/>
                </a:lnTo>
                <a:lnTo>
                  <a:pt x="557445" y="192962"/>
                </a:lnTo>
                <a:lnTo>
                  <a:pt x="550175" y="201809"/>
                </a:lnTo>
                <a:lnTo>
                  <a:pt x="551359" y="213525"/>
                </a:lnTo>
                <a:lnTo>
                  <a:pt x="549499" y="225481"/>
                </a:lnTo>
                <a:lnTo>
                  <a:pt x="557445" y="233850"/>
                </a:lnTo>
                <a:lnTo>
                  <a:pt x="571479" y="239110"/>
                </a:lnTo>
                <a:lnTo>
                  <a:pt x="586696" y="239589"/>
                </a:lnTo>
                <a:lnTo>
                  <a:pt x="600053" y="244610"/>
                </a:lnTo>
                <a:lnTo>
                  <a:pt x="606139" y="253696"/>
                </a:lnTo>
                <a:lnTo>
                  <a:pt x="605632" y="265652"/>
                </a:lnTo>
                <a:lnTo>
                  <a:pt x="603096" y="281194"/>
                </a:lnTo>
                <a:lnTo>
                  <a:pt x="596502" y="295540"/>
                </a:lnTo>
                <a:lnTo>
                  <a:pt x="575706" y="312278"/>
                </a:lnTo>
                <a:lnTo>
                  <a:pt x="566068" y="318017"/>
                </a:lnTo>
                <a:lnTo>
                  <a:pt x="557445" y="321364"/>
                </a:lnTo>
                <a:lnTo>
                  <a:pt x="551359" y="331407"/>
                </a:lnTo>
                <a:lnTo>
                  <a:pt x="566575" y="349579"/>
                </a:lnTo>
                <a:lnTo>
                  <a:pt x="561672" y="359622"/>
                </a:lnTo>
                <a:lnTo>
                  <a:pt x="556262" y="366078"/>
                </a:lnTo>
                <a:lnTo>
                  <a:pt x="518558" y="379946"/>
                </a:lnTo>
                <a:lnTo>
                  <a:pt x="502665" y="378512"/>
                </a:lnTo>
                <a:lnTo>
                  <a:pt x="494211" y="385207"/>
                </a:lnTo>
                <a:lnTo>
                  <a:pt x="481361" y="380185"/>
                </a:lnTo>
                <a:lnTo>
                  <a:pt x="458874" y="373251"/>
                </a:lnTo>
                <a:lnTo>
                  <a:pt x="446024" y="379946"/>
                </a:lnTo>
                <a:lnTo>
                  <a:pt x="432160" y="384489"/>
                </a:lnTo>
                <a:lnTo>
                  <a:pt x="422353" y="391902"/>
                </a:lnTo>
                <a:lnTo>
                  <a:pt x="439937" y="426334"/>
                </a:lnTo>
                <a:lnTo>
                  <a:pt x="446024" y="431355"/>
                </a:lnTo>
                <a:lnTo>
                  <a:pt x="454647" y="452397"/>
                </a:lnTo>
                <a:lnTo>
                  <a:pt x="463777" y="466982"/>
                </a:lnTo>
                <a:lnTo>
                  <a:pt x="463777" y="485633"/>
                </a:lnTo>
                <a:lnTo>
                  <a:pt x="458874" y="499023"/>
                </a:lnTo>
                <a:lnTo>
                  <a:pt x="443657" y="530108"/>
                </a:lnTo>
                <a:lnTo>
                  <a:pt x="444840" y="540868"/>
                </a:lnTo>
                <a:lnTo>
                  <a:pt x="453970" y="544693"/>
                </a:lnTo>
                <a:lnTo>
                  <a:pt x="424213" y="570517"/>
                </a:lnTo>
                <a:lnTo>
                  <a:pt x="408996" y="572908"/>
                </a:lnTo>
                <a:lnTo>
                  <a:pt x="413223" y="587733"/>
                </a:lnTo>
                <a:lnTo>
                  <a:pt x="423537" y="590363"/>
                </a:lnTo>
                <a:lnTo>
                  <a:pt x="432160" y="595624"/>
                </a:lnTo>
                <a:lnTo>
                  <a:pt x="439430" y="606623"/>
                </a:lnTo>
                <a:lnTo>
                  <a:pt x="429623" y="643446"/>
                </a:lnTo>
                <a:close/>
              </a:path>
            </a:pathLst>
          </a:custGeom>
          <a:solidFill>
            <a:srgbClr val="E9EBEC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3358508" y="2446282"/>
            <a:ext cx="147942" cy="45909"/>
          </a:xfrm>
          <a:custGeom>
            <a:avLst/>
            <a:gdLst/>
            <a:ahLst/>
            <a:cxnLst/>
            <a:rect l="l" t="t" r="r" b="b"/>
            <a:pathLst>
              <a:path w="147942" h="45909">
                <a:moveTo>
                  <a:pt x="147942" y="3348"/>
                </a:moveTo>
                <a:lnTo>
                  <a:pt x="145406" y="12434"/>
                </a:lnTo>
                <a:lnTo>
                  <a:pt x="139319" y="22477"/>
                </a:lnTo>
                <a:lnTo>
                  <a:pt x="116832" y="36584"/>
                </a:lnTo>
                <a:lnTo>
                  <a:pt x="93161" y="45909"/>
                </a:lnTo>
                <a:lnTo>
                  <a:pt x="81495" y="44714"/>
                </a:lnTo>
                <a:lnTo>
                  <a:pt x="73041" y="39693"/>
                </a:lnTo>
                <a:lnTo>
                  <a:pt x="55965" y="29889"/>
                </a:lnTo>
                <a:lnTo>
                  <a:pt x="38888" y="27259"/>
                </a:lnTo>
                <a:lnTo>
                  <a:pt x="27898" y="32758"/>
                </a:lnTo>
                <a:lnTo>
                  <a:pt x="20628" y="37780"/>
                </a:lnTo>
                <a:lnTo>
                  <a:pt x="9130" y="32758"/>
                </a:lnTo>
                <a:lnTo>
                  <a:pt x="0" y="5261"/>
                </a:lnTo>
                <a:lnTo>
                  <a:pt x="12681" y="1674"/>
                </a:lnTo>
                <a:lnTo>
                  <a:pt x="40748" y="0"/>
                </a:lnTo>
                <a:lnTo>
                  <a:pt x="62051" y="7413"/>
                </a:lnTo>
                <a:lnTo>
                  <a:pt x="90118" y="10760"/>
                </a:lnTo>
                <a:lnTo>
                  <a:pt x="111929" y="718"/>
                </a:lnTo>
                <a:lnTo>
                  <a:pt x="129006" y="9565"/>
                </a:lnTo>
                <a:lnTo>
                  <a:pt x="147942" y="3348"/>
                </a:lnTo>
                <a:close/>
              </a:path>
            </a:pathLst>
          </a:custGeom>
          <a:solidFill>
            <a:srgbClr val="E9EBEC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3839362" y="1940564"/>
            <a:ext cx="23671" cy="9325"/>
          </a:xfrm>
          <a:custGeom>
            <a:avLst/>
            <a:gdLst/>
            <a:ahLst/>
            <a:cxnLst/>
            <a:rect l="l" t="t" r="r" b="b"/>
            <a:pathLst>
              <a:path w="23671" h="9325">
                <a:moveTo>
                  <a:pt x="23671" y="956"/>
                </a:moveTo>
                <a:lnTo>
                  <a:pt x="0" y="9325"/>
                </a:lnTo>
                <a:lnTo>
                  <a:pt x="16400" y="0"/>
                </a:lnTo>
                <a:close/>
              </a:path>
            </a:pathLst>
          </a:custGeom>
          <a:solidFill>
            <a:srgbClr val="E9EBEC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3749920" y="1950128"/>
            <a:ext cx="44975" cy="7652"/>
          </a:xfrm>
          <a:custGeom>
            <a:avLst/>
            <a:gdLst/>
            <a:ahLst/>
            <a:cxnLst/>
            <a:rect l="l" t="t" r="r" b="b"/>
            <a:pathLst>
              <a:path w="44975" h="7652">
                <a:moveTo>
                  <a:pt x="44975" y="3826"/>
                </a:moveTo>
                <a:lnTo>
                  <a:pt x="11498" y="7652"/>
                </a:lnTo>
                <a:lnTo>
                  <a:pt x="0" y="4543"/>
                </a:lnTo>
                <a:lnTo>
                  <a:pt x="7271" y="479"/>
                </a:lnTo>
                <a:lnTo>
                  <a:pt x="35845" y="0"/>
                </a:lnTo>
                <a:lnTo>
                  <a:pt x="44298" y="2631"/>
                </a:lnTo>
                <a:close/>
              </a:path>
            </a:pathLst>
          </a:custGeom>
          <a:solidFill>
            <a:srgbClr val="E9EBEC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3624466" y="1989581"/>
            <a:ext cx="31617" cy="17934"/>
          </a:xfrm>
          <a:custGeom>
            <a:avLst/>
            <a:gdLst/>
            <a:ahLst/>
            <a:cxnLst/>
            <a:rect l="l" t="t" r="r" b="b"/>
            <a:pathLst>
              <a:path w="31617" h="17934">
                <a:moveTo>
                  <a:pt x="31617" y="479"/>
                </a:moveTo>
                <a:lnTo>
                  <a:pt x="0" y="17934"/>
                </a:lnTo>
                <a:lnTo>
                  <a:pt x="17584" y="0"/>
                </a:lnTo>
                <a:lnTo>
                  <a:pt x="31617" y="479"/>
                </a:lnTo>
                <a:close/>
              </a:path>
            </a:pathLst>
          </a:custGeom>
          <a:solidFill>
            <a:srgbClr val="E9EBEC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3676879" y="1957780"/>
            <a:ext cx="54781" cy="15542"/>
          </a:xfrm>
          <a:custGeom>
            <a:avLst/>
            <a:gdLst/>
            <a:ahLst/>
            <a:cxnLst/>
            <a:rect l="l" t="t" r="r" b="b"/>
            <a:pathLst>
              <a:path w="54781" h="15542">
                <a:moveTo>
                  <a:pt x="15724" y="13629"/>
                </a:moveTo>
                <a:lnTo>
                  <a:pt x="0" y="15542"/>
                </a:lnTo>
                <a:lnTo>
                  <a:pt x="30941" y="2869"/>
                </a:lnTo>
                <a:lnTo>
                  <a:pt x="54781" y="0"/>
                </a:lnTo>
                <a:lnTo>
                  <a:pt x="15724" y="13629"/>
                </a:lnTo>
                <a:close/>
              </a:path>
            </a:pathLst>
          </a:custGeom>
          <a:solidFill>
            <a:srgbClr val="E9EBEC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Freeform 35"/>
          <p:cNvSpPr/>
          <p:nvPr/>
        </p:nvSpPr>
        <p:spPr>
          <a:xfrm>
            <a:off x="3590988" y="2019949"/>
            <a:ext cx="27391" cy="43996"/>
          </a:xfrm>
          <a:custGeom>
            <a:avLst/>
            <a:gdLst/>
            <a:ahLst/>
            <a:cxnLst/>
            <a:rect l="l" t="t" r="r" b="b"/>
            <a:pathLst>
              <a:path w="27391" h="43996">
                <a:moveTo>
                  <a:pt x="27391" y="27019"/>
                </a:moveTo>
                <a:lnTo>
                  <a:pt x="10314" y="43996"/>
                </a:lnTo>
                <a:lnTo>
                  <a:pt x="0" y="38974"/>
                </a:lnTo>
                <a:lnTo>
                  <a:pt x="2368" y="21998"/>
                </a:lnTo>
                <a:lnTo>
                  <a:pt x="27391" y="0"/>
                </a:lnTo>
                <a:lnTo>
                  <a:pt x="27391" y="27019"/>
                </a:lnTo>
                <a:close/>
              </a:path>
            </a:pathLst>
          </a:custGeom>
          <a:solidFill>
            <a:srgbClr val="E9EBEC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Freeform 36"/>
          <p:cNvSpPr/>
          <p:nvPr/>
        </p:nvSpPr>
        <p:spPr>
          <a:xfrm>
            <a:off x="3417516" y="2363550"/>
            <a:ext cx="63235" cy="28215"/>
          </a:xfrm>
          <a:custGeom>
            <a:avLst/>
            <a:gdLst/>
            <a:ahLst/>
            <a:cxnLst/>
            <a:rect l="l" t="t" r="r" b="b"/>
            <a:pathLst>
              <a:path w="63235" h="28215">
                <a:moveTo>
                  <a:pt x="41931" y="1674"/>
                </a:moveTo>
                <a:lnTo>
                  <a:pt x="59008" y="14586"/>
                </a:lnTo>
                <a:lnTo>
                  <a:pt x="63235" y="23433"/>
                </a:lnTo>
                <a:lnTo>
                  <a:pt x="42607" y="28215"/>
                </a:lnTo>
                <a:lnTo>
                  <a:pt x="20120" y="12434"/>
                </a:lnTo>
                <a:lnTo>
                  <a:pt x="5410" y="16260"/>
                </a:lnTo>
                <a:lnTo>
                  <a:pt x="0" y="8847"/>
                </a:lnTo>
                <a:lnTo>
                  <a:pt x="15217" y="0"/>
                </a:lnTo>
                <a:lnTo>
                  <a:pt x="41931" y="1674"/>
                </a:lnTo>
                <a:close/>
              </a:path>
            </a:pathLst>
          </a:custGeom>
          <a:solidFill>
            <a:srgbClr val="E9EBEC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Freeform 37"/>
          <p:cNvSpPr/>
          <p:nvPr/>
        </p:nvSpPr>
        <p:spPr>
          <a:xfrm>
            <a:off x="3915446" y="1920239"/>
            <a:ext cx="19921" cy="5022"/>
          </a:xfrm>
          <a:custGeom>
            <a:avLst/>
            <a:gdLst/>
            <a:ahLst/>
            <a:cxnLst/>
            <a:rect l="l" t="t" r="r" b="b"/>
            <a:pathLst>
              <a:path w="19921" h="5022">
                <a:moveTo>
                  <a:pt x="15217" y="4304"/>
                </a:moveTo>
                <a:lnTo>
                  <a:pt x="0" y="5022"/>
                </a:lnTo>
                <a:lnTo>
                  <a:pt x="19921" y="0"/>
                </a:lnTo>
                <a:close/>
              </a:path>
            </a:pathLst>
          </a:custGeom>
          <a:solidFill>
            <a:srgbClr val="E9EBEC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4039549" y="4270694"/>
            <a:ext cx="10313" cy="9086"/>
          </a:xfrm>
          <a:custGeom>
            <a:avLst/>
            <a:gdLst/>
            <a:ahLst/>
            <a:cxnLst/>
            <a:rect l="l" t="t" r="r" b="b"/>
            <a:pathLst>
              <a:path w="10313" h="9086">
                <a:moveTo>
                  <a:pt x="10313" y="4782"/>
                </a:moveTo>
                <a:lnTo>
                  <a:pt x="0" y="9086"/>
                </a:lnTo>
                <a:lnTo>
                  <a:pt x="6086" y="0"/>
                </a:lnTo>
                <a:close/>
              </a:path>
            </a:pathLst>
          </a:custGeom>
          <a:solidFill>
            <a:srgbClr val="E9EBEC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3760234" y="2740866"/>
            <a:ext cx="129682" cy="172877"/>
          </a:xfrm>
          <a:custGeom>
            <a:avLst/>
            <a:gdLst/>
            <a:ahLst/>
            <a:cxnLst/>
            <a:rect l="l" t="t" r="r" b="b"/>
            <a:pathLst>
              <a:path w="129682" h="172877">
                <a:moveTo>
                  <a:pt x="66278" y="11238"/>
                </a:moveTo>
                <a:lnTo>
                  <a:pt x="65095" y="32041"/>
                </a:lnTo>
                <a:lnTo>
                  <a:pt x="69998" y="46148"/>
                </a:lnTo>
                <a:lnTo>
                  <a:pt x="80988" y="60256"/>
                </a:lnTo>
                <a:lnTo>
                  <a:pt x="89442" y="70538"/>
                </a:lnTo>
                <a:lnTo>
                  <a:pt x="100939" y="78907"/>
                </a:lnTo>
                <a:lnTo>
                  <a:pt x="121059" y="86797"/>
                </a:lnTo>
                <a:lnTo>
                  <a:pt x="129682" y="98992"/>
                </a:lnTo>
                <a:lnTo>
                  <a:pt x="128329" y="109991"/>
                </a:lnTo>
                <a:lnTo>
                  <a:pt x="121735" y="116208"/>
                </a:lnTo>
                <a:lnTo>
                  <a:pt x="114972" y="125055"/>
                </a:lnTo>
                <a:lnTo>
                  <a:pt x="110069" y="135815"/>
                </a:lnTo>
                <a:lnTo>
                  <a:pt x="105335" y="156617"/>
                </a:lnTo>
                <a:lnTo>
                  <a:pt x="104658" y="171203"/>
                </a:lnTo>
                <a:lnTo>
                  <a:pt x="93161" y="165225"/>
                </a:lnTo>
                <a:lnTo>
                  <a:pt x="76592" y="159965"/>
                </a:lnTo>
                <a:lnTo>
                  <a:pt x="66278" y="163313"/>
                </a:lnTo>
                <a:lnTo>
                  <a:pt x="59008" y="170725"/>
                </a:lnTo>
                <a:lnTo>
                  <a:pt x="48018" y="172877"/>
                </a:lnTo>
                <a:lnTo>
                  <a:pt x="33984" y="165225"/>
                </a:lnTo>
                <a:lnTo>
                  <a:pt x="16401" y="158530"/>
                </a:lnTo>
                <a:lnTo>
                  <a:pt x="10990" y="150879"/>
                </a:lnTo>
                <a:lnTo>
                  <a:pt x="18768" y="140836"/>
                </a:lnTo>
                <a:lnTo>
                  <a:pt x="26207" y="125055"/>
                </a:lnTo>
                <a:lnTo>
                  <a:pt x="13357" y="104252"/>
                </a:lnTo>
                <a:lnTo>
                  <a:pt x="0" y="86080"/>
                </a:lnTo>
                <a:lnTo>
                  <a:pt x="2367" y="74364"/>
                </a:lnTo>
                <a:lnTo>
                  <a:pt x="3043" y="59539"/>
                </a:lnTo>
                <a:lnTo>
                  <a:pt x="10314" y="49496"/>
                </a:lnTo>
                <a:lnTo>
                  <a:pt x="15217" y="37062"/>
                </a:lnTo>
                <a:lnTo>
                  <a:pt x="23671" y="20325"/>
                </a:lnTo>
                <a:lnTo>
                  <a:pt x="42607" y="0"/>
                </a:lnTo>
                <a:lnTo>
                  <a:pt x="55288" y="3348"/>
                </a:lnTo>
                <a:lnTo>
                  <a:pt x="65095" y="10521"/>
                </a:lnTo>
                <a:close/>
              </a:path>
            </a:pathLst>
          </a:custGeom>
          <a:solidFill>
            <a:srgbClr val="E9EBEC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4395117" y="3433808"/>
            <a:ext cx="19951" cy="50930"/>
          </a:xfrm>
          <a:custGeom>
            <a:avLst/>
            <a:gdLst/>
            <a:ahLst/>
            <a:cxnLst/>
            <a:rect l="l" t="t" r="r" b="b"/>
            <a:pathLst>
              <a:path w="19951" h="50930">
                <a:moveTo>
                  <a:pt x="16907" y="50930"/>
                </a:moveTo>
                <a:lnTo>
                  <a:pt x="3550" y="49735"/>
                </a:lnTo>
                <a:lnTo>
                  <a:pt x="0" y="41366"/>
                </a:lnTo>
                <a:lnTo>
                  <a:pt x="507" y="23194"/>
                </a:lnTo>
                <a:lnTo>
                  <a:pt x="7777" y="0"/>
                </a:lnTo>
                <a:lnTo>
                  <a:pt x="10313" y="8608"/>
                </a:lnTo>
                <a:lnTo>
                  <a:pt x="12680" y="20324"/>
                </a:lnTo>
                <a:lnTo>
                  <a:pt x="19951" y="33236"/>
                </a:lnTo>
                <a:lnTo>
                  <a:pt x="19443" y="46387"/>
                </a:lnTo>
                <a:close/>
              </a:path>
            </a:pathLst>
          </a:custGeom>
          <a:solidFill>
            <a:srgbClr val="E9EBEC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3912910" y="3478522"/>
            <a:ext cx="1357463" cy="1549913"/>
          </a:xfrm>
          <a:custGeom>
            <a:avLst/>
            <a:gdLst/>
            <a:ahLst/>
            <a:cxnLst/>
            <a:rect l="l" t="t" r="r" b="b"/>
            <a:pathLst>
              <a:path w="1357463" h="1549913">
                <a:moveTo>
                  <a:pt x="66447" y="276411"/>
                </a:moveTo>
                <a:lnTo>
                  <a:pt x="84708" y="287649"/>
                </a:lnTo>
                <a:lnTo>
                  <a:pt x="118185" y="279759"/>
                </a:lnTo>
                <a:lnTo>
                  <a:pt x="138812" y="272346"/>
                </a:lnTo>
                <a:lnTo>
                  <a:pt x="154029" y="263977"/>
                </a:lnTo>
                <a:lnTo>
                  <a:pt x="196129" y="277846"/>
                </a:lnTo>
                <a:lnTo>
                  <a:pt x="206950" y="271629"/>
                </a:lnTo>
                <a:lnTo>
                  <a:pt x="230790" y="255369"/>
                </a:lnTo>
                <a:lnTo>
                  <a:pt x="234340" y="246522"/>
                </a:lnTo>
                <a:lnTo>
                  <a:pt x="252601" y="220459"/>
                </a:lnTo>
                <a:lnTo>
                  <a:pt x="245330" y="197744"/>
                </a:lnTo>
                <a:lnTo>
                  <a:pt x="270861" y="177180"/>
                </a:lnTo>
                <a:lnTo>
                  <a:pt x="282527" y="162356"/>
                </a:lnTo>
                <a:lnTo>
                  <a:pt x="294701" y="152313"/>
                </a:lnTo>
                <a:lnTo>
                  <a:pt x="305691" y="155660"/>
                </a:lnTo>
                <a:lnTo>
                  <a:pt x="305691" y="191527"/>
                </a:lnTo>
                <a:lnTo>
                  <a:pt x="309241" y="200135"/>
                </a:lnTo>
                <a:lnTo>
                  <a:pt x="327501" y="220938"/>
                </a:lnTo>
                <a:lnTo>
                  <a:pt x="340351" y="232415"/>
                </a:lnTo>
                <a:lnTo>
                  <a:pt x="370109" y="240306"/>
                </a:lnTo>
                <a:lnTo>
                  <a:pt x="363515" y="259913"/>
                </a:lnTo>
                <a:lnTo>
                  <a:pt x="381775" y="278563"/>
                </a:lnTo>
                <a:lnTo>
                  <a:pt x="384818" y="291953"/>
                </a:lnTo>
                <a:lnTo>
                  <a:pt x="393272" y="299844"/>
                </a:lnTo>
                <a:lnTo>
                  <a:pt x="404769" y="296018"/>
                </a:lnTo>
                <a:lnTo>
                  <a:pt x="408489" y="288606"/>
                </a:lnTo>
                <a:lnTo>
                  <a:pt x="404262" y="276172"/>
                </a:lnTo>
                <a:lnTo>
                  <a:pt x="400543" y="262782"/>
                </a:lnTo>
                <a:lnTo>
                  <a:pt x="404769" y="246522"/>
                </a:lnTo>
                <a:lnTo>
                  <a:pt x="412716" y="234567"/>
                </a:lnTo>
                <a:lnTo>
                  <a:pt x="435203" y="206352"/>
                </a:lnTo>
                <a:lnTo>
                  <a:pt x="443150" y="190571"/>
                </a:lnTo>
                <a:lnTo>
                  <a:pt x="445010" y="165225"/>
                </a:lnTo>
                <a:lnTo>
                  <a:pt x="445010" y="145379"/>
                </a:lnTo>
                <a:lnTo>
                  <a:pt x="452280" y="140357"/>
                </a:lnTo>
                <a:lnTo>
                  <a:pt x="468173" y="144183"/>
                </a:lnTo>
                <a:lnTo>
                  <a:pt x="475443" y="156139"/>
                </a:lnTo>
                <a:lnTo>
                  <a:pt x="482207" y="175746"/>
                </a:lnTo>
                <a:lnTo>
                  <a:pt x="489984" y="185549"/>
                </a:lnTo>
                <a:lnTo>
                  <a:pt x="498607" y="188179"/>
                </a:lnTo>
                <a:lnTo>
                  <a:pt x="533944" y="175985"/>
                </a:lnTo>
                <a:lnTo>
                  <a:pt x="550344" y="170964"/>
                </a:lnTo>
                <a:lnTo>
                  <a:pt x="564885" y="180528"/>
                </a:lnTo>
                <a:lnTo>
                  <a:pt x="577058" y="202287"/>
                </a:lnTo>
                <a:lnTo>
                  <a:pt x="591768" y="201809"/>
                </a:lnTo>
                <a:lnTo>
                  <a:pt x="591768" y="190092"/>
                </a:lnTo>
                <a:lnTo>
                  <a:pt x="588725" y="172398"/>
                </a:lnTo>
                <a:lnTo>
                  <a:pt x="583822" y="158291"/>
                </a:lnTo>
                <a:lnTo>
                  <a:pt x="577735" y="152074"/>
                </a:lnTo>
                <a:lnTo>
                  <a:pt x="580102" y="128402"/>
                </a:lnTo>
                <a:lnTo>
                  <a:pt x="584498" y="115490"/>
                </a:lnTo>
                <a:lnTo>
                  <a:pt x="592952" y="112142"/>
                </a:lnTo>
                <a:lnTo>
                  <a:pt x="603265" y="110469"/>
                </a:lnTo>
                <a:lnTo>
                  <a:pt x="616115" y="123859"/>
                </a:lnTo>
                <a:lnTo>
                  <a:pt x="631332" y="128402"/>
                </a:lnTo>
                <a:lnTo>
                  <a:pt x="642829" y="127445"/>
                </a:lnTo>
                <a:lnTo>
                  <a:pt x="644013" y="110947"/>
                </a:lnTo>
                <a:lnTo>
                  <a:pt x="637419" y="100187"/>
                </a:lnTo>
                <a:lnTo>
                  <a:pt x="638602" y="82971"/>
                </a:lnTo>
                <a:lnTo>
                  <a:pt x="646549" y="51887"/>
                </a:lnTo>
                <a:lnTo>
                  <a:pt x="667853" y="54756"/>
                </a:lnTo>
                <a:lnTo>
                  <a:pt x="686620" y="56430"/>
                </a:lnTo>
                <a:lnTo>
                  <a:pt x="698286" y="69342"/>
                </a:lnTo>
                <a:lnTo>
                  <a:pt x="709784" y="73406"/>
                </a:lnTo>
                <a:lnTo>
                  <a:pt x="726860" y="74841"/>
                </a:lnTo>
                <a:lnTo>
                  <a:pt x="737850" y="73167"/>
                </a:lnTo>
                <a:lnTo>
                  <a:pt x="750024" y="53560"/>
                </a:lnTo>
                <a:lnTo>
                  <a:pt x="761521" y="34910"/>
                </a:lnTo>
                <a:lnTo>
                  <a:pt x="780458" y="25824"/>
                </a:lnTo>
                <a:lnTo>
                  <a:pt x="812075" y="23672"/>
                </a:lnTo>
                <a:lnTo>
                  <a:pt x="828475" y="20324"/>
                </a:lnTo>
                <a:lnTo>
                  <a:pt x="844876" y="20802"/>
                </a:lnTo>
                <a:lnTo>
                  <a:pt x="857049" y="23672"/>
                </a:lnTo>
                <a:lnTo>
                  <a:pt x="869899" y="23193"/>
                </a:lnTo>
                <a:lnTo>
                  <a:pt x="902700" y="10520"/>
                </a:lnTo>
                <a:lnTo>
                  <a:pt x="936853" y="0"/>
                </a:lnTo>
                <a:lnTo>
                  <a:pt x="936177" y="12912"/>
                </a:lnTo>
                <a:lnTo>
                  <a:pt x="930090" y="23193"/>
                </a:lnTo>
                <a:lnTo>
                  <a:pt x="934486" y="35388"/>
                </a:lnTo>
                <a:lnTo>
                  <a:pt x="953254" y="59060"/>
                </a:lnTo>
                <a:lnTo>
                  <a:pt x="963567" y="77232"/>
                </a:lnTo>
                <a:lnTo>
                  <a:pt x="974050" y="90862"/>
                </a:lnTo>
                <a:lnTo>
                  <a:pt x="989267" y="98035"/>
                </a:lnTo>
                <a:lnTo>
                  <a:pt x="1009218" y="102578"/>
                </a:lnTo>
                <a:lnTo>
                  <a:pt x="1026295" y="104252"/>
                </a:lnTo>
                <a:lnTo>
                  <a:pt x="1044555" y="109273"/>
                </a:lnTo>
                <a:lnTo>
                  <a:pt x="1105423" y="122185"/>
                </a:lnTo>
                <a:lnTo>
                  <a:pt x="1136533" y="125293"/>
                </a:lnTo>
                <a:lnTo>
                  <a:pt x="1160203" y="126250"/>
                </a:lnTo>
                <a:lnTo>
                  <a:pt x="1195540" y="134619"/>
                </a:lnTo>
                <a:lnTo>
                  <a:pt x="1191821" y="148248"/>
                </a:lnTo>
                <a:lnTo>
                  <a:pt x="1172377" y="159964"/>
                </a:lnTo>
                <a:lnTo>
                  <a:pt x="1157836" y="170724"/>
                </a:lnTo>
                <a:lnTo>
                  <a:pt x="1144987" y="183158"/>
                </a:lnTo>
                <a:lnTo>
                  <a:pt x="1141436" y="196309"/>
                </a:lnTo>
                <a:lnTo>
                  <a:pt x="1144987" y="205156"/>
                </a:lnTo>
                <a:lnTo>
                  <a:pt x="1160203" y="207069"/>
                </a:lnTo>
                <a:lnTo>
                  <a:pt x="1169334" y="211851"/>
                </a:lnTo>
                <a:lnTo>
                  <a:pt x="1184043" y="216634"/>
                </a:lnTo>
                <a:lnTo>
                  <a:pt x="1181507" y="227154"/>
                </a:lnTo>
                <a:lnTo>
                  <a:pt x="1170010" y="237436"/>
                </a:lnTo>
                <a:lnTo>
                  <a:pt x="1159696" y="249631"/>
                </a:lnTo>
                <a:lnTo>
                  <a:pt x="1159696" y="262065"/>
                </a:lnTo>
                <a:lnTo>
                  <a:pt x="1178464" y="263738"/>
                </a:lnTo>
                <a:lnTo>
                  <a:pt x="1173561" y="298409"/>
                </a:lnTo>
                <a:lnTo>
                  <a:pt x="1189454" y="308930"/>
                </a:lnTo>
                <a:lnTo>
                  <a:pt x="1199260" y="315864"/>
                </a:lnTo>
                <a:lnTo>
                  <a:pt x="1217520" y="335471"/>
                </a:lnTo>
                <a:lnTo>
                  <a:pt x="1225298" y="351253"/>
                </a:lnTo>
                <a:lnTo>
                  <a:pt x="1208390" y="359143"/>
                </a:lnTo>
                <a:lnTo>
                  <a:pt x="1209574" y="347905"/>
                </a:lnTo>
                <a:lnTo>
                  <a:pt x="1183367" y="313951"/>
                </a:lnTo>
                <a:lnTo>
                  <a:pt x="1171870" y="313951"/>
                </a:lnTo>
                <a:lnTo>
                  <a:pt x="1155977" y="328298"/>
                </a:lnTo>
                <a:lnTo>
                  <a:pt x="1112186" y="313473"/>
                </a:lnTo>
                <a:lnTo>
                  <a:pt x="1103563" y="319690"/>
                </a:lnTo>
                <a:lnTo>
                  <a:pt x="1097476" y="331407"/>
                </a:lnTo>
                <a:lnTo>
                  <a:pt x="1082259" y="345753"/>
                </a:lnTo>
                <a:lnTo>
                  <a:pt x="1060956" y="351970"/>
                </a:lnTo>
                <a:lnTo>
                  <a:pt x="1036609" y="367751"/>
                </a:lnTo>
                <a:lnTo>
                  <a:pt x="1011754" y="378990"/>
                </a:lnTo>
                <a:lnTo>
                  <a:pt x="992310" y="387837"/>
                </a:lnTo>
                <a:lnTo>
                  <a:pt x="981320" y="386163"/>
                </a:lnTo>
                <a:lnTo>
                  <a:pt x="998904" y="367751"/>
                </a:lnTo>
                <a:lnTo>
                  <a:pt x="967963" y="380185"/>
                </a:lnTo>
                <a:lnTo>
                  <a:pt x="954437" y="391423"/>
                </a:lnTo>
                <a:lnTo>
                  <a:pt x="950210" y="409835"/>
                </a:lnTo>
                <a:lnTo>
                  <a:pt x="945984" y="440441"/>
                </a:lnTo>
                <a:lnTo>
                  <a:pt x="956297" y="448332"/>
                </a:lnTo>
                <a:lnTo>
                  <a:pt x="974557" y="488502"/>
                </a:lnTo>
                <a:lnTo>
                  <a:pt x="996537" y="505718"/>
                </a:lnTo>
                <a:lnTo>
                  <a:pt x="992310" y="522217"/>
                </a:lnTo>
                <a:lnTo>
                  <a:pt x="986731" y="535129"/>
                </a:lnTo>
                <a:lnTo>
                  <a:pt x="973374" y="546367"/>
                </a:lnTo>
                <a:lnTo>
                  <a:pt x="961877" y="537998"/>
                </a:lnTo>
                <a:lnTo>
                  <a:pt x="950210" y="564539"/>
                </a:lnTo>
                <a:lnTo>
                  <a:pt x="960017" y="634359"/>
                </a:lnTo>
                <a:lnTo>
                  <a:pt x="975234" y="683616"/>
                </a:lnTo>
                <a:lnTo>
                  <a:pt x="990451" y="704897"/>
                </a:lnTo>
                <a:lnTo>
                  <a:pt x="1025111" y="738611"/>
                </a:lnTo>
                <a:lnTo>
                  <a:pt x="1061632" y="755827"/>
                </a:lnTo>
                <a:lnTo>
                  <a:pt x="1127403" y="812497"/>
                </a:lnTo>
                <a:lnTo>
                  <a:pt x="1163247" y="829713"/>
                </a:lnTo>
                <a:lnTo>
                  <a:pt x="1172377" y="839755"/>
                </a:lnTo>
                <a:lnTo>
                  <a:pt x="1194357" y="883034"/>
                </a:lnTo>
                <a:lnTo>
                  <a:pt x="1213124" y="933247"/>
                </a:lnTo>
                <a:lnTo>
                  <a:pt x="1233245" y="1011675"/>
                </a:lnTo>
                <a:lnTo>
                  <a:pt x="1247954" y="1050650"/>
                </a:lnTo>
                <a:lnTo>
                  <a:pt x="1277035" y="1094169"/>
                </a:lnTo>
                <a:lnTo>
                  <a:pt x="1337903" y="1156815"/>
                </a:lnTo>
                <a:lnTo>
                  <a:pt x="1357463" y="1173293"/>
                </a:lnTo>
                <a:lnTo>
                  <a:pt x="1357463" y="1537903"/>
                </a:lnTo>
                <a:lnTo>
                  <a:pt x="1340439" y="1543696"/>
                </a:lnTo>
                <a:lnTo>
                  <a:pt x="1324039" y="1542022"/>
                </a:lnTo>
                <a:lnTo>
                  <a:pt x="1311189" y="1549913"/>
                </a:lnTo>
                <a:lnTo>
                  <a:pt x="1324039" y="1519307"/>
                </a:lnTo>
                <a:lnTo>
                  <a:pt x="1318459" y="1512133"/>
                </a:lnTo>
                <a:lnTo>
                  <a:pt x="1298339" y="1499461"/>
                </a:lnTo>
                <a:lnTo>
                  <a:pt x="1270949" y="1497309"/>
                </a:lnTo>
                <a:lnTo>
                  <a:pt x="1258775" y="1504004"/>
                </a:lnTo>
                <a:lnTo>
                  <a:pt x="1254548" y="1485592"/>
                </a:lnTo>
                <a:lnTo>
                  <a:pt x="1222255" y="1423423"/>
                </a:lnTo>
                <a:lnTo>
                  <a:pt x="1200951" y="1398078"/>
                </a:lnTo>
                <a:lnTo>
                  <a:pt x="1190637" y="1393535"/>
                </a:lnTo>
                <a:lnTo>
                  <a:pt x="1171193" y="1399034"/>
                </a:lnTo>
                <a:lnTo>
                  <a:pt x="1138393" y="1387796"/>
                </a:lnTo>
                <a:lnTo>
                  <a:pt x="1118780" y="1385166"/>
                </a:lnTo>
                <a:lnTo>
                  <a:pt x="1108466" y="1388035"/>
                </a:lnTo>
                <a:lnTo>
                  <a:pt x="1092066" y="1395926"/>
                </a:lnTo>
                <a:lnTo>
                  <a:pt x="1084119" y="1391144"/>
                </a:lnTo>
                <a:lnTo>
                  <a:pt x="1081076" y="1382775"/>
                </a:lnTo>
                <a:lnTo>
                  <a:pt x="1051825" y="1356473"/>
                </a:lnTo>
                <a:lnTo>
                  <a:pt x="1014798" y="1342126"/>
                </a:lnTo>
                <a:lnTo>
                  <a:pt x="942940" y="1260350"/>
                </a:lnTo>
                <a:lnTo>
                  <a:pt x="920960" y="1229505"/>
                </a:lnTo>
                <a:lnTo>
                  <a:pt x="875310" y="1196030"/>
                </a:lnTo>
                <a:lnTo>
                  <a:pt x="846736" y="1146534"/>
                </a:lnTo>
                <a:lnTo>
                  <a:pt x="823065" y="1128600"/>
                </a:lnTo>
                <a:lnTo>
                  <a:pt x="788911" y="1114254"/>
                </a:lnTo>
                <a:lnTo>
                  <a:pt x="770651" y="1121188"/>
                </a:lnTo>
                <a:lnTo>
                  <a:pt x="756618" y="1115928"/>
                </a:lnTo>
                <a:lnTo>
                  <a:pt x="762705" y="1109233"/>
                </a:lnTo>
                <a:lnTo>
                  <a:pt x="767608" y="1087713"/>
                </a:lnTo>
                <a:lnTo>
                  <a:pt x="728720" y="1038695"/>
                </a:lnTo>
                <a:lnTo>
                  <a:pt x="705557" y="1023153"/>
                </a:lnTo>
                <a:lnTo>
                  <a:pt x="699470" y="1013349"/>
                </a:lnTo>
                <a:lnTo>
                  <a:pt x="694567" y="999959"/>
                </a:lnTo>
                <a:lnTo>
                  <a:pt x="689663" y="991829"/>
                </a:lnTo>
                <a:lnTo>
                  <a:pt x="678843" y="986330"/>
                </a:lnTo>
                <a:lnTo>
                  <a:pt x="656863" y="984178"/>
                </a:lnTo>
                <a:lnTo>
                  <a:pt x="657539" y="960506"/>
                </a:lnTo>
                <a:lnTo>
                  <a:pt x="659906" y="942812"/>
                </a:lnTo>
                <a:lnTo>
                  <a:pt x="658046" y="927270"/>
                </a:lnTo>
                <a:lnTo>
                  <a:pt x="645873" y="887577"/>
                </a:lnTo>
                <a:lnTo>
                  <a:pt x="624062" y="853384"/>
                </a:lnTo>
                <a:lnTo>
                  <a:pt x="611888" y="772565"/>
                </a:lnTo>
                <a:lnTo>
                  <a:pt x="601405" y="749611"/>
                </a:lnTo>
                <a:lnTo>
                  <a:pt x="577735" y="732395"/>
                </a:lnTo>
                <a:lnTo>
                  <a:pt x="524138" y="713266"/>
                </a:lnTo>
                <a:lnTo>
                  <a:pt x="449913" y="660901"/>
                </a:lnTo>
                <a:lnTo>
                  <a:pt x="434020" y="659944"/>
                </a:lnTo>
                <a:lnTo>
                  <a:pt x="389045" y="639620"/>
                </a:lnTo>
                <a:lnTo>
                  <a:pt x="360979" y="636511"/>
                </a:lnTo>
                <a:lnTo>
                  <a:pt x="325134" y="654206"/>
                </a:lnTo>
                <a:lnTo>
                  <a:pt x="281344" y="704419"/>
                </a:lnTo>
                <a:lnTo>
                  <a:pt x="245330" y="756306"/>
                </a:lnTo>
                <a:lnTo>
                  <a:pt x="232650" y="766826"/>
                </a:lnTo>
                <a:lnTo>
                  <a:pt x="186999" y="784521"/>
                </a:lnTo>
                <a:lnTo>
                  <a:pt x="146082" y="792890"/>
                </a:lnTo>
                <a:lnTo>
                  <a:pt x="145575" y="779499"/>
                </a:lnTo>
                <a:lnTo>
                  <a:pt x="144392" y="769696"/>
                </a:lnTo>
                <a:lnTo>
                  <a:pt x="150986" y="758458"/>
                </a:lnTo>
                <a:lnTo>
                  <a:pt x="162652" y="745546"/>
                </a:lnTo>
                <a:lnTo>
                  <a:pt x="172966" y="729047"/>
                </a:lnTo>
                <a:lnTo>
                  <a:pt x="177192" y="717331"/>
                </a:lnTo>
                <a:lnTo>
                  <a:pt x="170429" y="697724"/>
                </a:lnTo>
                <a:lnTo>
                  <a:pt x="125455" y="706571"/>
                </a:lnTo>
                <a:lnTo>
                  <a:pt x="116325" y="703940"/>
                </a:lnTo>
                <a:lnTo>
                  <a:pt x="87751" y="689116"/>
                </a:lnTo>
                <a:lnTo>
                  <a:pt x="57317" y="669987"/>
                </a:lnTo>
                <a:lnTo>
                  <a:pt x="45651" y="656836"/>
                </a:lnTo>
                <a:lnTo>
                  <a:pt x="41424" y="643446"/>
                </a:lnTo>
                <a:lnTo>
                  <a:pt x="44467" y="634838"/>
                </a:lnTo>
                <a:lnTo>
                  <a:pt x="36014" y="615231"/>
                </a:lnTo>
                <a:lnTo>
                  <a:pt x="41424" y="602319"/>
                </a:lnTo>
                <a:lnTo>
                  <a:pt x="51230" y="586059"/>
                </a:lnTo>
                <a:lnTo>
                  <a:pt x="56134" y="575299"/>
                </a:lnTo>
                <a:lnTo>
                  <a:pt x="67631" y="565735"/>
                </a:lnTo>
                <a:lnTo>
                  <a:pt x="61544" y="539193"/>
                </a:lnTo>
                <a:lnTo>
                  <a:pt x="52414" y="531781"/>
                </a:lnTo>
                <a:lnTo>
                  <a:pt x="29250" y="526042"/>
                </a:lnTo>
                <a:lnTo>
                  <a:pt x="18260" y="516956"/>
                </a:lnTo>
                <a:lnTo>
                  <a:pt x="15893" y="504283"/>
                </a:lnTo>
                <a:lnTo>
                  <a:pt x="10483" y="492806"/>
                </a:lnTo>
                <a:lnTo>
                  <a:pt x="677" y="481568"/>
                </a:lnTo>
                <a:lnTo>
                  <a:pt x="0" y="469851"/>
                </a:lnTo>
                <a:lnTo>
                  <a:pt x="10483" y="463635"/>
                </a:lnTo>
                <a:lnTo>
                  <a:pt x="25700" y="463395"/>
                </a:lnTo>
                <a:lnTo>
                  <a:pt x="36014" y="465787"/>
                </a:lnTo>
                <a:lnTo>
                  <a:pt x="59684" y="446658"/>
                </a:lnTo>
                <a:lnTo>
                  <a:pt x="76085" y="440919"/>
                </a:lnTo>
                <a:lnTo>
                  <a:pt x="82171" y="414617"/>
                </a:lnTo>
                <a:lnTo>
                  <a:pt x="87751" y="406965"/>
                </a:lnTo>
                <a:lnTo>
                  <a:pt x="84031" y="396923"/>
                </a:lnTo>
                <a:lnTo>
                  <a:pt x="65264" y="378272"/>
                </a:lnTo>
                <a:lnTo>
                  <a:pt x="56134" y="359143"/>
                </a:lnTo>
                <a:lnTo>
                  <a:pt x="42608" y="337863"/>
                </a:lnTo>
                <a:lnTo>
                  <a:pt x="29927" y="328298"/>
                </a:lnTo>
                <a:lnTo>
                  <a:pt x="26883" y="311321"/>
                </a:lnTo>
                <a:lnTo>
                  <a:pt x="52414" y="290519"/>
                </a:lnTo>
                <a:lnTo>
                  <a:pt x="66447" y="276411"/>
                </a:lnTo>
                <a:close/>
              </a:path>
            </a:pathLst>
          </a:custGeom>
          <a:solidFill>
            <a:srgbClr val="E9EBEC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4501635" y="4489002"/>
            <a:ext cx="53597" cy="34432"/>
          </a:xfrm>
          <a:custGeom>
            <a:avLst/>
            <a:gdLst/>
            <a:ahLst/>
            <a:cxnLst/>
            <a:rect l="l" t="t" r="r" b="b"/>
            <a:pathLst>
              <a:path w="53597" h="34432">
                <a:moveTo>
                  <a:pt x="48017" y="0"/>
                </a:moveTo>
                <a:lnTo>
                  <a:pt x="53597" y="9086"/>
                </a:lnTo>
                <a:lnTo>
                  <a:pt x="50554" y="20563"/>
                </a:lnTo>
                <a:lnTo>
                  <a:pt x="52244" y="34432"/>
                </a:lnTo>
                <a:lnTo>
                  <a:pt x="37704" y="22715"/>
                </a:lnTo>
                <a:lnTo>
                  <a:pt x="16400" y="28454"/>
                </a:lnTo>
                <a:lnTo>
                  <a:pt x="3550" y="27259"/>
                </a:lnTo>
                <a:lnTo>
                  <a:pt x="0" y="17455"/>
                </a:lnTo>
                <a:lnTo>
                  <a:pt x="23163" y="9803"/>
                </a:lnTo>
                <a:lnTo>
                  <a:pt x="41931" y="8130"/>
                </a:lnTo>
                <a:lnTo>
                  <a:pt x="48017" y="0"/>
                </a:lnTo>
                <a:close/>
              </a:path>
            </a:pathLst>
          </a:custGeom>
          <a:solidFill>
            <a:srgbClr val="E9EBEC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5137024" y="4989938"/>
            <a:ext cx="15894" cy="13390"/>
          </a:xfrm>
          <a:custGeom>
            <a:avLst/>
            <a:gdLst/>
            <a:ahLst/>
            <a:cxnLst/>
            <a:rect l="l" t="t" r="r" b="b"/>
            <a:pathLst>
              <a:path w="15894" h="13390">
                <a:moveTo>
                  <a:pt x="11667" y="13390"/>
                </a:moveTo>
                <a:lnTo>
                  <a:pt x="0" y="12912"/>
                </a:lnTo>
                <a:lnTo>
                  <a:pt x="677" y="0"/>
                </a:lnTo>
                <a:lnTo>
                  <a:pt x="15894" y="5500"/>
                </a:lnTo>
                <a:lnTo>
                  <a:pt x="11667" y="13390"/>
                </a:lnTo>
                <a:close/>
              </a:path>
            </a:pathLst>
          </a:custGeom>
          <a:solidFill>
            <a:srgbClr val="E9EBEC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4810199" y="5930598"/>
            <a:ext cx="19444" cy="16977"/>
          </a:xfrm>
          <a:custGeom>
            <a:avLst/>
            <a:gdLst/>
            <a:ahLst/>
            <a:cxnLst/>
            <a:rect l="l" t="t" r="r" b="b"/>
            <a:pathLst>
              <a:path w="19444" h="16977">
                <a:moveTo>
                  <a:pt x="19444" y="16977"/>
                </a:moveTo>
                <a:lnTo>
                  <a:pt x="677" y="11478"/>
                </a:lnTo>
                <a:lnTo>
                  <a:pt x="0" y="0"/>
                </a:lnTo>
                <a:lnTo>
                  <a:pt x="15217" y="1674"/>
                </a:lnTo>
                <a:lnTo>
                  <a:pt x="18937" y="12434"/>
                </a:lnTo>
                <a:close/>
              </a:path>
            </a:pathLst>
          </a:custGeom>
          <a:solidFill>
            <a:srgbClr val="E9EBEC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Freeform 45"/>
          <p:cNvSpPr/>
          <p:nvPr/>
        </p:nvSpPr>
        <p:spPr>
          <a:xfrm>
            <a:off x="4894738" y="5604691"/>
            <a:ext cx="375635" cy="344168"/>
          </a:xfrm>
          <a:custGeom>
            <a:avLst/>
            <a:gdLst/>
            <a:ahLst/>
            <a:cxnLst/>
            <a:rect l="l" t="t" r="r" b="b"/>
            <a:pathLst>
              <a:path w="375635" h="344168">
                <a:moveTo>
                  <a:pt x="375635" y="344168"/>
                </a:moveTo>
                <a:lnTo>
                  <a:pt x="368248" y="340493"/>
                </a:lnTo>
                <a:lnTo>
                  <a:pt x="358611" y="338341"/>
                </a:lnTo>
                <a:lnTo>
                  <a:pt x="349481" y="332841"/>
                </a:lnTo>
                <a:lnTo>
                  <a:pt x="326317" y="291475"/>
                </a:lnTo>
                <a:lnTo>
                  <a:pt x="308057" y="273542"/>
                </a:lnTo>
                <a:lnTo>
                  <a:pt x="288613" y="259913"/>
                </a:lnTo>
                <a:lnTo>
                  <a:pt x="268493" y="258956"/>
                </a:lnTo>
                <a:lnTo>
                  <a:pt x="248373" y="260630"/>
                </a:lnTo>
                <a:lnTo>
                  <a:pt x="230789" y="252500"/>
                </a:lnTo>
                <a:lnTo>
                  <a:pt x="194776" y="224046"/>
                </a:lnTo>
                <a:lnTo>
                  <a:pt x="156565" y="201331"/>
                </a:lnTo>
                <a:lnTo>
                  <a:pt x="139995" y="186745"/>
                </a:lnTo>
                <a:lnTo>
                  <a:pt x="132725" y="176941"/>
                </a:lnTo>
                <a:lnTo>
                  <a:pt x="124271" y="170246"/>
                </a:lnTo>
                <a:lnTo>
                  <a:pt x="102291" y="163551"/>
                </a:lnTo>
                <a:lnTo>
                  <a:pt x="82171" y="148248"/>
                </a:lnTo>
                <a:lnTo>
                  <a:pt x="54273" y="148966"/>
                </a:lnTo>
                <a:lnTo>
                  <a:pt x="34829" y="142749"/>
                </a:lnTo>
                <a:lnTo>
                  <a:pt x="15217" y="124576"/>
                </a:lnTo>
                <a:lnTo>
                  <a:pt x="3043" y="99709"/>
                </a:lnTo>
                <a:lnTo>
                  <a:pt x="0" y="88949"/>
                </a:lnTo>
                <a:lnTo>
                  <a:pt x="8623" y="60256"/>
                </a:lnTo>
                <a:lnTo>
                  <a:pt x="18936" y="33236"/>
                </a:lnTo>
                <a:lnTo>
                  <a:pt x="28066" y="25345"/>
                </a:lnTo>
                <a:lnTo>
                  <a:pt x="38380" y="19846"/>
                </a:lnTo>
                <a:lnTo>
                  <a:pt x="45143" y="11716"/>
                </a:lnTo>
                <a:lnTo>
                  <a:pt x="50554" y="2152"/>
                </a:lnTo>
                <a:lnTo>
                  <a:pt x="69997" y="30367"/>
                </a:lnTo>
                <a:lnTo>
                  <a:pt x="79128" y="37301"/>
                </a:lnTo>
                <a:lnTo>
                  <a:pt x="103475" y="25824"/>
                </a:lnTo>
                <a:lnTo>
                  <a:pt x="104827" y="14586"/>
                </a:lnTo>
                <a:lnTo>
                  <a:pt x="122411" y="0"/>
                </a:lnTo>
                <a:lnTo>
                  <a:pt x="144391" y="0"/>
                </a:lnTo>
                <a:lnTo>
                  <a:pt x="154705" y="2391"/>
                </a:lnTo>
                <a:lnTo>
                  <a:pt x="160115" y="15303"/>
                </a:lnTo>
                <a:lnTo>
                  <a:pt x="168738" y="19129"/>
                </a:lnTo>
                <a:lnTo>
                  <a:pt x="178375" y="21281"/>
                </a:lnTo>
                <a:lnTo>
                  <a:pt x="210669" y="45670"/>
                </a:lnTo>
                <a:lnTo>
                  <a:pt x="219799" y="49496"/>
                </a:lnTo>
                <a:lnTo>
                  <a:pt x="253953" y="39931"/>
                </a:lnTo>
                <a:lnTo>
                  <a:pt x="272720" y="36105"/>
                </a:lnTo>
                <a:lnTo>
                  <a:pt x="312960" y="41605"/>
                </a:lnTo>
                <a:lnTo>
                  <a:pt x="334771" y="35388"/>
                </a:lnTo>
                <a:lnTo>
                  <a:pt x="349988" y="34910"/>
                </a:lnTo>
                <a:lnTo>
                  <a:pt x="371968" y="25345"/>
                </a:lnTo>
                <a:close/>
              </a:path>
            </a:pathLst>
          </a:custGeom>
          <a:solidFill>
            <a:srgbClr val="E9EBEC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4175317" y="4871578"/>
            <a:ext cx="274580" cy="561192"/>
          </a:xfrm>
          <a:custGeom>
            <a:avLst/>
            <a:gdLst/>
            <a:ahLst/>
            <a:cxnLst/>
            <a:rect l="l" t="t" r="r" b="b"/>
            <a:pathLst>
              <a:path w="274580" h="561192">
                <a:moveTo>
                  <a:pt x="245330" y="89667"/>
                </a:moveTo>
                <a:lnTo>
                  <a:pt x="253784" y="104970"/>
                </a:lnTo>
                <a:lnTo>
                  <a:pt x="272720" y="167856"/>
                </a:lnTo>
                <a:lnTo>
                  <a:pt x="274580" y="181007"/>
                </a:lnTo>
                <a:lnTo>
                  <a:pt x="270861" y="195115"/>
                </a:lnTo>
                <a:lnTo>
                  <a:pt x="265957" y="204679"/>
                </a:lnTo>
                <a:lnTo>
                  <a:pt x="247190" y="236242"/>
                </a:lnTo>
                <a:lnTo>
                  <a:pt x="250233" y="262305"/>
                </a:lnTo>
                <a:lnTo>
                  <a:pt x="256827" y="278564"/>
                </a:lnTo>
                <a:lnTo>
                  <a:pt x="258011" y="296497"/>
                </a:lnTo>
                <a:lnTo>
                  <a:pt x="254460" y="318974"/>
                </a:lnTo>
                <a:lnTo>
                  <a:pt x="242794" y="455027"/>
                </a:lnTo>
                <a:lnTo>
                  <a:pt x="237383" y="479178"/>
                </a:lnTo>
                <a:lnTo>
                  <a:pt x="233664" y="499741"/>
                </a:lnTo>
                <a:lnTo>
                  <a:pt x="220983" y="506436"/>
                </a:lnTo>
                <a:lnTo>
                  <a:pt x="203906" y="499502"/>
                </a:lnTo>
                <a:lnTo>
                  <a:pt x="183279" y="487786"/>
                </a:lnTo>
                <a:lnTo>
                  <a:pt x="163666" y="492807"/>
                </a:lnTo>
                <a:lnTo>
                  <a:pt x="155889" y="488981"/>
                </a:lnTo>
                <a:lnTo>
                  <a:pt x="147942" y="482286"/>
                </a:lnTo>
                <a:lnTo>
                  <a:pt x="142362" y="529391"/>
                </a:lnTo>
                <a:lnTo>
                  <a:pt x="132725" y="548520"/>
                </a:lnTo>
                <a:lnTo>
                  <a:pt x="118692" y="560475"/>
                </a:lnTo>
                <a:lnTo>
                  <a:pt x="104658" y="561192"/>
                </a:lnTo>
                <a:lnTo>
                  <a:pt x="90625" y="557128"/>
                </a:lnTo>
                <a:lnTo>
                  <a:pt x="79128" y="557128"/>
                </a:lnTo>
                <a:lnTo>
                  <a:pt x="69998" y="548520"/>
                </a:lnTo>
                <a:lnTo>
                  <a:pt x="62727" y="532738"/>
                </a:lnTo>
                <a:lnTo>
                  <a:pt x="51737" y="513131"/>
                </a:lnTo>
                <a:lnTo>
                  <a:pt x="40240" y="490177"/>
                </a:lnTo>
                <a:lnTo>
                  <a:pt x="38888" y="469852"/>
                </a:lnTo>
                <a:lnTo>
                  <a:pt x="37197" y="424660"/>
                </a:lnTo>
                <a:lnTo>
                  <a:pt x="40240" y="414857"/>
                </a:lnTo>
                <a:lnTo>
                  <a:pt x="44974" y="405293"/>
                </a:lnTo>
                <a:lnTo>
                  <a:pt x="47511" y="384968"/>
                </a:lnTo>
                <a:lnTo>
                  <a:pt x="45651" y="367035"/>
                </a:lnTo>
                <a:lnTo>
                  <a:pt x="60868" y="364883"/>
                </a:lnTo>
                <a:lnTo>
                  <a:pt x="62051" y="339298"/>
                </a:lnTo>
                <a:lnTo>
                  <a:pt x="52921" y="325191"/>
                </a:lnTo>
                <a:lnTo>
                  <a:pt x="38380" y="320408"/>
                </a:lnTo>
                <a:lnTo>
                  <a:pt x="37197" y="306062"/>
                </a:lnTo>
                <a:lnTo>
                  <a:pt x="38380" y="291476"/>
                </a:lnTo>
                <a:lnTo>
                  <a:pt x="46327" y="281912"/>
                </a:lnTo>
                <a:lnTo>
                  <a:pt x="48694" y="269478"/>
                </a:lnTo>
                <a:lnTo>
                  <a:pt x="49370" y="230503"/>
                </a:lnTo>
                <a:lnTo>
                  <a:pt x="38380" y="216395"/>
                </a:lnTo>
                <a:lnTo>
                  <a:pt x="34661" y="194636"/>
                </a:lnTo>
                <a:lnTo>
                  <a:pt x="29250" y="181007"/>
                </a:lnTo>
                <a:lnTo>
                  <a:pt x="19444" y="166900"/>
                </a:lnTo>
                <a:lnTo>
                  <a:pt x="8454" y="155661"/>
                </a:lnTo>
                <a:lnTo>
                  <a:pt x="1184" y="144901"/>
                </a:lnTo>
                <a:lnTo>
                  <a:pt x="0" y="116208"/>
                </a:lnTo>
                <a:lnTo>
                  <a:pt x="3720" y="92297"/>
                </a:lnTo>
                <a:lnTo>
                  <a:pt x="7270" y="82254"/>
                </a:lnTo>
                <a:lnTo>
                  <a:pt x="21980" y="95645"/>
                </a:lnTo>
                <a:lnTo>
                  <a:pt x="31110" y="98036"/>
                </a:lnTo>
                <a:lnTo>
                  <a:pt x="48694" y="100905"/>
                </a:lnTo>
                <a:lnTo>
                  <a:pt x="66278" y="97079"/>
                </a:lnTo>
                <a:lnTo>
                  <a:pt x="87582" y="86319"/>
                </a:lnTo>
                <a:lnTo>
                  <a:pt x="108378" y="73646"/>
                </a:lnTo>
                <a:lnTo>
                  <a:pt x="138136" y="34911"/>
                </a:lnTo>
                <a:lnTo>
                  <a:pt x="156396" y="27498"/>
                </a:lnTo>
                <a:lnTo>
                  <a:pt x="166202" y="16977"/>
                </a:lnTo>
                <a:lnTo>
                  <a:pt x="169246" y="3348"/>
                </a:lnTo>
                <a:lnTo>
                  <a:pt x="177192" y="0"/>
                </a:lnTo>
                <a:lnTo>
                  <a:pt x="186322" y="13391"/>
                </a:lnTo>
                <a:lnTo>
                  <a:pt x="197820" y="14586"/>
                </a:lnTo>
                <a:lnTo>
                  <a:pt x="215404" y="25346"/>
                </a:lnTo>
                <a:lnTo>
                  <a:pt x="222843" y="36106"/>
                </a:lnTo>
                <a:lnTo>
                  <a:pt x="229437" y="48540"/>
                </a:lnTo>
                <a:lnTo>
                  <a:pt x="235524" y="54039"/>
                </a:lnTo>
                <a:lnTo>
                  <a:pt x="243470" y="60256"/>
                </a:lnTo>
                <a:lnTo>
                  <a:pt x="231973" y="77711"/>
                </a:lnTo>
                <a:lnTo>
                  <a:pt x="245330" y="89667"/>
                </a:lnTo>
                <a:close/>
              </a:path>
            </a:pathLst>
          </a:custGeom>
          <a:solidFill>
            <a:srgbClr val="E9EBEC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4205074" y="5387579"/>
            <a:ext cx="20797" cy="31084"/>
          </a:xfrm>
          <a:custGeom>
            <a:avLst/>
            <a:gdLst/>
            <a:ahLst/>
            <a:cxnLst/>
            <a:rect l="l" t="t" r="r" b="b"/>
            <a:pathLst>
              <a:path w="20797" h="31084">
                <a:moveTo>
                  <a:pt x="20797" y="7412"/>
                </a:moveTo>
                <a:lnTo>
                  <a:pt x="10990" y="31084"/>
                </a:lnTo>
                <a:lnTo>
                  <a:pt x="677" y="14585"/>
                </a:lnTo>
                <a:lnTo>
                  <a:pt x="0" y="0"/>
                </a:lnTo>
                <a:lnTo>
                  <a:pt x="14034" y="2152"/>
                </a:lnTo>
                <a:lnTo>
                  <a:pt x="20797" y="7412"/>
                </a:lnTo>
                <a:close/>
              </a:path>
            </a:pathLst>
          </a:custGeom>
          <a:solidFill>
            <a:srgbClr val="E9EBEC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4182587" y="4904097"/>
            <a:ext cx="16401" cy="30128"/>
          </a:xfrm>
          <a:custGeom>
            <a:avLst/>
            <a:gdLst/>
            <a:ahLst/>
            <a:cxnLst/>
            <a:rect l="l" t="t" r="r" b="b"/>
            <a:pathLst>
              <a:path w="16401" h="30128">
                <a:moveTo>
                  <a:pt x="10314" y="19368"/>
                </a:moveTo>
                <a:lnTo>
                  <a:pt x="4904" y="30128"/>
                </a:lnTo>
                <a:lnTo>
                  <a:pt x="0" y="21520"/>
                </a:lnTo>
                <a:lnTo>
                  <a:pt x="7271" y="5261"/>
                </a:lnTo>
                <a:lnTo>
                  <a:pt x="16401" y="0"/>
                </a:lnTo>
                <a:lnTo>
                  <a:pt x="15894" y="14108"/>
                </a:lnTo>
                <a:close/>
              </a:path>
            </a:pathLst>
          </a:custGeom>
          <a:solidFill>
            <a:srgbClr val="E9EBEC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1035058" y="1920239"/>
            <a:ext cx="737850" cy="508588"/>
          </a:xfrm>
          <a:custGeom>
            <a:avLst/>
            <a:gdLst/>
            <a:ahLst/>
            <a:cxnLst/>
            <a:rect l="l" t="t" r="r" b="b"/>
            <a:pathLst>
              <a:path w="737850" h="508588">
                <a:moveTo>
                  <a:pt x="715308" y="0"/>
                </a:moveTo>
                <a:lnTo>
                  <a:pt x="720097" y="24151"/>
                </a:lnTo>
                <a:lnTo>
                  <a:pt x="720774" y="49975"/>
                </a:lnTo>
                <a:lnTo>
                  <a:pt x="719590" y="71494"/>
                </a:lnTo>
                <a:lnTo>
                  <a:pt x="730580" y="103774"/>
                </a:lnTo>
                <a:lnTo>
                  <a:pt x="734807" y="121708"/>
                </a:lnTo>
                <a:lnTo>
                  <a:pt x="737850" y="160683"/>
                </a:lnTo>
                <a:lnTo>
                  <a:pt x="730580" y="175747"/>
                </a:lnTo>
                <a:lnTo>
                  <a:pt x="720774" y="189376"/>
                </a:lnTo>
                <a:lnTo>
                  <a:pt x="714011" y="205875"/>
                </a:lnTo>
                <a:lnTo>
                  <a:pt x="709276" y="223808"/>
                </a:lnTo>
                <a:lnTo>
                  <a:pt x="706233" y="252740"/>
                </a:lnTo>
                <a:lnTo>
                  <a:pt x="684253" y="286455"/>
                </a:lnTo>
                <a:lnTo>
                  <a:pt x="675123" y="294824"/>
                </a:lnTo>
                <a:lnTo>
                  <a:pt x="664133" y="300084"/>
                </a:lnTo>
                <a:lnTo>
                  <a:pt x="687973" y="323517"/>
                </a:lnTo>
                <a:lnTo>
                  <a:pt x="668360" y="334277"/>
                </a:lnTo>
                <a:lnTo>
                  <a:pt x="647733" y="337624"/>
                </a:lnTo>
                <a:lnTo>
                  <a:pt x="624569" y="331647"/>
                </a:lnTo>
                <a:lnTo>
                  <a:pt x="610536" y="332125"/>
                </a:lnTo>
                <a:lnTo>
                  <a:pt x="597179" y="340015"/>
                </a:lnTo>
                <a:lnTo>
                  <a:pt x="588049" y="342167"/>
                </a:lnTo>
                <a:lnTo>
                  <a:pt x="579595" y="323039"/>
                </a:lnTo>
                <a:lnTo>
                  <a:pt x="572832" y="342885"/>
                </a:lnTo>
                <a:lnTo>
                  <a:pt x="559475" y="349102"/>
                </a:lnTo>
                <a:lnTo>
                  <a:pt x="536987" y="347906"/>
                </a:lnTo>
                <a:lnTo>
                  <a:pt x="499283" y="353406"/>
                </a:lnTo>
                <a:lnTo>
                  <a:pt x="484574" y="359144"/>
                </a:lnTo>
                <a:lnTo>
                  <a:pt x="478487" y="367752"/>
                </a:lnTo>
                <a:lnTo>
                  <a:pt x="473584" y="378273"/>
                </a:lnTo>
                <a:lnTo>
                  <a:pt x="467497" y="384012"/>
                </a:lnTo>
                <a:lnTo>
                  <a:pt x="431653" y="394772"/>
                </a:lnTo>
                <a:lnTo>
                  <a:pt x="412209" y="414857"/>
                </a:lnTo>
                <a:lnTo>
                  <a:pt x="394456" y="424182"/>
                </a:lnTo>
                <a:lnTo>
                  <a:pt x="379915" y="427291"/>
                </a:lnTo>
                <a:lnTo>
                  <a:pt x="367066" y="417726"/>
                </a:lnTo>
                <a:lnTo>
                  <a:pt x="361655" y="411749"/>
                </a:lnTo>
                <a:lnTo>
                  <a:pt x="335448" y="409357"/>
                </a:lnTo>
                <a:lnTo>
                  <a:pt x="345762" y="418922"/>
                </a:lnTo>
                <a:lnTo>
                  <a:pt x="347622" y="432073"/>
                </a:lnTo>
                <a:lnTo>
                  <a:pt x="345255" y="444985"/>
                </a:lnTo>
                <a:lnTo>
                  <a:pt x="335448" y="451202"/>
                </a:lnTo>
                <a:lnTo>
                  <a:pt x="323951" y="452636"/>
                </a:lnTo>
                <a:lnTo>
                  <a:pt x="305014" y="465787"/>
                </a:lnTo>
                <a:lnTo>
                  <a:pt x="280160" y="469613"/>
                </a:lnTo>
                <a:lnTo>
                  <a:pt x="266634" y="482047"/>
                </a:lnTo>
                <a:lnTo>
                  <a:pt x="185139" y="502850"/>
                </a:lnTo>
                <a:lnTo>
                  <a:pt x="169246" y="497350"/>
                </a:lnTo>
                <a:lnTo>
                  <a:pt x="157072" y="495198"/>
                </a:lnTo>
                <a:lnTo>
                  <a:pt x="144899" y="496872"/>
                </a:lnTo>
                <a:lnTo>
                  <a:pt x="110915" y="508588"/>
                </a:lnTo>
                <a:lnTo>
                  <a:pt x="93838" y="505958"/>
                </a:lnTo>
                <a:lnTo>
                  <a:pt x="115141" y="477504"/>
                </a:lnTo>
                <a:lnTo>
                  <a:pt x="143715" y="462918"/>
                </a:lnTo>
                <a:lnTo>
                  <a:pt x="137121" y="457179"/>
                </a:lnTo>
                <a:lnTo>
                  <a:pt x="83524" y="466983"/>
                </a:lnTo>
                <a:lnTo>
                  <a:pt x="64588" y="475830"/>
                </a:lnTo>
                <a:lnTo>
                  <a:pt x="45651" y="478221"/>
                </a:lnTo>
                <a:lnTo>
                  <a:pt x="54274" y="465070"/>
                </a:lnTo>
                <a:lnTo>
                  <a:pt x="78621" y="447137"/>
                </a:lnTo>
                <a:lnTo>
                  <a:pt x="91471" y="438290"/>
                </a:lnTo>
                <a:lnTo>
                  <a:pt x="99925" y="435181"/>
                </a:lnTo>
                <a:lnTo>
                  <a:pt x="108378" y="424660"/>
                </a:lnTo>
                <a:lnTo>
                  <a:pt x="134078" y="412705"/>
                </a:lnTo>
                <a:lnTo>
                  <a:pt x="51738" y="437094"/>
                </a:lnTo>
                <a:lnTo>
                  <a:pt x="30434" y="434225"/>
                </a:lnTo>
                <a:lnTo>
                  <a:pt x="25700" y="427530"/>
                </a:lnTo>
                <a:lnTo>
                  <a:pt x="8623" y="430638"/>
                </a:lnTo>
                <a:lnTo>
                  <a:pt x="2536" y="413901"/>
                </a:lnTo>
                <a:lnTo>
                  <a:pt x="26884" y="388555"/>
                </a:lnTo>
                <a:lnTo>
                  <a:pt x="41424" y="377795"/>
                </a:lnTo>
                <a:lnTo>
                  <a:pt x="59177" y="372056"/>
                </a:lnTo>
                <a:lnTo>
                  <a:pt x="75578" y="363687"/>
                </a:lnTo>
                <a:lnTo>
                  <a:pt x="81664" y="353406"/>
                </a:lnTo>
                <a:lnTo>
                  <a:pt x="73718" y="350058"/>
                </a:lnTo>
                <a:lnTo>
                  <a:pt x="23840" y="352449"/>
                </a:lnTo>
                <a:lnTo>
                  <a:pt x="0" y="350297"/>
                </a:lnTo>
                <a:lnTo>
                  <a:pt x="6087" y="333081"/>
                </a:lnTo>
                <a:lnTo>
                  <a:pt x="30434" y="317539"/>
                </a:lnTo>
                <a:lnTo>
                  <a:pt x="43960" y="315148"/>
                </a:lnTo>
                <a:lnTo>
                  <a:pt x="56134" y="316822"/>
                </a:lnTo>
                <a:lnTo>
                  <a:pt x="67631" y="320408"/>
                </a:lnTo>
                <a:lnTo>
                  <a:pt x="76761" y="325908"/>
                </a:lnTo>
                <a:lnTo>
                  <a:pt x="104828" y="322560"/>
                </a:lnTo>
                <a:lnTo>
                  <a:pt x="93162" y="312996"/>
                </a:lnTo>
                <a:lnTo>
                  <a:pt x="91471" y="292672"/>
                </a:lnTo>
                <a:lnTo>
                  <a:pt x="82341" y="285976"/>
                </a:lnTo>
                <a:lnTo>
                  <a:pt x="93838" y="276890"/>
                </a:lnTo>
                <a:lnTo>
                  <a:pt x="106688" y="271152"/>
                </a:lnTo>
                <a:lnTo>
                  <a:pt x="128499" y="251545"/>
                </a:lnTo>
                <a:lnTo>
                  <a:pt x="179729" y="244132"/>
                </a:lnTo>
                <a:lnTo>
                  <a:pt x="225887" y="234090"/>
                </a:lnTo>
                <a:lnTo>
                  <a:pt x="272214" y="219982"/>
                </a:lnTo>
                <a:lnTo>
                  <a:pt x="248374" y="212091"/>
                </a:lnTo>
                <a:lnTo>
                  <a:pt x="236877" y="201810"/>
                </a:lnTo>
                <a:lnTo>
                  <a:pt x="218616" y="223090"/>
                </a:lnTo>
                <a:lnTo>
                  <a:pt x="205766" y="230742"/>
                </a:lnTo>
                <a:lnTo>
                  <a:pt x="168739" y="235046"/>
                </a:lnTo>
                <a:lnTo>
                  <a:pt x="157072" y="232416"/>
                </a:lnTo>
                <a:lnTo>
                  <a:pt x="140672" y="226199"/>
                </a:lnTo>
                <a:lnTo>
                  <a:pt x="130358" y="233850"/>
                </a:lnTo>
                <a:lnTo>
                  <a:pt x="106011" y="243654"/>
                </a:lnTo>
                <a:lnTo>
                  <a:pt x="80481" y="246284"/>
                </a:lnTo>
                <a:lnTo>
                  <a:pt x="110238" y="227634"/>
                </a:lnTo>
                <a:lnTo>
                  <a:pt x="147942" y="196071"/>
                </a:lnTo>
                <a:lnTo>
                  <a:pt x="156565" y="185550"/>
                </a:lnTo>
                <a:lnTo>
                  <a:pt x="168739" y="168095"/>
                </a:lnTo>
                <a:lnTo>
                  <a:pt x="165019" y="160683"/>
                </a:lnTo>
                <a:lnTo>
                  <a:pt x="157072" y="156140"/>
                </a:lnTo>
                <a:lnTo>
                  <a:pt x="184463" y="120034"/>
                </a:lnTo>
                <a:lnTo>
                  <a:pt x="194269" y="113817"/>
                </a:lnTo>
                <a:lnTo>
                  <a:pt x="211853" y="112621"/>
                </a:lnTo>
                <a:lnTo>
                  <a:pt x="225379" y="106644"/>
                </a:lnTo>
                <a:lnTo>
                  <a:pt x="235693" y="104731"/>
                </a:lnTo>
                <a:lnTo>
                  <a:pt x="247190" y="93971"/>
                </a:lnTo>
                <a:lnTo>
                  <a:pt x="229606" y="87276"/>
                </a:lnTo>
                <a:lnTo>
                  <a:pt x="211853" y="83450"/>
                </a:lnTo>
                <a:lnTo>
                  <a:pt x="155889" y="87276"/>
                </a:lnTo>
                <a:lnTo>
                  <a:pt x="141348" y="82972"/>
                </a:lnTo>
                <a:lnTo>
                  <a:pt x="133402" y="65995"/>
                </a:lnTo>
                <a:lnTo>
                  <a:pt x="117001" y="63604"/>
                </a:lnTo>
                <a:lnTo>
                  <a:pt x="104828" y="67191"/>
                </a:lnTo>
                <a:lnTo>
                  <a:pt x="87075" y="61452"/>
                </a:lnTo>
                <a:lnTo>
                  <a:pt x="101108" y="49018"/>
                </a:lnTo>
                <a:lnTo>
                  <a:pt x="83524" y="46149"/>
                </a:lnTo>
                <a:lnTo>
                  <a:pt x="65771" y="48540"/>
                </a:lnTo>
                <a:lnTo>
                  <a:pt x="50554" y="44953"/>
                </a:lnTo>
                <a:lnTo>
                  <a:pt x="57317" y="29172"/>
                </a:lnTo>
                <a:lnTo>
                  <a:pt x="48187" y="21760"/>
                </a:lnTo>
                <a:lnTo>
                  <a:pt x="46327" y="12195"/>
                </a:lnTo>
                <a:lnTo>
                  <a:pt x="56134" y="7652"/>
                </a:lnTo>
                <a:lnTo>
                  <a:pt x="65771" y="9087"/>
                </a:lnTo>
                <a:lnTo>
                  <a:pt x="87075" y="2152"/>
                </a:lnTo>
                <a:lnTo>
                  <a:pt x="103922" y="0"/>
                </a:lnTo>
                <a:close/>
              </a:path>
            </a:pathLst>
          </a:custGeom>
          <a:solidFill>
            <a:srgbClr val="E9EBEC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3782721" y="1920239"/>
            <a:ext cx="1487652" cy="1510221"/>
          </a:xfrm>
          <a:custGeom>
            <a:avLst/>
            <a:gdLst/>
            <a:ahLst/>
            <a:cxnLst/>
            <a:rect l="l" t="t" r="r" b="b"/>
            <a:pathLst>
              <a:path w="1487652" h="1510221">
                <a:moveTo>
                  <a:pt x="619666" y="1452835"/>
                </a:moveTo>
                <a:lnTo>
                  <a:pt x="590416" y="1435141"/>
                </a:lnTo>
                <a:lnTo>
                  <a:pt x="561842" y="1417686"/>
                </a:lnTo>
                <a:lnTo>
                  <a:pt x="510611" y="1421272"/>
                </a:lnTo>
                <a:lnTo>
                  <a:pt x="502834" y="1409795"/>
                </a:lnTo>
                <a:lnTo>
                  <a:pt x="492351" y="1408600"/>
                </a:lnTo>
                <a:lnTo>
                  <a:pt x="466313" y="1394731"/>
                </a:lnTo>
                <a:lnTo>
                  <a:pt x="448053" y="1394731"/>
                </a:lnTo>
                <a:lnTo>
                  <a:pt x="435880" y="1403100"/>
                </a:lnTo>
                <a:lnTo>
                  <a:pt x="430300" y="1413382"/>
                </a:lnTo>
                <a:lnTo>
                  <a:pt x="438247" y="1422229"/>
                </a:lnTo>
                <a:lnTo>
                  <a:pt x="455323" y="1420555"/>
                </a:lnTo>
                <a:lnTo>
                  <a:pt x="442474" y="1431793"/>
                </a:lnTo>
                <a:lnTo>
                  <a:pt x="434527" y="1436815"/>
                </a:lnTo>
                <a:lnTo>
                  <a:pt x="417619" y="1432989"/>
                </a:lnTo>
                <a:lnTo>
                  <a:pt x="395639" y="1432989"/>
                </a:lnTo>
                <a:lnTo>
                  <a:pt x="378055" y="1440401"/>
                </a:lnTo>
                <a:lnTo>
                  <a:pt x="349312" y="1443271"/>
                </a:lnTo>
                <a:lnTo>
                  <a:pt x="311101" y="1441597"/>
                </a:lnTo>
                <a:lnTo>
                  <a:pt x="297068" y="1436336"/>
                </a:lnTo>
                <a:lnTo>
                  <a:pt x="288445" y="1432989"/>
                </a:lnTo>
                <a:lnTo>
                  <a:pt x="282358" y="1417208"/>
                </a:lnTo>
                <a:lnTo>
                  <a:pt x="284218" y="1393057"/>
                </a:lnTo>
                <a:lnTo>
                  <a:pt x="293348" y="1361495"/>
                </a:lnTo>
                <a:lnTo>
                  <a:pt x="295884" y="1338301"/>
                </a:lnTo>
                <a:lnTo>
                  <a:pt x="291488" y="1323715"/>
                </a:lnTo>
                <a:lnTo>
                  <a:pt x="297068" y="1301478"/>
                </a:lnTo>
                <a:lnTo>
                  <a:pt x="312285" y="1271828"/>
                </a:lnTo>
                <a:lnTo>
                  <a:pt x="321922" y="1240744"/>
                </a:lnTo>
                <a:lnTo>
                  <a:pt x="327502" y="1208464"/>
                </a:lnTo>
                <a:lnTo>
                  <a:pt x="334772" y="1186944"/>
                </a:lnTo>
                <a:lnTo>
                  <a:pt x="348805" y="1171880"/>
                </a:lnTo>
                <a:lnTo>
                  <a:pt x="382790" y="1130275"/>
                </a:lnTo>
                <a:lnTo>
                  <a:pt x="384649" y="1106364"/>
                </a:lnTo>
                <a:lnTo>
                  <a:pt x="375519" y="1103495"/>
                </a:lnTo>
                <a:lnTo>
                  <a:pt x="362162" y="1097278"/>
                </a:lnTo>
                <a:lnTo>
                  <a:pt x="328009" y="1089626"/>
                </a:lnTo>
                <a:lnTo>
                  <a:pt x="296391" y="1085083"/>
                </a:lnTo>
                <a:lnTo>
                  <a:pt x="281851" y="1079345"/>
                </a:lnTo>
                <a:lnTo>
                  <a:pt x="269001" y="1063563"/>
                </a:lnTo>
                <a:lnTo>
                  <a:pt x="245838" y="1068824"/>
                </a:lnTo>
                <a:lnTo>
                  <a:pt x="226394" y="1072650"/>
                </a:lnTo>
                <a:lnTo>
                  <a:pt x="213037" y="1069302"/>
                </a:lnTo>
                <a:lnTo>
                  <a:pt x="199003" y="1073128"/>
                </a:lnTo>
                <a:lnTo>
                  <a:pt x="192917" y="1056868"/>
                </a:lnTo>
                <a:lnTo>
                  <a:pt x="174656" y="1050173"/>
                </a:lnTo>
                <a:lnTo>
                  <a:pt x="162483" y="1058064"/>
                </a:lnTo>
                <a:lnTo>
                  <a:pt x="155213" y="1063085"/>
                </a:lnTo>
                <a:lnTo>
                  <a:pt x="126639" y="1030327"/>
                </a:lnTo>
                <a:lnTo>
                  <a:pt x="121059" y="1023393"/>
                </a:lnTo>
                <a:lnTo>
                  <a:pt x="114465" y="1005459"/>
                </a:lnTo>
                <a:lnTo>
                  <a:pt x="101108" y="994221"/>
                </a:lnTo>
                <a:lnTo>
                  <a:pt x="88258" y="990396"/>
                </a:lnTo>
                <a:lnTo>
                  <a:pt x="82848" y="977244"/>
                </a:lnTo>
                <a:lnTo>
                  <a:pt x="87582" y="956442"/>
                </a:lnTo>
                <a:lnTo>
                  <a:pt x="92485" y="945682"/>
                </a:lnTo>
                <a:lnTo>
                  <a:pt x="99248" y="936835"/>
                </a:lnTo>
                <a:lnTo>
                  <a:pt x="105842" y="930618"/>
                </a:lnTo>
                <a:lnTo>
                  <a:pt x="107195" y="919619"/>
                </a:lnTo>
                <a:lnTo>
                  <a:pt x="106519" y="909098"/>
                </a:lnTo>
                <a:lnTo>
                  <a:pt x="78452" y="899534"/>
                </a:lnTo>
                <a:lnTo>
                  <a:pt x="66955" y="891165"/>
                </a:lnTo>
                <a:lnTo>
                  <a:pt x="58501" y="880883"/>
                </a:lnTo>
                <a:lnTo>
                  <a:pt x="47511" y="866775"/>
                </a:lnTo>
                <a:lnTo>
                  <a:pt x="42608" y="852668"/>
                </a:lnTo>
                <a:lnTo>
                  <a:pt x="41931" y="838082"/>
                </a:lnTo>
                <a:lnTo>
                  <a:pt x="44467" y="827322"/>
                </a:lnTo>
                <a:lnTo>
                  <a:pt x="53598" y="805324"/>
                </a:lnTo>
                <a:lnTo>
                  <a:pt x="85215" y="785000"/>
                </a:lnTo>
                <a:lnTo>
                  <a:pt x="82171" y="765154"/>
                </a:lnTo>
                <a:lnTo>
                  <a:pt x="81495" y="752720"/>
                </a:lnTo>
                <a:lnTo>
                  <a:pt x="73718" y="744829"/>
                </a:lnTo>
                <a:lnTo>
                  <a:pt x="58501" y="741482"/>
                </a:lnTo>
                <a:lnTo>
                  <a:pt x="52414" y="730243"/>
                </a:lnTo>
                <a:lnTo>
                  <a:pt x="63911" y="718288"/>
                </a:lnTo>
                <a:lnTo>
                  <a:pt x="49878" y="708245"/>
                </a:lnTo>
                <a:lnTo>
                  <a:pt x="43791" y="698203"/>
                </a:lnTo>
                <a:lnTo>
                  <a:pt x="25024" y="685769"/>
                </a:lnTo>
                <a:lnTo>
                  <a:pt x="32294" y="644403"/>
                </a:lnTo>
                <a:lnTo>
                  <a:pt x="25024" y="633404"/>
                </a:lnTo>
                <a:lnTo>
                  <a:pt x="16401" y="628143"/>
                </a:lnTo>
                <a:lnTo>
                  <a:pt x="6087" y="625513"/>
                </a:lnTo>
                <a:lnTo>
                  <a:pt x="0" y="614514"/>
                </a:lnTo>
                <a:lnTo>
                  <a:pt x="13357" y="611884"/>
                </a:lnTo>
                <a:lnTo>
                  <a:pt x="45651" y="586538"/>
                </a:lnTo>
                <a:lnTo>
                  <a:pt x="37704" y="578648"/>
                </a:lnTo>
                <a:lnTo>
                  <a:pt x="36521" y="567888"/>
                </a:lnTo>
                <a:lnTo>
                  <a:pt x="51738" y="536803"/>
                </a:lnTo>
                <a:lnTo>
                  <a:pt x="56641" y="523413"/>
                </a:lnTo>
                <a:lnTo>
                  <a:pt x="56641" y="504762"/>
                </a:lnTo>
                <a:lnTo>
                  <a:pt x="47511" y="490177"/>
                </a:lnTo>
                <a:lnTo>
                  <a:pt x="38888" y="478699"/>
                </a:lnTo>
                <a:lnTo>
                  <a:pt x="32801" y="464114"/>
                </a:lnTo>
                <a:lnTo>
                  <a:pt x="15217" y="439246"/>
                </a:lnTo>
                <a:lnTo>
                  <a:pt x="25024" y="422269"/>
                </a:lnTo>
                <a:lnTo>
                  <a:pt x="38888" y="417726"/>
                </a:lnTo>
                <a:lnTo>
                  <a:pt x="51738" y="411031"/>
                </a:lnTo>
                <a:lnTo>
                  <a:pt x="74225" y="417965"/>
                </a:lnTo>
                <a:lnTo>
                  <a:pt x="84031" y="424660"/>
                </a:lnTo>
                <a:lnTo>
                  <a:pt x="95529" y="416292"/>
                </a:lnTo>
                <a:lnTo>
                  <a:pt x="111422" y="417726"/>
                </a:lnTo>
                <a:lnTo>
                  <a:pt x="149126" y="403858"/>
                </a:lnTo>
                <a:lnTo>
                  <a:pt x="154536" y="397402"/>
                </a:lnTo>
                <a:lnTo>
                  <a:pt x="158932" y="390229"/>
                </a:lnTo>
                <a:lnTo>
                  <a:pt x="144899" y="373969"/>
                </a:lnTo>
                <a:lnTo>
                  <a:pt x="146082" y="363209"/>
                </a:lnTo>
                <a:lnTo>
                  <a:pt x="158932" y="355797"/>
                </a:lnTo>
                <a:lnTo>
                  <a:pt x="168570" y="350058"/>
                </a:lnTo>
                <a:lnTo>
                  <a:pt x="189366" y="333320"/>
                </a:lnTo>
                <a:lnTo>
                  <a:pt x="195960" y="318974"/>
                </a:lnTo>
                <a:lnTo>
                  <a:pt x="198496" y="303432"/>
                </a:lnTo>
                <a:lnTo>
                  <a:pt x="199003" y="291476"/>
                </a:lnTo>
                <a:lnTo>
                  <a:pt x="192917" y="282390"/>
                </a:lnTo>
                <a:lnTo>
                  <a:pt x="187506" y="276412"/>
                </a:lnTo>
                <a:lnTo>
                  <a:pt x="164343" y="276890"/>
                </a:lnTo>
                <a:lnTo>
                  <a:pt x="150309" y="271630"/>
                </a:lnTo>
                <a:lnTo>
                  <a:pt x="142363" y="263261"/>
                </a:lnTo>
                <a:lnTo>
                  <a:pt x="144223" y="251305"/>
                </a:lnTo>
                <a:lnTo>
                  <a:pt x="143039" y="239589"/>
                </a:lnTo>
                <a:lnTo>
                  <a:pt x="150309" y="230742"/>
                </a:lnTo>
                <a:lnTo>
                  <a:pt x="195453" y="231220"/>
                </a:lnTo>
                <a:lnTo>
                  <a:pt x="201540" y="204201"/>
                </a:lnTo>
                <a:lnTo>
                  <a:pt x="212360" y="170725"/>
                </a:lnTo>
                <a:lnTo>
                  <a:pt x="223350" y="151596"/>
                </a:lnTo>
                <a:lnTo>
                  <a:pt x="224534" y="98753"/>
                </a:lnTo>
                <a:lnTo>
                  <a:pt x="226394" y="76038"/>
                </a:lnTo>
                <a:lnTo>
                  <a:pt x="218447" y="65278"/>
                </a:lnTo>
                <a:lnTo>
                  <a:pt x="202047" y="53561"/>
                </a:lnTo>
                <a:lnTo>
                  <a:pt x="205766" y="29172"/>
                </a:lnTo>
                <a:lnTo>
                  <a:pt x="211177" y="10521"/>
                </a:lnTo>
                <a:lnTo>
                  <a:pt x="218466" y="0"/>
                </a:lnTo>
                <a:lnTo>
                  <a:pt x="379918" y="0"/>
                </a:lnTo>
                <a:lnTo>
                  <a:pt x="390229" y="13391"/>
                </a:lnTo>
                <a:lnTo>
                  <a:pt x="380423" y="31563"/>
                </a:lnTo>
                <a:lnTo>
                  <a:pt x="395639" y="39932"/>
                </a:lnTo>
                <a:lnTo>
                  <a:pt x="408996" y="21281"/>
                </a:lnTo>
                <a:lnTo>
                  <a:pt x="412716" y="3826"/>
                </a:lnTo>
                <a:lnTo>
                  <a:pt x="420642" y="0"/>
                </a:lnTo>
                <a:lnTo>
                  <a:pt x="438247" y="11717"/>
                </a:lnTo>
                <a:lnTo>
                  <a:pt x="445517" y="20325"/>
                </a:lnTo>
                <a:lnTo>
                  <a:pt x="445517" y="49018"/>
                </a:lnTo>
                <a:lnTo>
                  <a:pt x="452787" y="10521"/>
                </a:lnTo>
                <a:lnTo>
                  <a:pt x="450717" y="0"/>
                </a:lnTo>
                <a:lnTo>
                  <a:pt x="629979" y="0"/>
                </a:lnTo>
                <a:lnTo>
                  <a:pt x="644520" y="8369"/>
                </a:lnTo>
                <a:lnTo>
                  <a:pt x="663457" y="10760"/>
                </a:lnTo>
                <a:lnTo>
                  <a:pt x="637926" y="0"/>
                </a:lnTo>
                <a:lnTo>
                  <a:pt x="1424868" y="0"/>
                </a:lnTo>
                <a:lnTo>
                  <a:pt x="1426837" y="10521"/>
                </a:lnTo>
                <a:lnTo>
                  <a:pt x="1446788" y="75559"/>
                </a:lnTo>
                <a:lnTo>
                  <a:pt x="1446281" y="91819"/>
                </a:lnTo>
                <a:lnTo>
                  <a:pt x="1439011" y="118360"/>
                </a:lnTo>
                <a:lnTo>
                  <a:pt x="1426161" y="137011"/>
                </a:lnTo>
                <a:lnTo>
                  <a:pt x="1409084" y="147771"/>
                </a:lnTo>
                <a:lnTo>
                  <a:pt x="1399954" y="159487"/>
                </a:lnTo>
                <a:lnTo>
                  <a:pt x="1398094" y="172638"/>
                </a:lnTo>
                <a:lnTo>
                  <a:pt x="1419398" y="195593"/>
                </a:lnTo>
                <a:lnTo>
                  <a:pt x="1463358" y="228351"/>
                </a:lnTo>
                <a:lnTo>
                  <a:pt x="1480942" y="256088"/>
                </a:lnTo>
                <a:lnTo>
                  <a:pt x="1472995" y="279520"/>
                </a:lnTo>
                <a:lnTo>
                  <a:pt x="1469952" y="296497"/>
                </a:lnTo>
                <a:lnTo>
                  <a:pt x="1473671" y="307736"/>
                </a:lnTo>
                <a:lnTo>
                  <a:pt x="1480265" y="316343"/>
                </a:lnTo>
                <a:lnTo>
                  <a:pt x="1487652" y="320522"/>
                </a:lnTo>
                <a:lnTo>
                  <a:pt x="1487652" y="409499"/>
                </a:lnTo>
                <a:lnTo>
                  <a:pt x="1477898" y="422748"/>
                </a:lnTo>
                <a:lnTo>
                  <a:pt x="1482125" y="437572"/>
                </a:lnTo>
                <a:lnTo>
                  <a:pt x="1487652" y="447139"/>
                </a:lnTo>
                <a:lnTo>
                  <a:pt x="1487652" y="661581"/>
                </a:lnTo>
                <a:lnTo>
                  <a:pt x="1480265" y="656358"/>
                </a:lnTo>
                <a:lnTo>
                  <a:pt x="1482125" y="642251"/>
                </a:lnTo>
                <a:lnTo>
                  <a:pt x="1471135" y="632686"/>
                </a:lnTo>
                <a:lnTo>
                  <a:pt x="1468768" y="623122"/>
                </a:lnTo>
                <a:lnTo>
                  <a:pt x="1438334" y="615231"/>
                </a:lnTo>
                <a:lnTo>
                  <a:pt x="1424301" y="614753"/>
                </a:lnTo>
                <a:lnTo>
                  <a:pt x="1419398" y="620970"/>
                </a:lnTo>
                <a:lnTo>
                  <a:pt x="1427344" y="633165"/>
                </a:lnTo>
                <a:lnTo>
                  <a:pt x="1440194" y="642251"/>
                </a:lnTo>
                <a:lnTo>
                  <a:pt x="1410268" y="654685"/>
                </a:lnTo>
                <a:lnTo>
                  <a:pt x="1392684" y="664249"/>
                </a:lnTo>
                <a:lnTo>
                  <a:pt x="1376283" y="669270"/>
                </a:lnTo>
                <a:lnTo>
                  <a:pt x="1359207" y="678835"/>
                </a:lnTo>
                <a:lnTo>
                  <a:pt x="1325729" y="689595"/>
                </a:lnTo>
                <a:lnTo>
                  <a:pt x="1301382" y="692464"/>
                </a:lnTo>
                <a:lnTo>
                  <a:pt x="1287349" y="713267"/>
                </a:lnTo>
                <a:lnTo>
                  <a:pt x="1275176" y="715180"/>
                </a:lnTo>
                <a:lnTo>
                  <a:pt x="1264862" y="714462"/>
                </a:lnTo>
                <a:lnTo>
                  <a:pt x="1259451" y="720679"/>
                </a:lnTo>
                <a:lnTo>
                  <a:pt x="1247785" y="722831"/>
                </a:lnTo>
                <a:lnTo>
                  <a:pt x="1238148" y="738851"/>
                </a:lnTo>
                <a:lnTo>
                  <a:pt x="1210081" y="743395"/>
                </a:lnTo>
                <a:lnTo>
                  <a:pt x="1207038" y="751763"/>
                </a:lnTo>
                <a:lnTo>
                  <a:pt x="1201627" y="761328"/>
                </a:lnTo>
                <a:lnTo>
                  <a:pt x="1185058" y="759654"/>
                </a:lnTo>
                <a:lnTo>
                  <a:pt x="1167474" y="757502"/>
                </a:lnTo>
                <a:lnTo>
                  <a:pt x="1157667" y="763002"/>
                </a:lnTo>
                <a:lnTo>
                  <a:pt x="1145494" y="765871"/>
                </a:lnTo>
                <a:lnTo>
                  <a:pt x="1130953" y="766827"/>
                </a:lnTo>
                <a:lnTo>
                  <a:pt x="1115060" y="777109"/>
                </a:lnTo>
                <a:lnTo>
                  <a:pt x="1098660" y="795282"/>
                </a:lnTo>
                <a:lnTo>
                  <a:pt x="1090206" y="811541"/>
                </a:lnTo>
                <a:lnTo>
                  <a:pt x="1077356" y="802455"/>
                </a:lnTo>
                <a:lnTo>
                  <a:pt x="1067719" y="791695"/>
                </a:lnTo>
                <a:lnTo>
                  <a:pt x="1060956" y="786195"/>
                </a:lnTo>
                <a:lnTo>
                  <a:pt x="1053685" y="796716"/>
                </a:lnTo>
                <a:lnTo>
                  <a:pt x="1059772" y="809867"/>
                </a:lnTo>
                <a:lnTo>
                  <a:pt x="1067719" y="818714"/>
                </a:lnTo>
                <a:lnTo>
                  <a:pt x="1073805" y="837365"/>
                </a:lnTo>
                <a:lnTo>
                  <a:pt x="1085303" y="850516"/>
                </a:lnTo>
                <a:lnTo>
                  <a:pt x="1103563" y="861037"/>
                </a:lnTo>
                <a:lnTo>
                  <a:pt x="1115736" y="871319"/>
                </a:lnTo>
                <a:lnTo>
                  <a:pt x="1124867" y="885904"/>
                </a:lnTo>
                <a:lnTo>
                  <a:pt x="1122499" y="895947"/>
                </a:lnTo>
                <a:lnTo>
                  <a:pt x="1114553" y="908620"/>
                </a:lnTo>
                <a:lnTo>
                  <a:pt x="1104239" y="923206"/>
                </a:lnTo>
                <a:lnTo>
                  <a:pt x="1115736" y="937313"/>
                </a:lnTo>
                <a:lnTo>
                  <a:pt x="1123007" y="946877"/>
                </a:lnTo>
                <a:lnTo>
                  <a:pt x="1132137" y="962181"/>
                </a:lnTo>
                <a:lnTo>
                  <a:pt x="1144987" y="989678"/>
                </a:lnTo>
                <a:lnTo>
                  <a:pt x="1153440" y="1000916"/>
                </a:lnTo>
                <a:lnTo>
                  <a:pt x="1165107" y="1012394"/>
                </a:lnTo>
                <a:lnTo>
                  <a:pt x="1175928" y="1021241"/>
                </a:lnTo>
                <a:lnTo>
                  <a:pt x="1193004" y="1020763"/>
                </a:lnTo>
                <a:lnTo>
                  <a:pt x="1211265" y="1037739"/>
                </a:lnTo>
                <a:lnTo>
                  <a:pt x="1231385" y="1061890"/>
                </a:lnTo>
                <a:lnTo>
                  <a:pt x="1245925" y="1073128"/>
                </a:lnTo>
                <a:lnTo>
                  <a:pt x="1256408" y="1076475"/>
                </a:lnTo>
                <a:lnTo>
                  <a:pt x="1264862" y="1085561"/>
                </a:lnTo>
                <a:lnTo>
                  <a:pt x="1272132" y="1097995"/>
                </a:lnTo>
                <a:lnTo>
                  <a:pt x="1281939" y="1110429"/>
                </a:lnTo>
                <a:lnTo>
                  <a:pt x="1300199" y="1109712"/>
                </a:lnTo>
                <a:lnTo>
                  <a:pt x="1323362" y="1129558"/>
                </a:lnTo>
                <a:lnTo>
                  <a:pt x="1337227" y="1144144"/>
                </a:lnTo>
                <a:lnTo>
                  <a:pt x="1345173" y="1155621"/>
                </a:lnTo>
                <a:lnTo>
                  <a:pt x="1342130" y="1174750"/>
                </a:lnTo>
                <a:lnTo>
                  <a:pt x="1342130" y="1190531"/>
                </a:lnTo>
                <a:lnTo>
                  <a:pt x="1329956" y="1209182"/>
                </a:lnTo>
                <a:lnTo>
                  <a:pt x="1321503" y="1213725"/>
                </a:lnTo>
                <a:lnTo>
                  <a:pt x="1289885" y="1199617"/>
                </a:lnTo>
                <a:lnTo>
                  <a:pt x="1276359" y="1245048"/>
                </a:lnTo>
                <a:lnTo>
                  <a:pt x="1270949" y="1252460"/>
                </a:lnTo>
                <a:lnTo>
                  <a:pt x="1261819" y="1259873"/>
                </a:lnTo>
                <a:lnTo>
                  <a:pt x="1243558" y="1267046"/>
                </a:lnTo>
                <a:lnTo>
                  <a:pt x="1231385" y="1269916"/>
                </a:lnTo>
                <a:lnTo>
                  <a:pt x="1221071" y="1273263"/>
                </a:lnTo>
                <a:lnTo>
                  <a:pt x="1189961" y="1290240"/>
                </a:lnTo>
                <a:lnTo>
                  <a:pt x="1175928" y="1300522"/>
                </a:lnTo>
                <a:lnTo>
                  <a:pt x="1166798" y="1313434"/>
                </a:lnTo>
                <a:lnTo>
                  <a:pt x="1182014" y="1342605"/>
                </a:lnTo>
                <a:lnTo>
                  <a:pt x="1199767" y="1365321"/>
                </a:lnTo>
                <a:lnTo>
                  <a:pt x="1199767" y="1384928"/>
                </a:lnTo>
                <a:lnTo>
                  <a:pt x="1191821" y="1399752"/>
                </a:lnTo>
                <a:lnTo>
                  <a:pt x="1195541" y="1407643"/>
                </a:lnTo>
                <a:lnTo>
                  <a:pt x="1213125" y="1410991"/>
                </a:lnTo>
                <a:lnTo>
                  <a:pt x="1216844" y="1421272"/>
                </a:lnTo>
                <a:lnTo>
                  <a:pt x="1215492" y="1439684"/>
                </a:lnTo>
                <a:lnTo>
                  <a:pt x="1212448" y="1456661"/>
                </a:lnTo>
                <a:lnTo>
                  <a:pt x="1202135" y="1464551"/>
                </a:lnTo>
                <a:lnTo>
                  <a:pt x="1186918" y="1457139"/>
                </a:lnTo>
                <a:lnTo>
                  <a:pt x="1175420" y="1448292"/>
                </a:lnTo>
                <a:lnTo>
                  <a:pt x="1170517" y="1437054"/>
                </a:lnTo>
                <a:lnTo>
                  <a:pt x="1168657" y="1425098"/>
                </a:lnTo>
                <a:lnTo>
                  <a:pt x="1154117" y="1417925"/>
                </a:lnTo>
                <a:lnTo>
                  <a:pt x="1138900" y="1421272"/>
                </a:lnTo>
                <a:lnTo>
                  <a:pt x="1127234" y="1425815"/>
                </a:lnTo>
                <a:lnTo>
                  <a:pt x="1112017" y="1418881"/>
                </a:lnTo>
                <a:lnTo>
                  <a:pt x="1099843" y="1413382"/>
                </a:lnTo>
                <a:lnTo>
                  <a:pt x="1083443" y="1410034"/>
                </a:lnTo>
                <a:lnTo>
                  <a:pt x="1073805" y="1406448"/>
                </a:lnTo>
                <a:lnTo>
                  <a:pt x="1072453" y="1423424"/>
                </a:lnTo>
                <a:lnTo>
                  <a:pt x="990282" y="1438727"/>
                </a:lnTo>
                <a:lnTo>
                  <a:pt x="965935" y="1446618"/>
                </a:lnTo>
                <a:lnTo>
                  <a:pt x="949027" y="1457139"/>
                </a:lnTo>
                <a:lnTo>
                  <a:pt x="935501" y="1461682"/>
                </a:lnTo>
                <a:lnTo>
                  <a:pt x="919777" y="1476507"/>
                </a:lnTo>
                <a:lnTo>
                  <a:pt x="905067" y="1479137"/>
                </a:lnTo>
                <a:lnTo>
                  <a:pt x="892386" y="1480333"/>
                </a:lnTo>
                <a:lnTo>
                  <a:pt x="876493" y="1483919"/>
                </a:lnTo>
                <a:lnTo>
                  <a:pt x="866179" y="1482724"/>
                </a:lnTo>
                <a:lnTo>
                  <a:pt x="861276" y="1476029"/>
                </a:lnTo>
                <a:lnTo>
                  <a:pt x="851639" y="1465747"/>
                </a:lnTo>
                <a:lnTo>
                  <a:pt x="847243" y="1458334"/>
                </a:lnTo>
                <a:lnTo>
                  <a:pt x="825432" y="1452835"/>
                </a:lnTo>
                <a:lnTo>
                  <a:pt x="811399" y="1447096"/>
                </a:lnTo>
                <a:lnTo>
                  <a:pt x="781641" y="1448770"/>
                </a:lnTo>
                <a:lnTo>
                  <a:pt x="768115" y="1478181"/>
                </a:lnTo>
                <a:lnTo>
                  <a:pt x="762705" y="1490614"/>
                </a:lnTo>
                <a:lnTo>
                  <a:pt x="752898" y="1503048"/>
                </a:lnTo>
                <a:lnTo>
                  <a:pt x="740725" y="1510221"/>
                </a:lnTo>
                <a:lnTo>
                  <a:pt x="731594" y="1502331"/>
                </a:lnTo>
                <a:lnTo>
                  <a:pt x="734131" y="1491093"/>
                </a:lnTo>
                <a:lnTo>
                  <a:pt x="716378" y="1487267"/>
                </a:lnTo>
                <a:lnTo>
                  <a:pt x="712827" y="1475790"/>
                </a:lnTo>
                <a:lnTo>
                  <a:pt x="706064" y="1465030"/>
                </a:lnTo>
                <a:lnTo>
                  <a:pt x="695074" y="1457378"/>
                </a:lnTo>
                <a:lnTo>
                  <a:pt x="673263" y="1446379"/>
                </a:lnTo>
                <a:lnTo>
                  <a:pt x="658046" y="1440401"/>
                </a:lnTo>
                <a:lnTo>
                  <a:pt x="651959" y="1446379"/>
                </a:lnTo>
                <a:lnTo>
                  <a:pt x="640969" y="1452596"/>
                </a:lnTo>
                <a:lnTo>
                  <a:pt x="623893" y="1450444"/>
                </a:lnTo>
                <a:close/>
              </a:path>
            </a:pathLst>
          </a:custGeom>
          <a:solidFill>
            <a:srgbClr val="E9EBEC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4240411" y="4450744"/>
            <a:ext cx="167386" cy="390228"/>
          </a:xfrm>
          <a:custGeom>
            <a:avLst/>
            <a:gdLst/>
            <a:ahLst/>
            <a:cxnLst/>
            <a:rect l="l" t="t" r="r" b="b"/>
            <a:pathLst>
              <a:path w="167386" h="390228">
                <a:moveTo>
                  <a:pt x="154706" y="50692"/>
                </a:moveTo>
                <a:lnTo>
                  <a:pt x="150310" y="85602"/>
                </a:lnTo>
                <a:lnTo>
                  <a:pt x="153353" y="95884"/>
                </a:lnTo>
                <a:lnTo>
                  <a:pt x="159440" y="103296"/>
                </a:lnTo>
                <a:lnTo>
                  <a:pt x="167386" y="204679"/>
                </a:lnTo>
                <a:lnTo>
                  <a:pt x="145575" y="249871"/>
                </a:lnTo>
                <a:lnTo>
                  <a:pt x="141179" y="260631"/>
                </a:lnTo>
                <a:lnTo>
                  <a:pt x="139996" y="307496"/>
                </a:lnTo>
                <a:lnTo>
                  <a:pt x="136445" y="319930"/>
                </a:lnTo>
                <a:lnTo>
                  <a:pt x="129006" y="332364"/>
                </a:lnTo>
                <a:lnTo>
                  <a:pt x="116325" y="372295"/>
                </a:lnTo>
                <a:lnTo>
                  <a:pt x="104659" y="390228"/>
                </a:lnTo>
                <a:lnTo>
                  <a:pt x="73718" y="368230"/>
                </a:lnTo>
                <a:lnTo>
                  <a:pt x="55458" y="359144"/>
                </a:lnTo>
                <a:lnTo>
                  <a:pt x="46835" y="348623"/>
                </a:lnTo>
                <a:lnTo>
                  <a:pt x="40748" y="341689"/>
                </a:lnTo>
                <a:lnTo>
                  <a:pt x="44468" y="332125"/>
                </a:lnTo>
                <a:lnTo>
                  <a:pt x="52921" y="322560"/>
                </a:lnTo>
                <a:lnTo>
                  <a:pt x="34661" y="305822"/>
                </a:lnTo>
                <a:lnTo>
                  <a:pt x="25531" y="300084"/>
                </a:lnTo>
                <a:lnTo>
                  <a:pt x="32294" y="274260"/>
                </a:lnTo>
                <a:lnTo>
                  <a:pt x="29251" y="261109"/>
                </a:lnTo>
                <a:lnTo>
                  <a:pt x="18261" y="261826"/>
                </a:lnTo>
                <a:lnTo>
                  <a:pt x="9131" y="259913"/>
                </a:lnTo>
                <a:lnTo>
                  <a:pt x="14710" y="244132"/>
                </a:lnTo>
                <a:lnTo>
                  <a:pt x="23164" y="232894"/>
                </a:lnTo>
                <a:lnTo>
                  <a:pt x="22488" y="220460"/>
                </a:lnTo>
                <a:lnTo>
                  <a:pt x="12850" y="214960"/>
                </a:lnTo>
                <a:lnTo>
                  <a:pt x="3720" y="204679"/>
                </a:lnTo>
                <a:lnTo>
                  <a:pt x="0" y="191049"/>
                </a:lnTo>
                <a:lnTo>
                  <a:pt x="7271" y="181485"/>
                </a:lnTo>
                <a:lnTo>
                  <a:pt x="18261" y="175268"/>
                </a:lnTo>
                <a:lnTo>
                  <a:pt x="10314" y="161161"/>
                </a:lnTo>
                <a:lnTo>
                  <a:pt x="0" y="157813"/>
                </a:lnTo>
                <a:lnTo>
                  <a:pt x="12174" y="141075"/>
                </a:lnTo>
                <a:lnTo>
                  <a:pt x="25024" y="111665"/>
                </a:lnTo>
                <a:lnTo>
                  <a:pt x="42101" y="98036"/>
                </a:lnTo>
                <a:lnTo>
                  <a:pt x="72534" y="88710"/>
                </a:lnTo>
                <a:lnTo>
                  <a:pt x="80988" y="85124"/>
                </a:lnTo>
                <a:lnTo>
                  <a:pt x="88258" y="74603"/>
                </a:lnTo>
                <a:lnTo>
                  <a:pt x="96881" y="68147"/>
                </a:lnTo>
                <a:lnTo>
                  <a:pt x="116325" y="72690"/>
                </a:lnTo>
                <a:lnTo>
                  <a:pt x="130359" y="59778"/>
                </a:lnTo>
                <a:lnTo>
                  <a:pt x="127822" y="48540"/>
                </a:lnTo>
                <a:lnTo>
                  <a:pt x="129006" y="17455"/>
                </a:lnTo>
                <a:lnTo>
                  <a:pt x="134585" y="0"/>
                </a:lnTo>
                <a:lnTo>
                  <a:pt x="151662" y="8608"/>
                </a:lnTo>
                <a:lnTo>
                  <a:pt x="154029" y="37301"/>
                </a:lnTo>
                <a:lnTo>
                  <a:pt x="154706" y="50692"/>
                </a:lnTo>
                <a:close/>
              </a:path>
            </a:pathLst>
          </a:custGeom>
          <a:solidFill>
            <a:srgbClr val="E9EBEC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1987128" y="2518972"/>
            <a:ext cx="2181426" cy="2093650"/>
          </a:xfrm>
          <a:custGeom>
            <a:avLst/>
            <a:gdLst/>
            <a:ahLst/>
            <a:cxnLst/>
            <a:rect l="l" t="t" r="r" b="b"/>
            <a:pathLst>
              <a:path w="2181426" h="2093650">
                <a:moveTo>
                  <a:pt x="2092661" y="837603"/>
                </a:moveTo>
                <a:lnTo>
                  <a:pt x="2071864" y="848363"/>
                </a:lnTo>
                <a:lnTo>
                  <a:pt x="2067637" y="857928"/>
                </a:lnTo>
                <a:lnTo>
                  <a:pt x="2059691" y="870361"/>
                </a:lnTo>
                <a:lnTo>
                  <a:pt x="2046334" y="875861"/>
                </a:lnTo>
                <a:lnTo>
                  <a:pt x="2033653" y="877296"/>
                </a:lnTo>
                <a:lnTo>
                  <a:pt x="2022663" y="875861"/>
                </a:lnTo>
                <a:lnTo>
                  <a:pt x="2016576" y="870840"/>
                </a:lnTo>
                <a:lnTo>
                  <a:pt x="2011673" y="862471"/>
                </a:lnTo>
                <a:lnTo>
                  <a:pt x="1997640" y="862471"/>
                </a:lnTo>
                <a:lnTo>
                  <a:pt x="1983099" y="871079"/>
                </a:lnTo>
                <a:lnTo>
                  <a:pt x="1971433" y="885186"/>
                </a:lnTo>
                <a:lnTo>
                  <a:pt x="1975153" y="893077"/>
                </a:lnTo>
                <a:lnTo>
                  <a:pt x="1986143" y="895229"/>
                </a:lnTo>
                <a:lnTo>
                  <a:pt x="1984959" y="907184"/>
                </a:lnTo>
                <a:lnTo>
                  <a:pt x="1980563" y="915553"/>
                </a:lnTo>
                <a:lnTo>
                  <a:pt x="1958076" y="940421"/>
                </a:lnTo>
                <a:lnTo>
                  <a:pt x="1935589" y="965527"/>
                </a:lnTo>
                <a:lnTo>
                  <a:pt x="1931869" y="972940"/>
                </a:lnTo>
                <a:lnTo>
                  <a:pt x="1925275" y="978200"/>
                </a:lnTo>
                <a:lnTo>
                  <a:pt x="1896701" y="991590"/>
                </a:lnTo>
                <a:lnTo>
                  <a:pt x="1891798" y="1019327"/>
                </a:lnTo>
                <a:lnTo>
                  <a:pt x="1888754" y="1037978"/>
                </a:lnTo>
                <a:lnTo>
                  <a:pt x="1867451" y="1055194"/>
                </a:lnTo>
                <a:lnTo>
                  <a:pt x="1846654" y="1072410"/>
                </a:lnTo>
                <a:lnTo>
                  <a:pt x="1841244" y="1082931"/>
                </a:lnTo>
                <a:lnTo>
                  <a:pt x="1837524" y="1094886"/>
                </a:lnTo>
                <a:lnTo>
                  <a:pt x="1830930" y="1108994"/>
                </a:lnTo>
                <a:lnTo>
                  <a:pt x="1840060" y="1128122"/>
                </a:lnTo>
                <a:lnTo>
                  <a:pt x="1835834" y="1151794"/>
                </a:lnTo>
                <a:lnTo>
                  <a:pt x="1825351" y="1161837"/>
                </a:lnTo>
                <a:lnTo>
                  <a:pt x="1814530" y="1167097"/>
                </a:lnTo>
                <a:lnTo>
                  <a:pt x="1814530" y="1182400"/>
                </a:lnTo>
                <a:lnTo>
                  <a:pt x="1833974" y="1183357"/>
                </a:lnTo>
                <a:lnTo>
                  <a:pt x="1853417" y="1172597"/>
                </a:lnTo>
                <a:lnTo>
                  <a:pt x="1865591" y="1158011"/>
                </a:lnTo>
                <a:lnTo>
                  <a:pt x="1858321" y="1144621"/>
                </a:lnTo>
                <a:lnTo>
                  <a:pt x="1874045" y="1124297"/>
                </a:lnTo>
                <a:lnTo>
                  <a:pt x="1891798" y="1115689"/>
                </a:lnTo>
                <a:lnTo>
                  <a:pt x="1917328" y="1114015"/>
                </a:lnTo>
                <a:lnTo>
                  <a:pt x="1947762" y="1119036"/>
                </a:lnTo>
                <a:lnTo>
                  <a:pt x="1948946" y="1130274"/>
                </a:lnTo>
                <a:lnTo>
                  <a:pt x="1951989" y="1143425"/>
                </a:lnTo>
                <a:lnTo>
                  <a:pt x="1957569" y="1152512"/>
                </a:lnTo>
                <a:lnTo>
                  <a:pt x="1950129" y="1179292"/>
                </a:lnTo>
                <a:lnTo>
                  <a:pt x="1955709" y="1187183"/>
                </a:lnTo>
                <a:lnTo>
                  <a:pt x="1964163" y="1196986"/>
                </a:lnTo>
                <a:lnTo>
                  <a:pt x="1970926" y="1206072"/>
                </a:lnTo>
                <a:lnTo>
                  <a:pt x="1980563" y="1214441"/>
                </a:lnTo>
                <a:lnTo>
                  <a:pt x="1989186" y="1228071"/>
                </a:lnTo>
                <a:lnTo>
                  <a:pt x="1978196" y="1250069"/>
                </a:lnTo>
                <a:lnTo>
                  <a:pt x="1955709" y="1262981"/>
                </a:lnTo>
                <a:lnTo>
                  <a:pt x="1953173" y="1280436"/>
                </a:lnTo>
                <a:lnTo>
                  <a:pt x="1968390" y="1297413"/>
                </a:lnTo>
                <a:lnTo>
                  <a:pt x="1981916" y="1318693"/>
                </a:lnTo>
                <a:lnTo>
                  <a:pt x="1991046" y="1337822"/>
                </a:lnTo>
                <a:lnTo>
                  <a:pt x="2009813" y="1356473"/>
                </a:lnTo>
                <a:lnTo>
                  <a:pt x="2013533" y="1366515"/>
                </a:lnTo>
                <a:lnTo>
                  <a:pt x="2007953" y="1374167"/>
                </a:lnTo>
                <a:lnTo>
                  <a:pt x="2001867" y="1400469"/>
                </a:lnTo>
                <a:lnTo>
                  <a:pt x="1994089" y="1404534"/>
                </a:lnTo>
                <a:lnTo>
                  <a:pt x="1961796" y="1425337"/>
                </a:lnTo>
                <a:lnTo>
                  <a:pt x="1951482" y="1422945"/>
                </a:lnTo>
                <a:lnTo>
                  <a:pt x="1936265" y="1423185"/>
                </a:lnTo>
                <a:lnTo>
                  <a:pt x="1925782" y="1429401"/>
                </a:lnTo>
                <a:lnTo>
                  <a:pt x="1926459" y="1441118"/>
                </a:lnTo>
                <a:lnTo>
                  <a:pt x="1936265" y="1452356"/>
                </a:lnTo>
                <a:lnTo>
                  <a:pt x="1941675" y="1463833"/>
                </a:lnTo>
                <a:lnTo>
                  <a:pt x="1944042" y="1476506"/>
                </a:lnTo>
                <a:lnTo>
                  <a:pt x="1955032" y="1485592"/>
                </a:lnTo>
                <a:lnTo>
                  <a:pt x="1969742" y="1490853"/>
                </a:lnTo>
                <a:lnTo>
                  <a:pt x="1983606" y="1494679"/>
                </a:lnTo>
                <a:lnTo>
                  <a:pt x="1993413" y="1525285"/>
                </a:lnTo>
                <a:lnTo>
                  <a:pt x="1981916" y="1534849"/>
                </a:lnTo>
                <a:lnTo>
                  <a:pt x="1977012" y="1545609"/>
                </a:lnTo>
                <a:lnTo>
                  <a:pt x="1967206" y="1561869"/>
                </a:lnTo>
                <a:lnTo>
                  <a:pt x="1961796" y="1574781"/>
                </a:lnTo>
                <a:lnTo>
                  <a:pt x="1967882" y="1586019"/>
                </a:lnTo>
                <a:lnTo>
                  <a:pt x="1967206" y="1602996"/>
                </a:lnTo>
                <a:lnTo>
                  <a:pt x="1971433" y="1616386"/>
                </a:lnTo>
                <a:lnTo>
                  <a:pt x="1983099" y="1629537"/>
                </a:lnTo>
                <a:lnTo>
                  <a:pt x="2013533" y="1648666"/>
                </a:lnTo>
                <a:lnTo>
                  <a:pt x="2042107" y="1663490"/>
                </a:lnTo>
                <a:lnTo>
                  <a:pt x="2051237" y="1666121"/>
                </a:lnTo>
                <a:lnTo>
                  <a:pt x="2089617" y="1656556"/>
                </a:lnTo>
                <a:lnTo>
                  <a:pt x="2101115" y="1668990"/>
                </a:lnTo>
                <a:lnTo>
                  <a:pt x="2098748" y="1688597"/>
                </a:lnTo>
                <a:lnTo>
                  <a:pt x="2088434" y="1705096"/>
                </a:lnTo>
                <a:lnTo>
                  <a:pt x="2076768" y="1718008"/>
                </a:lnTo>
                <a:lnTo>
                  <a:pt x="2070174" y="1729246"/>
                </a:lnTo>
                <a:lnTo>
                  <a:pt x="2071357" y="1739049"/>
                </a:lnTo>
                <a:lnTo>
                  <a:pt x="2071864" y="1752440"/>
                </a:lnTo>
                <a:lnTo>
                  <a:pt x="2062734" y="1756504"/>
                </a:lnTo>
                <a:lnTo>
                  <a:pt x="2052421" y="1760808"/>
                </a:lnTo>
                <a:lnTo>
                  <a:pt x="2032977" y="1769416"/>
                </a:lnTo>
                <a:lnTo>
                  <a:pt x="2018943" y="1778263"/>
                </a:lnTo>
                <a:lnTo>
                  <a:pt x="1965346" y="1830868"/>
                </a:lnTo>
                <a:lnTo>
                  <a:pt x="1940492" y="1846649"/>
                </a:lnTo>
                <a:lnTo>
                  <a:pt x="1935589" y="1855735"/>
                </a:lnTo>
                <a:lnTo>
                  <a:pt x="1930685" y="1873190"/>
                </a:lnTo>
                <a:lnTo>
                  <a:pt x="1916145" y="1888254"/>
                </a:lnTo>
                <a:lnTo>
                  <a:pt x="1902788" y="1895188"/>
                </a:lnTo>
                <a:lnTo>
                  <a:pt x="1871001" y="1902601"/>
                </a:lnTo>
                <a:lnTo>
                  <a:pt x="1838877" y="1918382"/>
                </a:lnTo>
                <a:lnTo>
                  <a:pt x="1824844" y="1911926"/>
                </a:lnTo>
                <a:lnTo>
                  <a:pt x="1787139" y="1912165"/>
                </a:lnTo>
                <a:lnTo>
                  <a:pt x="1763976" y="1893036"/>
                </a:lnTo>
                <a:lnTo>
                  <a:pt x="1718833" y="1881081"/>
                </a:lnTo>
                <a:lnTo>
                  <a:pt x="1704292" y="1853344"/>
                </a:lnTo>
                <a:lnTo>
                  <a:pt x="1684172" y="1851670"/>
                </a:lnTo>
                <a:lnTo>
                  <a:pt x="1670815" y="1852388"/>
                </a:lnTo>
                <a:lnTo>
                  <a:pt x="1662868" y="1848323"/>
                </a:lnTo>
                <a:lnTo>
                  <a:pt x="1660501" y="1838758"/>
                </a:lnTo>
                <a:lnTo>
                  <a:pt x="1646468" y="1833737"/>
                </a:lnTo>
                <a:lnTo>
                  <a:pt x="1635478" y="1833737"/>
                </a:lnTo>
                <a:lnTo>
                  <a:pt x="1623981" y="1841628"/>
                </a:lnTo>
                <a:lnTo>
                  <a:pt x="1614174" y="1839954"/>
                </a:lnTo>
                <a:lnTo>
                  <a:pt x="1601493" y="1846649"/>
                </a:lnTo>
                <a:lnTo>
                  <a:pt x="1587460" y="1843301"/>
                </a:lnTo>
                <a:lnTo>
                  <a:pt x="1550263" y="1828716"/>
                </a:lnTo>
                <a:lnTo>
                  <a:pt x="1519322" y="1821303"/>
                </a:lnTo>
                <a:lnTo>
                  <a:pt x="1508839" y="1815565"/>
                </a:lnTo>
                <a:lnTo>
                  <a:pt x="1500386" y="1800979"/>
                </a:lnTo>
                <a:lnTo>
                  <a:pt x="1490072" y="1794045"/>
                </a:lnTo>
                <a:lnTo>
                  <a:pt x="1466232" y="1800979"/>
                </a:lnTo>
                <a:lnTo>
                  <a:pt x="1457778" y="1812217"/>
                </a:lnTo>
                <a:lnTo>
                  <a:pt x="1444929" y="1825607"/>
                </a:lnTo>
                <a:lnTo>
                  <a:pt x="1356163" y="1889928"/>
                </a:lnTo>
                <a:lnTo>
                  <a:pt x="1339763" y="1916469"/>
                </a:lnTo>
                <a:lnTo>
                  <a:pt x="1320826" y="1956162"/>
                </a:lnTo>
                <a:lnTo>
                  <a:pt x="1319643" y="1974573"/>
                </a:lnTo>
                <a:lnTo>
                  <a:pt x="1327589" y="2033394"/>
                </a:lnTo>
                <a:lnTo>
                  <a:pt x="1345850" y="2064479"/>
                </a:lnTo>
                <a:lnTo>
                  <a:pt x="1337903" y="2072130"/>
                </a:lnTo>
                <a:lnTo>
                  <a:pt x="1320826" y="2067826"/>
                </a:lnTo>
                <a:lnTo>
                  <a:pt x="1306793" y="2063283"/>
                </a:lnTo>
                <a:lnTo>
                  <a:pt x="1294112" y="2065913"/>
                </a:lnTo>
                <a:lnTo>
                  <a:pt x="1281262" y="2072369"/>
                </a:lnTo>
                <a:lnTo>
                  <a:pt x="1269765" y="2076195"/>
                </a:lnTo>
                <a:lnTo>
                  <a:pt x="1256239" y="2080738"/>
                </a:lnTo>
                <a:lnTo>
                  <a:pt x="1253196" y="2093650"/>
                </a:lnTo>
                <a:lnTo>
                  <a:pt x="1239331" y="2092454"/>
                </a:lnTo>
                <a:lnTo>
                  <a:pt x="1206362" y="2081694"/>
                </a:lnTo>
                <a:lnTo>
                  <a:pt x="1177111" y="2074043"/>
                </a:lnTo>
                <a:lnTo>
                  <a:pt x="1159527" y="2082412"/>
                </a:lnTo>
                <a:lnTo>
                  <a:pt x="1148537" y="2090302"/>
                </a:lnTo>
                <a:lnTo>
                  <a:pt x="1135180" y="2081216"/>
                </a:lnTo>
                <a:lnTo>
                  <a:pt x="1130953" y="2072847"/>
                </a:lnTo>
                <a:lnTo>
                  <a:pt x="1119287" y="2065913"/>
                </a:lnTo>
                <a:lnTo>
                  <a:pt x="1093249" y="2054675"/>
                </a:lnTo>
                <a:lnTo>
                  <a:pt x="1099336" y="2041763"/>
                </a:lnTo>
                <a:lnTo>
                  <a:pt x="1093757" y="2030525"/>
                </a:lnTo>
                <a:lnTo>
                  <a:pt x="1070086" y="2023112"/>
                </a:lnTo>
                <a:lnTo>
                  <a:pt x="1059096" y="2021439"/>
                </a:lnTo>
                <a:lnTo>
                  <a:pt x="1051826" y="2026460"/>
                </a:lnTo>
                <a:lnTo>
                  <a:pt x="1046246" y="2032677"/>
                </a:lnTo>
                <a:lnTo>
                  <a:pt x="1032889" y="2009722"/>
                </a:lnTo>
                <a:lnTo>
                  <a:pt x="1023759" y="2005179"/>
                </a:lnTo>
                <a:lnTo>
                  <a:pt x="1009218" y="2004462"/>
                </a:lnTo>
                <a:lnTo>
                  <a:pt x="992818" y="1997289"/>
                </a:lnTo>
                <a:lnTo>
                  <a:pt x="975741" y="1988681"/>
                </a:lnTo>
                <a:lnTo>
                  <a:pt x="934317" y="1974573"/>
                </a:lnTo>
                <a:lnTo>
                  <a:pt x="922820" y="1972899"/>
                </a:lnTo>
                <a:lnTo>
                  <a:pt x="915381" y="1983659"/>
                </a:lnTo>
                <a:lnTo>
                  <a:pt x="913690" y="2007331"/>
                </a:lnTo>
                <a:lnTo>
                  <a:pt x="892386" y="2011157"/>
                </a:lnTo>
                <a:lnTo>
                  <a:pt x="868547" y="2007809"/>
                </a:lnTo>
                <a:lnTo>
                  <a:pt x="857557" y="2009483"/>
                </a:lnTo>
                <a:lnTo>
                  <a:pt x="838789" y="2002788"/>
                </a:lnTo>
                <a:lnTo>
                  <a:pt x="798042" y="2010200"/>
                </a:lnTo>
                <a:lnTo>
                  <a:pt x="781472" y="1995615"/>
                </a:lnTo>
                <a:lnTo>
                  <a:pt x="769975" y="1987007"/>
                </a:lnTo>
                <a:lnTo>
                  <a:pt x="761521" y="1982703"/>
                </a:lnTo>
                <a:lnTo>
                  <a:pt x="754082" y="1977442"/>
                </a:lnTo>
                <a:lnTo>
                  <a:pt x="737681" y="1981507"/>
                </a:lnTo>
                <a:lnTo>
                  <a:pt x="723648" y="1983659"/>
                </a:lnTo>
                <a:lnTo>
                  <a:pt x="712151" y="1983181"/>
                </a:lnTo>
                <a:lnTo>
                  <a:pt x="679857" y="1957596"/>
                </a:lnTo>
                <a:lnTo>
                  <a:pt x="662780" y="1948271"/>
                </a:lnTo>
                <a:lnTo>
                  <a:pt x="647056" y="1948032"/>
                </a:lnTo>
                <a:lnTo>
                  <a:pt x="606309" y="1930816"/>
                </a:lnTo>
                <a:lnTo>
                  <a:pt x="587372" y="1921491"/>
                </a:lnTo>
                <a:lnTo>
                  <a:pt x="585005" y="1911926"/>
                </a:lnTo>
                <a:lnTo>
                  <a:pt x="576382" y="1920534"/>
                </a:lnTo>
                <a:lnTo>
                  <a:pt x="569112" y="1927947"/>
                </a:lnTo>
                <a:lnTo>
                  <a:pt x="558122" y="1923403"/>
                </a:lnTo>
                <a:lnTo>
                  <a:pt x="558122" y="1910491"/>
                </a:lnTo>
                <a:lnTo>
                  <a:pt x="564209" y="1900210"/>
                </a:lnTo>
                <a:lnTo>
                  <a:pt x="567252" y="1888493"/>
                </a:lnTo>
                <a:lnTo>
                  <a:pt x="556262" y="1871995"/>
                </a:lnTo>
                <a:lnTo>
                  <a:pt x="541045" y="1869125"/>
                </a:lnTo>
                <a:lnTo>
                  <a:pt x="530224" y="1868169"/>
                </a:lnTo>
                <a:lnTo>
                  <a:pt x="515515" y="1862430"/>
                </a:lnTo>
                <a:lnTo>
                  <a:pt x="508244" y="1858365"/>
                </a:lnTo>
                <a:lnTo>
                  <a:pt x="502158" y="1846649"/>
                </a:lnTo>
                <a:lnTo>
                  <a:pt x="528872" y="1831346"/>
                </a:lnTo>
                <a:lnTo>
                  <a:pt x="553895" y="1800979"/>
                </a:lnTo>
                <a:lnTo>
                  <a:pt x="577566" y="1691945"/>
                </a:lnTo>
                <a:lnTo>
                  <a:pt x="594643" y="1562825"/>
                </a:lnTo>
                <a:lnTo>
                  <a:pt x="606816" y="1538675"/>
                </a:lnTo>
                <a:lnTo>
                  <a:pt x="622709" y="1531502"/>
                </a:lnTo>
                <a:lnTo>
                  <a:pt x="609859" y="1514286"/>
                </a:lnTo>
                <a:lnTo>
                  <a:pt x="601913" y="1522894"/>
                </a:lnTo>
                <a:lnTo>
                  <a:pt x="598869" y="1532458"/>
                </a:lnTo>
                <a:lnTo>
                  <a:pt x="603773" y="1419120"/>
                </a:lnTo>
                <a:lnTo>
                  <a:pt x="610536" y="1375602"/>
                </a:lnTo>
                <a:lnTo>
                  <a:pt x="622033" y="1330171"/>
                </a:lnTo>
                <a:lnTo>
                  <a:pt x="645873" y="1348104"/>
                </a:lnTo>
                <a:lnTo>
                  <a:pt x="665317" y="1366515"/>
                </a:lnTo>
                <a:lnTo>
                  <a:pt x="675630" y="1382536"/>
                </a:lnTo>
                <a:lnTo>
                  <a:pt x="688480" y="1435379"/>
                </a:lnTo>
                <a:lnTo>
                  <a:pt x="697610" y="1446617"/>
                </a:lnTo>
                <a:lnTo>
                  <a:pt x="712151" y="1457377"/>
                </a:lnTo>
                <a:lnTo>
                  <a:pt x="706740" y="1445183"/>
                </a:lnTo>
                <a:lnTo>
                  <a:pt x="696258" y="1436097"/>
                </a:lnTo>
                <a:lnTo>
                  <a:pt x="681041" y="1365559"/>
                </a:lnTo>
                <a:lnTo>
                  <a:pt x="671403" y="1345713"/>
                </a:lnTo>
                <a:lnTo>
                  <a:pt x="656186" y="1328975"/>
                </a:lnTo>
                <a:lnTo>
                  <a:pt x="607492" y="1293826"/>
                </a:lnTo>
                <a:lnTo>
                  <a:pt x="602589" y="1286653"/>
                </a:lnTo>
                <a:lnTo>
                  <a:pt x="600222" y="1273501"/>
                </a:lnTo>
                <a:lnTo>
                  <a:pt x="616623" y="1273741"/>
                </a:lnTo>
                <a:lnTo>
                  <a:pt x="630656" y="1280436"/>
                </a:lnTo>
                <a:lnTo>
                  <a:pt x="624569" y="1265133"/>
                </a:lnTo>
                <a:lnTo>
                  <a:pt x="618482" y="1236439"/>
                </a:lnTo>
                <a:lnTo>
                  <a:pt x="612903" y="1169728"/>
                </a:lnTo>
                <a:lnTo>
                  <a:pt x="613579" y="1158011"/>
                </a:lnTo>
                <a:lnTo>
                  <a:pt x="611043" y="1143904"/>
                </a:lnTo>
                <a:lnTo>
                  <a:pt x="595319" y="1141034"/>
                </a:lnTo>
                <a:lnTo>
                  <a:pt x="583145" y="1140078"/>
                </a:lnTo>
                <a:lnTo>
                  <a:pt x="569788" y="1134817"/>
                </a:lnTo>
                <a:lnTo>
                  <a:pt x="502834" y="1095364"/>
                </a:lnTo>
                <a:lnTo>
                  <a:pt x="480178" y="1054716"/>
                </a:lnTo>
                <a:lnTo>
                  <a:pt x="456507" y="1024827"/>
                </a:lnTo>
                <a:lnTo>
                  <a:pt x="451097" y="1011437"/>
                </a:lnTo>
                <a:lnTo>
                  <a:pt x="451604" y="998285"/>
                </a:lnTo>
                <a:lnTo>
                  <a:pt x="463777" y="970310"/>
                </a:lnTo>
                <a:lnTo>
                  <a:pt x="452787" y="952615"/>
                </a:lnTo>
                <a:lnTo>
                  <a:pt x="442474" y="949268"/>
                </a:lnTo>
                <a:lnTo>
                  <a:pt x="433344" y="940421"/>
                </a:lnTo>
                <a:lnTo>
                  <a:pt x="441966" y="926074"/>
                </a:lnTo>
                <a:lnTo>
                  <a:pt x="448560" y="916510"/>
                </a:lnTo>
                <a:lnTo>
                  <a:pt x="461917" y="913880"/>
                </a:lnTo>
                <a:lnTo>
                  <a:pt x="480178" y="917227"/>
                </a:lnTo>
                <a:lnTo>
                  <a:pt x="497254" y="925596"/>
                </a:lnTo>
                <a:lnTo>
                  <a:pt x="510104" y="927748"/>
                </a:lnTo>
                <a:lnTo>
                  <a:pt x="471048" y="905272"/>
                </a:lnTo>
                <a:lnTo>
                  <a:pt x="407137" y="912684"/>
                </a:lnTo>
                <a:lnTo>
                  <a:pt x="393272" y="909815"/>
                </a:lnTo>
                <a:lnTo>
                  <a:pt x="381606" y="904793"/>
                </a:lnTo>
                <a:lnTo>
                  <a:pt x="377379" y="888295"/>
                </a:lnTo>
                <a:lnTo>
                  <a:pt x="386509" y="880643"/>
                </a:lnTo>
                <a:lnTo>
                  <a:pt x="394456" y="866536"/>
                </a:lnTo>
                <a:lnTo>
                  <a:pt x="385326" y="856971"/>
                </a:lnTo>
                <a:lnTo>
                  <a:pt x="373152" y="853385"/>
                </a:lnTo>
                <a:lnTo>
                  <a:pt x="354216" y="853863"/>
                </a:lnTo>
                <a:lnTo>
                  <a:pt x="336632" y="856732"/>
                </a:lnTo>
                <a:lnTo>
                  <a:pt x="342719" y="835451"/>
                </a:lnTo>
                <a:lnTo>
                  <a:pt x="333588" y="829713"/>
                </a:lnTo>
                <a:lnTo>
                  <a:pt x="321415" y="832582"/>
                </a:lnTo>
                <a:lnTo>
                  <a:pt x="303662" y="835451"/>
                </a:lnTo>
                <a:lnTo>
                  <a:pt x="286754" y="830908"/>
                </a:lnTo>
                <a:lnTo>
                  <a:pt x="270861" y="813453"/>
                </a:lnTo>
                <a:lnTo>
                  <a:pt x="253277" y="815605"/>
                </a:lnTo>
                <a:lnTo>
                  <a:pt x="242287" y="808910"/>
                </a:lnTo>
                <a:lnTo>
                  <a:pt x="230621" y="807236"/>
                </a:lnTo>
                <a:lnTo>
                  <a:pt x="211853" y="799346"/>
                </a:lnTo>
                <a:lnTo>
                  <a:pt x="145406" y="779021"/>
                </a:lnTo>
                <a:lnTo>
                  <a:pt x="116832" y="776630"/>
                </a:lnTo>
                <a:lnTo>
                  <a:pt x="90625" y="785716"/>
                </a:lnTo>
                <a:lnTo>
                  <a:pt x="76085" y="782847"/>
                </a:lnTo>
                <a:lnTo>
                  <a:pt x="65095" y="769457"/>
                </a:lnTo>
                <a:lnTo>
                  <a:pt x="56641" y="747937"/>
                </a:lnTo>
                <a:lnTo>
                  <a:pt x="14034" y="730960"/>
                </a:lnTo>
                <a:lnTo>
                  <a:pt x="22488" y="719722"/>
                </a:lnTo>
                <a:lnTo>
                  <a:pt x="41931" y="717092"/>
                </a:lnTo>
                <a:lnTo>
                  <a:pt x="64588" y="709201"/>
                </a:lnTo>
                <a:lnTo>
                  <a:pt x="73041" y="699637"/>
                </a:lnTo>
                <a:lnTo>
                  <a:pt x="55457" y="688159"/>
                </a:lnTo>
                <a:lnTo>
                  <a:pt x="41931" y="685290"/>
                </a:lnTo>
                <a:lnTo>
                  <a:pt x="31110" y="671183"/>
                </a:lnTo>
                <a:lnTo>
                  <a:pt x="38888" y="666161"/>
                </a:lnTo>
                <a:lnTo>
                  <a:pt x="60192" y="670226"/>
                </a:lnTo>
                <a:lnTo>
                  <a:pt x="87582" y="667835"/>
                </a:lnTo>
                <a:lnTo>
                  <a:pt x="77945" y="657314"/>
                </a:lnTo>
                <a:lnTo>
                  <a:pt x="66955" y="654923"/>
                </a:lnTo>
                <a:lnTo>
                  <a:pt x="40241" y="651097"/>
                </a:lnTo>
                <a:lnTo>
                  <a:pt x="29758" y="654923"/>
                </a:lnTo>
                <a:lnTo>
                  <a:pt x="7271" y="653249"/>
                </a:lnTo>
                <a:lnTo>
                  <a:pt x="1860" y="642011"/>
                </a:lnTo>
                <a:lnTo>
                  <a:pt x="0" y="632447"/>
                </a:lnTo>
                <a:lnTo>
                  <a:pt x="6763" y="611405"/>
                </a:lnTo>
                <a:lnTo>
                  <a:pt x="38888" y="592276"/>
                </a:lnTo>
                <a:lnTo>
                  <a:pt x="118692" y="570995"/>
                </a:lnTo>
                <a:lnTo>
                  <a:pt x="152846" y="573865"/>
                </a:lnTo>
                <a:lnTo>
                  <a:pt x="177193" y="570278"/>
                </a:lnTo>
                <a:lnTo>
                  <a:pt x="205767" y="557366"/>
                </a:lnTo>
                <a:lnTo>
                  <a:pt x="217940" y="545650"/>
                </a:lnTo>
                <a:lnTo>
                  <a:pt x="258687" y="539194"/>
                </a:lnTo>
                <a:lnTo>
                  <a:pt x="297068" y="551149"/>
                </a:lnTo>
                <a:lnTo>
                  <a:pt x="332912" y="596341"/>
                </a:lnTo>
                <a:lnTo>
                  <a:pt x="349989" y="611644"/>
                </a:lnTo>
                <a:lnTo>
                  <a:pt x="391413" y="585103"/>
                </a:lnTo>
                <a:lnTo>
                  <a:pt x="453464" y="586059"/>
                </a:lnTo>
                <a:lnTo>
                  <a:pt x="466313" y="600884"/>
                </a:lnTo>
                <a:lnTo>
                  <a:pt x="471048" y="588450"/>
                </a:lnTo>
                <a:lnTo>
                  <a:pt x="482714" y="573626"/>
                </a:lnTo>
                <a:lnTo>
                  <a:pt x="491844" y="580321"/>
                </a:lnTo>
                <a:lnTo>
                  <a:pt x="496747" y="589407"/>
                </a:lnTo>
                <a:lnTo>
                  <a:pt x="561842" y="586777"/>
                </a:lnTo>
                <a:lnTo>
                  <a:pt x="572155" y="584385"/>
                </a:lnTo>
                <a:lnTo>
                  <a:pt x="554571" y="573626"/>
                </a:lnTo>
                <a:lnTo>
                  <a:pt x="540538" y="547802"/>
                </a:lnTo>
                <a:lnTo>
                  <a:pt x="537495" y="452875"/>
                </a:lnTo>
                <a:lnTo>
                  <a:pt x="519234" y="426094"/>
                </a:lnTo>
                <a:lnTo>
                  <a:pt x="498438" y="383772"/>
                </a:lnTo>
                <a:lnTo>
                  <a:pt x="488801" y="358904"/>
                </a:lnTo>
                <a:lnTo>
                  <a:pt x="491168" y="337863"/>
                </a:lnTo>
                <a:lnTo>
                  <a:pt x="516698" y="338102"/>
                </a:lnTo>
                <a:lnTo>
                  <a:pt x="536311" y="341449"/>
                </a:lnTo>
                <a:lnTo>
                  <a:pt x="574015" y="331885"/>
                </a:lnTo>
                <a:lnTo>
                  <a:pt x="592276" y="338580"/>
                </a:lnTo>
                <a:lnTo>
                  <a:pt x="591092" y="358187"/>
                </a:lnTo>
                <a:lnTo>
                  <a:pt x="596502" y="383055"/>
                </a:lnTo>
                <a:lnTo>
                  <a:pt x="603265" y="394771"/>
                </a:lnTo>
                <a:lnTo>
                  <a:pt x="612396" y="408400"/>
                </a:lnTo>
                <a:lnTo>
                  <a:pt x="642829" y="407205"/>
                </a:lnTo>
                <a:lnTo>
                  <a:pt x="675630" y="415095"/>
                </a:lnTo>
                <a:lnTo>
                  <a:pt x="717054" y="416291"/>
                </a:lnTo>
                <a:lnTo>
                  <a:pt x="777245" y="430398"/>
                </a:lnTo>
                <a:lnTo>
                  <a:pt x="802776" y="422030"/>
                </a:lnTo>
                <a:lnTo>
                  <a:pt x="827799" y="405053"/>
                </a:lnTo>
                <a:lnTo>
                  <a:pt x="875310" y="393815"/>
                </a:lnTo>
                <a:lnTo>
                  <a:pt x="852146" y="390467"/>
                </a:lnTo>
                <a:lnTo>
                  <a:pt x="826616" y="379707"/>
                </a:lnTo>
                <a:lnTo>
                  <a:pt x="823572" y="367752"/>
                </a:lnTo>
                <a:lnTo>
                  <a:pt x="826616" y="357231"/>
                </a:lnTo>
                <a:lnTo>
                  <a:pt x="836253" y="333320"/>
                </a:lnTo>
                <a:lnTo>
                  <a:pt x="909294" y="295062"/>
                </a:lnTo>
                <a:lnTo>
                  <a:pt x="961031" y="283346"/>
                </a:lnTo>
                <a:lnTo>
                  <a:pt x="1015305" y="262543"/>
                </a:lnTo>
                <a:lnTo>
                  <a:pt x="1042695" y="241023"/>
                </a:lnTo>
                <a:lnTo>
                  <a:pt x="1060956" y="212808"/>
                </a:lnTo>
                <a:lnTo>
                  <a:pt x="1067042" y="207069"/>
                </a:lnTo>
                <a:lnTo>
                  <a:pt x="1074313" y="201570"/>
                </a:lnTo>
                <a:lnTo>
                  <a:pt x="1067042" y="191766"/>
                </a:lnTo>
                <a:lnTo>
                  <a:pt x="1071946" y="85362"/>
                </a:lnTo>
                <a:lnTo>
                  <a:pt x="1077356" y="66233"/>
                </a:lnTo>
                <a:lnTo>
                  <a:pt x="1087670" y="50452"/>
                </a:lnTo>
                <a:lnTo>
                  <a:pt x="1104070" y="38497"/>
                </a:lnTo>
                <a:lnTo>
                  <a:pt x="1128417" y="25106"/>
                </a:lnTo>
                <a:lnTo>
                  <a:pt x="1218535" y="6934"/>
                </a:lnTo>
                <a:lnTo>
                  <a:pt x="1231892" y="0"/>
                </a:lnTo>
                <a:lnTo>
                  <a:pt x="1233752" y="10999"/>
                </a:lnTo>
                <a:lnTo>
                  <a:pt x="1240515" y="25585"/>
                </a:lnTo>
                <a:lnTo>
                  <a:pt x="1244742" y="33475"/>
                </a:lnTo>
                <a:lnTo>
                  <a:pt x="1241022" y="43996"/>
                </a:lnTo>
                <a:lnTo>
                  <a:pt x="1244066" y="52604"/>
                </a:lnTo>
                <a:lnTo>
                  <a:pt x="1256239" y="67907"/>
                </a:lnTo>
                <a:lnTo>
                  <a:pt x="1271456" y="82493"/>
                </a:lnTo>
                <a:lnTo>
                  <a:pt x="1284982" y="92057"/>
                </a:lnTo>
                <a:lnTo>
                  <a:pt x="1298846" y="88232"/>
                </a:lnTo>
                <a:lnTo>
                  <a:pt x="1315923" y="78667"/>
                </a:lnTo>
                <a:lnTo>
                  <a:pt x="1330633" y="75798"/>
                </a:lnTo>
                <a:lnTo>
                  <a:pt x="1338410" y="82971"/>
                </a:lnTo>
                <a:lnTo>
                  <a:pt x="1351936" y="103774"/>
                </a:lnTo>
                <a:lnTo>
                  <a:pt x="1354303" y="120751"/>
                </a:lnTo>
                <a:lnTo>
                  <a:pt x="1358530" y="134858"/>
                </a:lnTo>
                <a:lnTo>
                  <a:pt x="1365801" y="140597"/>
                </a:lnTo>
                <a:lnTo>
                  <a:pt x="1392684" y="142749"/>
                </a:lnTo>
                <a:lnTo>
                  <a:pt x="1412804" y="148009"/>
                </a:lnTo>
                <a:lnTo>
                  <a:pt x="1424977" y="184115"/>
                </a:lnTo>
                <a:lnTo>
                  <a:pt x="1438842" y="180050"/>
                </a:lnTo>
                <a:lnTo>
                  <a:pt x="1457102" y="181245"/>
                </a:lnTo>
                <a:lnTo>
                  <a:pt x="1472995" y="181724"/>
                </a:lnTo>
                <a:lnTo>
                  <a:pt x="1488888" y="185071"/>
                </a:lnTo>
                <a:lnTo>
                  <a:pt x="1510699" y="203244"/>
                </a:lnTo>
                <a:lnTo>
                  <a:pt x="1505796" y="219503"/>
                </a:lnTo>
                <a:lnTo>
                  <a:pt x="1507656" y="231220"/>
                </a:lnTo>
                <a:lnTo>
                  <a:pt x="1513743" y="239349"/>
                </a:lnTo>
                <a:lnTo>
                  <a:pt x="1512559" y="249392"/>
                </a:lnTo>
                <a:lnTo>
                  <a:pt x="1506472" y="256326"/>
                </a:lnTo>
                <a:lnTo>
                  <a:pt x="1504613" y="265891"/>
                </a:lnTo>
                <a:lnTo>
                  <a:pt x="1511376" y="271390"/>
                </a:lnTo>
                <a:lnTo>
                  <a:pt x="1543669" y="275216"/>
                </a:lnTo>
                <a:lnTo>
                  <a:pt x="1573427" y="271390"/>
                </a:lnTo>
                <a:lnTo>
                  <a:pt x="1592363" y="261347"/>
                </a:lnTo>
                <a:lnTo>
                  <a:pt x="1595407" y="251066"/>
                </a:lnTo>
                <a:lnTo>
                  <a:pt x="1600817" y="239110"/>
                </a:lnTo>
                <a:lnTo>
                  <a:pt x="1611807" y="228589"/>
                </a:lnTo>
                <a:lnTo>
                  <a:pt x="1619754" y="225242"/>
                </a:lnTo>
                <a:lnTo>
                  <a:pt x="1627024" y="229546"/>
                </a:lnTo>
                <a:lnTo>
                  <a:pt x="1614850" y="271868"/>
                </a:lnTo>
                <a:lnTo>
                  <a:pt x="1623304" y="282628"/>
                </a:lnTo>
                <a:lnTo>
                  <a:pt x="1624488" y="298888"/>
                </a:lnTo>
                <a:lnTo>
                  <a:pt x="1628208" y="312995"/>
                </a:lnTo>
                <a:lnTo>
                  <a:pt x="1651371" y="314908"/>
                </a:lnTo>
                <a:lnTo>
                  <a:pt x="1660501" y="320408"/>
                </a:lnTo>
                <a:lnTo>
                  <a:pt x="1671491" y="328537"/>
                </a:lnTo>
                <a:lnTo>
                  <a:pt x="1686708" y="336428"/>
                </a:lnTo>
                <a:lnTo>
                  <a:pt x="1697529" y="339058"/>
                </a:lnTo>
                <a:lnTo>
                  <a:pt x="1710379" y="353166"/>
                </a:lnTo>
                <a:lnTo>
                  <a:pt x="1723736" y="368469"/>
                </a:lnTo>
                <a:lnTo>
                  <a:pt x="1735909" y="378990"/>
                </a:lnTo>
                <a:lnTo>
                  <a:pt x="1753662" y="374686"/>
                </a:lnTo>
                <a:lnTo>
                  <a:pt x="1770570" y="372295"/>
                </a:lnTo>
                <a:lnTo>
                  <a:pt x="1784096" y="372773"/>
                </a:lnTo>
                <a:lnTo>
                  <a:pt x="1789507" y="380424"/>
                </a:lnTo>
                <a:lnTo>
                  <a:pt x="1802864" y="383772"/>
                </a:lnTo>
                <a:lnTo>
                  <a:pt x="1812670" y="392619"/>
                </a:lnTo>
                <a:lnTo>
                  <a:pt x="1832114" y="392619"/>
                </a:lnTo>
                <a:lnTo>
                  <a:pt x="1839384" y="385207"/>
                </a:lnTo>
                <a:lnTo>
                  <a:pt x="1849698" y="381859"/>
                </a:lnTo>
                <a:lnTo>
                  <a:pt x="1860181" y="383055"/>
                </a:lnTo>
                <a:lnTo>
                  <a:pt x="1877764" y="393097"/>
                </a:lnTo>
                <a:lnTo>
                  <a:pt x="1896701" y="395488"/>
                </a:lnTo>
                <a:lnTo>
                  <a:pt x="1910058" y="406726"/>
                </a:lnTo>
                <a:lnTo>
                  <a:pt x="1914961" y="418204"/>
                </a:lnTo>
                <a:lnTo>
                  <a:pt x="1922232" y="431594"/>
                </a:lnTo>
                <a:lnTo>
                  <a:pt x="1943535" y="462678"/>
                </a:lnTo>
                <a:lnTo>
                  <a:pt x="1958076" y="459331"/>
                </a:lnTo>
                <a:lnTo>
                  <a:pt x="1962979" y="452875"/>
                </a:lnTo>
                <a:lnTo>
                  <a:pt x="1981239" y="454549"/>
                </a:lnTo>
                <a:lnTo>
                  <a:pt x="1992229" y="471765"/>
                </a:lnTo>
                <a:lnTo>
                  <a:pt x="2008630" y="470569"/>
                </a:lnTo>
                <a:lnTo>
                  <a:pt x="2021987" y="473917"/>
                </a:lnTo>
                <a:lnTo>
                  <a:pt x="2041431" y="470091"/>
                </a:lnTo>
                <a:lnTo>
                  <a:pt x="2056647" y="464352"/>
                </a:lnTo>
                <a:lnTo>
                  <a:pt x="2077444" y="480612"/>
                </a:lnTo>
                <a:lnTo>
                  <a:pt x="2091984" y="486350"/>
                </a:lnTo>
                <a:lnTo>
                  <a:pt x="2123602" y="490893"/>
                </a:lnTo>
                <a:lnTo>
                  <a:pt x="2157755" y="498545"/>
                </a:lnTo>
                <a:lnTo>
                  <a:pt x="2171112" y="504762"/>
                </a:lnTo>
                <a:lnTo>
                  <a:pt x="2180242" y="507631"/>
                </a:lnTo>
                <a:lnTo>
                  <a:pt x="2181426" y="528434"/>
                </a:lnTo>
                <a:lnTo>
                  <a:pt x="2144398" y="573147"/>
                </a:lnTo>
                <a:lnTo>
                  <a:pt x="2130365" y="588211"/>
                </a:lnTo>
                <a:lnTo>
                  <a:pt x="2123095" y="609731"/>
                </a:lnTo>
                <a:lnTo>
                  <a:pt x="2117515" y="642011"/>
                </a:lnTo>
                <a:lnTo>
                  <a:pt x="2107878" y="673095"/>
                </a:lnTo>
                <a:lnTo>
                  <a:pt x="2092661" y="702745"/>
                </a:lnTo>
                <a:lnTo>
                  <a:pt x="2087081" y="724982"/>
                </a:lnTo>
                <a:lnTo>
                  <a:pt x="2091477" y="739568"/>
                </a:lnTo>
                <a:lnTo>
                  <a:pt x="2088941" y="762762"/>
                </a:lnTo>
                <a:lnTo>
                  <a:pt x="2079811" y="794324"/>
                </a:lnTo>
                <a:lnTo>
                  <a:pt x="2077951" y="818475"/>
                </a:lnTo>
                <a:lnTo>
                  <a:pt x="2084038" y="834256"/>
                </a:lnTo>
                <a:lnTo>
                  <a:pt x="2092661" y="837603"/>
                </a:lnTo>
                <a:close/>
              </a:path>
            </a:pathLst>
          </a:custGeom>
          <a:solidFill>
            <a:srgbClr val="E9EBEC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2557424" y="3729827"/>
            <a:ext cx="35337" cy="51408"/>
          </a:xfrm>
          <a:custGeom>
            <a:avLst/>
            <a:gdLst/>
            <a:ahLst/>
            <a:cxnLst/>
            <a:rect l="l" t="t" r="r" b="b"/>
            <a:pathLst>
              <a:path w="35337" h="51408">
                <a:moveTo>
                  <a:pt x="35337" y="30606"/>
                </a:moveTo>
                <a:lnTo>
                  <a:pt x="29250" y="51408"/>
                </a:lnTo>
                <a:lnTo>
                  <a:pt x="18260" y="32279"/>
                </a:lnTo>
                <a:lnTo>
                  <a:pt x="3043" y="15303"/>
                </a:lnTo>
                <a:lnTo>
                  <a:pt x="0" y="0"/>
                </a:lnTo>
                <a:lnTo>
                  <a:pt x="17753" y="6934"/>
                </a:lnTo>
                <a:lnTo>
                  <a:pt x="35337" y="30606"/>
                </a:lnTo>
                <a:close/>
              </a:path>
            </a:pathLst>
          </a:custGeom>
          <a:solidFill>
            <a:srgbClr val="E9EBEC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4836406" y="2534992"/>
            <a:ext cx="433967" cy="586538"/>
          </a:xfrm>
          <a:custGeom>
            <a:avLst/>
            <a:gdLst/>
            <a:ahLst/>
            <a:cxnLst/>
            <a:rect l="l" t="t" r="r" b="b"/>
            <a:pathLst>
              <a:path w="433967" h="586538">
                <a:moveTo>
                  <a:pt x="433967" y="580010"/>
                </a:moveTo>
                <a:lnTo>
                  <a:pt x="416267" y="577452"/>
                </a:lnTo>
                <a:lnTo>
                  <a:pt x="405277" y="574582"/>
                </a:lnTo>
                <a:lnTo>
                  <a:pt x="395639" y="576973"/>
                </a:lnTo>
                <a:lnTo>
                  <a:pt x="384649" y="586538"/>
                </a:lnTo>
                <a:lnTo>
                  <a:pt x="354892" y="585821"/>
                </a:lnTo>
                <a:lnTo>
                  <a:pt x="331052" y="580321"/>
                </a:lnTo>
                <a:lnTo>
                  <a:pt x="320739" y="558801"/>
                </a:lnTo>
                <a:lnTo>
                  <a:pt x="309749" y="549954"/>
                </a:lnTo>
                <a:lnTo>
                  <a:pt x="296392" y="542542"/>
                </a:lnTo>
                <a:lnTo>
                  <a:pt x="283542" y="529391"/>
                </a:lnTo>
                <a:lnTo>
                  <a:pt x="269677" y="514805"/>
                </a:lnTo>
                <a:lnTo>
                  <a:pt x="246514" y="494959"/>
                </a:lnTo>
                <a:lnTo>
                  <a:pt x="228254" y="495676"/>
                </a:lnTo>
                <a:lnTo>
                  <a:pt x="221491" y="490655"/>
                </a:lnTo>
                <a:lnTo>
                  <a:pt x="211177" y="470808"/>
                </a:lnTo>
                <a:lnTo>
                  <a:pt x="202723" y="461722"/>
                </a:lnTo>
                <a:lnTo>
                  <a:pt x="192240" y="458375"/>
                </a:lnTo>
                <a:lnTo>
                  <a:pt x="177700" y="447137"/>
                </a:lnTo>
                <a:lnTo>
                  <a:pt x="157580" y="422986"/>
                </a:lnTo>
                <a:lnTo>
                  <a:pt x="139319" y="406010"/>
                </a:lnTo>
                <a:lnTo>
                  <a:pt x="122243" y="406488"/>
                </a:lnTo>
                <a:lnTo>
                  <a:pt x="111422" y="397641"/>
                </a:lnTo>
                <a:lnTo>
                  <a:pt x="99755" y="386163"/>
                </a:lnTo>
                <a:lnTo>
                  <a:pt x="91302" y="374925"/>
                </a:lnTo>
                <a:lnTo>
                  <a:pt x="78452" y="347428"/>
                </a:lnTo>
                <a:lnTo>
                  <a:pt x="69322" y="332124"/>
                </a:lnTo>
                <a:lnTo>
                  <a:pt x="62051" y="322560"/>
                </a:lnTo>
                <a:lnTo>
                  <a:pt x="53598" y="314669"/>
                </a:lnTo>
                <a:lnTo>
                  <a:pt x="60868" y="293867"/>
                </a:lnTo>
                <a:lnTo>
                  <a:pt x="68814" y="281194"/>
                </a:lnTo>
                <a:lnTo>
                  <a:pt x="71182" y="271151"/>
                </a:lnTo>
                <a:lnTo>
                  <a:pt x="62051" y="256566"/>
                </a:lnTo>
                <a:lnTo>
                  <a:pt x="49878" y="246284"/>
                </a:lnTo>
                <a:lnTo>
                  <a:pt x="31618" y="235763"/>
                </a:lnTo>
                <a:lnTo>
                  <a:pt x="20120" y="222612"/>
                </a:lnTo>
                <a:lnTo>
                  <a:pt x="15217" y="210417"/>
                </a:lnTo>
                <a:lnTo>
                  <a:pt x="6087" y="195114"/>
                </a:lnTo>
                <a:lnTo>
                  <a:pt x="0" y="181963"/>
                </a:lnTo>
                <a:lnTo>
                  <a:pt x="1184" y="171442"/>
                </a:lnTo>
                <a:lnTo>
                  <a:pt x="14034" y="176942"/>
                </a:lnTo>
                <a:lnTo>
                  <a:pt x="23671" y="187702"/>
                </a:lnTo>
                <a:lnTo>
                  <a:pt x="31618" y="202527"/>
                </a:lnTo>
                <a:lnTo>
                  <a:pt x="44975" y="180529"/>
                </a:lnTo>
                <a:lnTo>
                  <a:pt x="61375" y="162356"/>
                </a:lnTo>
                <a:lnTo>
                  <a:pt x="77268" y="152074"/>
                </a:lnTo>
                <a:lnTo>
                  <a:pt x="91809" y="151118"/>
                </a:lnTo>
                <a:lnTo>
                  <a:pt x="103982" y="148249"/>
                </a:lnTo>
                <a:lnTo>
                  <a:pt x="113789" y="142749"/>
                </a:lnTo>
                <a:lnTo>
                  <a:pt x="131373" y="144901"/>
                </a:lnTo>
                <a:lnTo>
                  <a:pt x="144223" y="148727"/>
                </a:lnTo>
                <a:lnTo>
                  <a:pt x="153353" y="137010"/>
                </a:lnTo>
                <a:lnTo>
                  <a:pt x="156396" y="128642"/>
                </a:lnTo>
                <a:lnTo>
                  <a:pt x="184463" y="124098"/>
                </a:lnTo>
                <a:lnTo>
                  <a:pt x="194100" y="108078"/>
                </a:lnTo>
                <a:lnTo>
                  <a:pt x="205766" y="105926"/>
                </a:lnTo>
                <a:lnTo>
                  <a:pt x="211177" y="99709"/>
                </a:lnTo>
                <a:lnTo>
                  <a:pt x="221491" y="100427"/>
                </a:lnTo>
                <a:lnTo>
                  <a:pt x="233664" y="98514"/>
                </a:lnTo>
                <a:lnTo>
                  <a:pt x="242794" y="80102"/>
                </a:lnTo>
                <a:lnTo>
                  <a:pt x="272044" y="74842"/>
                </a:lnTo>
                <a:lnTo>
                  <a:pt x="305522" y="64082"/>
                </a:lnTo>
                <a:lnTo>
                  <a:pt x="322598" y="54517"/>
                </a:lnTo>
                <a:lnTo>
                  <a:pt x="338999" y="49496"/>
                </a:lnTo>
                <a:lnTo>
                  <a:pt x="356583" y="39932"/>
                </a:lnTo>
                <a:lnTo>
                  <a:pt x="385326" y="31085"/>
                </a:lnTo>
                <a:lnTo>
                  <a:pt x="373659" y="18412"/>
                </a:lnTo>
                <a:lnTo>
                  <a:pt x="365713" y="6217"/>
                </a:lnTo>
                <a:lnTo>
                  <a:pt x="370616" y="0"/>
                </a:lnTo>
                <a:lnTo>
                  <a:pt x="384649" y="478"/>
                </a:lnTo>
                <a:lnTo>
                  <a:pt x="408320" y="4543"/>
                </a:lnTo>
                <a:lnTo>
                  <a:pt x="417450" y="17933"/>
                </a:lnTo>
                <a:lnTo>
                  <a:pt x="423537" y="26302"/>
                </a:lnTo>
                <a:lnTo>
                  <a:pt x="426580" y="41605"/>
                </a:lnTo>
                <a:lnTo>
                  <a:pt x="433967" y="46828"/>
                </a:lnTo>
                <a:close/>
              </a:path>
            </a:pathLst>
          </a:custGeom>
          <a:solidFill>
            <a:srgbClr val="E9EBEC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5077340" y="3820928"/>
            <a:ext cx="193033" cy="196548"/>
          </a:xfrm>
          <a:custGeom>
            <a:avLst/>
            <a:gdLst/>
            <a:ahLst/>
            <a:cxnLst/>
            <a:rect l="l" t="t" r="r" b="b"/>
            <a:pathLst>
              <a:path w="193033" h="196548">
                <a:moveTo>
                  <a:pt x="10483" y="32040"/>
                </a:moveTo>
                <a:lnTo>
                  <a:pt x="16570" y="41605"/>
                </a:lnTo>
                <a:lnTo>
                  <a:pt x="61544" y="53321"/>
                </a:lnTo>
                <a:lnTo>
                  <a:pt x="70674" y="48300"/>
                </a:lnTo>
                <a:lnTo>
                  <a:pt x="76761" y="40409"/>
                </a:lnTo>
                <a:lnTo>
                  <a:pt x="96205" y="41605"/>
                </a:lnTo>
                <a:lnTo>
                  <a:pt x="109055" y="39453"/>
                </a:lnTo>
                <a:lnTo>
                  <a:pt x="129682" y="39214"/>
                </a:lnTo>
                <a:lnTo>
                  <a:pt x="144392" y="40409"/>
                </a:lnTo>
                <a:lnTo>
                  <a:pt x="154029" y="34671"/>
                </a:lnTo>
                <a:lnTo>
                  <a:pt x="167386" y="13390"/>
                </a:lnTo>
                <a:lnTo>
                  <a:pt x="172289" y="1434"/>
                </a:lnTo>
                <a:lnTo>
                  <a:pt x="182096" y="0"/>
                </a:lnTo>
                <a:lnTo>
                  <a:pt x="184463" y="9564"/>
                </a:lnTo>
                <a:lnTo>
                  <a:pt x="191733" y="19128"/>
                </a:lnTo>
                <a:lnTo>
                  <a:pt x="193033" y="106020"/>
                </a:lnTo>
                <a:lnTo>
                  <a:pt x="174826" y="84406"/>
                </a:lnTo>
                <a:lnTo>
                  <a:pt x="147435" y="73885"/>
                </a:lnTo>
                <a:lnTo>
                  <a:pt x="134585" y="74841"/>
                </a:lnTo>
                <a:lnTo>
                  <a:pt x="127315" y="87992"/>
                </a:lnTo>
                <a:lnTo>
                  <a:pt x="121736" y="117642"/>
                </a:lnTo>
                <a:lnTo>
                  <a:pt x="97388" y="156139"/>
                </a:lnTo>
                <a:lnTo>
                  <a:pt x="88935" y="173116"/>
                </a:lnTo>
                <a:lnTo>
                  <a:pt x="76085" y="194875"/>
                </a:lnTo>
                <a:lnTo>
                  <a:pt x="65264" y="196548"/>
                </a:lnTo>
                <a:lnTo>
                  <a:pt x="38381" y="157812"/>
                </a:lnTo>
                <a:lnTo>
                  <a:pt x="18937" y="129597"/>
                </a:lnTo>
                <a:lnTo>
                  <a:pt x="16570" y="116685"/>
                </a:lnTo>
                <a:lnTo>
                  <a:pt x="14710" y="100187"/>
                </a:lnTo>
                <a:lnTo>
                  <a:pt x="0" y="40409"/>
                </a:lnTo>
                <a:lnTo>
                  <a:pt x="10483" y="32040"/>
                </a:lnTo>
                <a:close/>
              </a:path>
            </a:pathLst>
          </a:custGeom>
          <a:solidFill>
            <a:srgbClr val="E9EBEC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5235089" y="3922789"/>
            <a:ext cx="35284" cy="59807"/>
          </a:xfrm>
          <a:custGeom>
            <a:avLst/>
            <a:gdLst/>
            <a:ahLst/>
            <a:cxnLst/>
            <a:rect l="l" t="t" r="r" b="b"/>
            <a:pathLst>
              <a:path w="35284" h="59807">
                <a:moveTo>
                  <a:pt x="35284" y="59807"/>
                </a:moveTo>
                <a:lnTo>
                  <a:pt x="27897" y="47583"/>
                </a:lnTo>
                <a:lnTo>
                  <a:pt x="10313" y="45191"/>
                </a:lnTo>
                <a:lnTo>
                  <a:pt x="0" y="34910"/>
                </a:lnTo>
                <a:lnTo>
                  <a:pt x="12681" y="18650"/>
                </a:lnTo>
                <a:lnTo>
                  <a:pt x="20627" y="0"/>
                </a:lnTo>
                <a:lnTo>
                  <a:pt x="30434" y="11238"/>
                </a:lnTo>
                <a:lnTo>
                  <a:pt x="35284" y="19621"/>
                </a:lnTo>
                <a:close/>
              </a:path>
            </a:pathLst>
          </a:custGeom>
          <a:solidFill>
            <a:srgbClr val="E9EBEC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5207698" y="3937374"/>
            <a:ext cx="33985" cy="120751"/>
          </a:xfrm>
          <a:custGeom>
            <a:avLst/>
            <a:gdLst/>
            <a:ahLst/>
            <a:cxnLst/>
            <a:rect l="l" t="t" r="r" b="b"/>
            <a:pathLst>
              <a:path w="33985" h="120751">
                <a:moveTo>
                  <a:pt x="33985" y="120751"/>
                </a:moveTo>
                <a:lnTo>
                  <a:pt x="22488" y="118121"/>
                </a:lnTo>
                <a:lnTo>
                  <a:pt x="17077" y="97079"/>
                </a:lnTo>
                <a:lnTo>
                  <a:pt x="4227" y="62886"/>
                </a:lnTo>
                <a:lnTo>
                  <a:pt x="2367" y="53322"/>
                </a:lnTo>
                <a:lnTo>
                  <a:pt x="9131" y="43997"/>
                </a:lnTo>
                <a:lnTo>
                  <a:pt x="0" y="4543"/>
                </a:lnTo>
                <a:lnTo>
                  <a:pt x="7271" y="0"/>
                </a:lnTo>
                <a:lnTo>
                  <a:pt x="14034" y="19847"/>
                </a:lnTo>
                <a:lnTo>
                  <a:pt x="18261" y="31802"/>
                </a:lnTo>
                <a:lnTo>
                  <a:pt x="30434" y="46388"/>
                </a:lnTo>
                <a:lnTo>
                  <a:pt x="27898" y="70538"/>
                </a:lnTo>
                <a:lnTo>
                  <a:pt x="30434" y="104970"/>
                </a:lnTo>
                <a:lnTo>
                  <a:pt x="33985" y="120751"/>
                </a:lnTo>
                <a:close/>
              </a:path>
            </a:pathLst>
          </a:custGeom>
          <a:solidFill>
            <a:srgbClr val="E9EBEC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3219020" y="2424762"/>
            <a:ext cx="648916" cy="473200"/>
          </a:xfrm>
          <a:custGeom>
            <a:avLst/>
            <a:gdLst/>
            <a:ahLst/>
            <a:cxnLst/>
            <a:rect l="l" t="t" r="r" b="b"/>
            <a:pathLst>
              <a:path w="648916" h="473200">
                <a:moveTo>
                  <a:pt x="287430" y="24868"/>
                </a:moveTo>
                <a:lnTo>
                  <a:pt x="300787" y="30606"/>
                </a:lnTo>
                <a:lnTo>
                  <a:pt x="312284" y="31802"/>
                </a:lnTo>
                <a:lnTo>
                  <a:pt x="314144" y="14825"/>
                </a:lnTo>
                <a:lnTo>
                  <a:pt x="323951" y="7413"/>
                </a:lnTo>
                <a:lnTo>
                  <a:pt x="334264" y="3587"/>
                </a:lnTo>
                <a:lnTo>
                  <a:pt x="339168" y="9804"/>
                </a:lnTo>
                <a:lnTo>
                  <a:pt x="348805" y="16021"/>
                </a:lnTo>
                <a:lnTo>
                  <a:pt x="377379" y="0"/>
                </a:lnTo>
                <a:lnTo>
                  <a:pt x="386509" y="9087"/>
                </a:lnTo>
                <a:lnTo>
                  <a:pt x="388369" y="18651"/>
                </a:lnTo>
                <a:lnTo>
                  <a:pt x="409165" y="19846"/>
                </a:lnTo>
                <a:lnTo>
                  <a:pt x="416943" y="10760"/>
                </a:lnTo>
                <a:lnTo>
                  <a:pt x="423706" y="4783"/>
                </a:lnTo>
                <a:lnTo>
                  <a:pt x="430976" y="19846"/>
                </a:lnTo>
                <a:lnTo>
                  <a:pt x="435203" y="34432"/>
                </a:lnTo>
                <a:lnTo>
                  <a:pt x="454816" y="50453"/>
                </a:lnTo>
                <a:lnTo>
                  <a:pt x="471216" y="54996"/>
                </a:lnTo>
                <a:lnTo>
                  <a:pt x="491337" y="51887"/>
                </a:lnTo>
                <a:lnTo>
                  <a:pt x="504694" y="51409"/>
                </a:lnTo>
                <a:lnTo>
                  <a:pt x="509597" y="60017"/>
                </a:lnTo>
                <a:lnTo>
                  <a:pt x="521094" y="69581"/>
                </a:lnTo>
                <a:lnTo>
                  <a:pt x="545441" y="76755"/>
                </a:lnTo>
                <a:lnTo>
                  <a:pt x="553388" y="80341"/>
                </a:lnTo>
                <a:lnTo>
                  <a:pt x="558291" y="87036"/>
                </a:lnTo>
                <a:lnTo>
                  <a:pt x="545441" y="119795"/>
                </a:lnTo>
                <a:lnTo>
                  <a:pt x="543074" y="133663"/>
                </a:lnTo>
                <a:lnTo>
                  <a:pt x="527857" y="148966"/>
                </a:lnTo>
                <a:lnTo>
                  <a:pt x="531408" y="163313"/>
                </a:lnTo>
                <a:lnTo>
                  <a:pt x="535635" y="170964"/>
                </a:lnTo>
                <a:lnTo>
                  <a:pt x="544765" y="174551"/>
                </a:lnTo>
                <a:lnTo>
                  <a:pt x="569112" y="176225"/>
                </a:lnTo>
                <a:lnTo>
                  <a:pt x="586188" y="176703"/>
                </a:lnTo>
                <a:lnTo>
                  <a:pt x="607492" y="193680"/>
                </a:lnTo>
                <a:lnTo>
                  <a:pt x="613579" y="203722"/>
                </a:lnTo>
                <a:lnTo>
                  <a:pt x="627612" y="213765"/>
                </a:lnTo>
                <a:lnTo>
                  <a:pt x="616115" y="225720"/>
                </a:lnTo>
                <a:lnTo>
                  <a:pt x="622202" y="236959"/>
                </a:lnTo>
                <a:lnTo>
                  <a:pt x="637419" y="240306"/>
                </a:lnTo>
                <a:lnTo>
                  <a:pt x="645196" y="248197"/>
                </a:lnTo>
                <a:lnTo>
                  <a:pt x="645872" y="260631"/>
                </a:lnTo>
                <a:lnTo>
                  <a:pt x="648916" y="280477"/>
                </a:lnTo>
                <a:lnTo>
                  <a:pt x="617299" y="300801"/>
                </a:lnTo>
                <a:lnTo>
                  <a:pt x="608168" y="322799"/>
                </a:lnTo>
                <a:lnTo>
                  <a:pt x="596502" y="319452"/>
                </a:lnTo>
                <a:lnTo>
                  <a:pt x="583821" y="316104"/>
                </a:lnTo>
                <a:lnTo>
                  <a:pt x="564885" y="336429"/>
                </a:lnTo>
                <a:lnTo>
                  <a:pt x="556431" y="353166"/>
                </a:lnTo>
                <a:lnTo>
                  <a:pt x="551528" y="365600"/>
                </a:lnTo>
                <a:lnTo>
                  <a:pt x="544257" y="375643"/>
                </a:lnTo>
                <a:lnTo>
                  <a:pt x="543074" y="385924"/>
                </a:lnTo>
                <a:lnTo>
                  <a:pt x="541214" y="396206"/>
                </a:lnTo>
                <a:lnTo>
                  <a:pt x="551528" y="413661"/>
                </a:lnTo>
                <a:lnTo>
                  <a:pt x="567421" y="441159"/>
                </a:lnTo>
                <a:lnTo>
                  <a:pt x="563025" y="449050"/>
                </a:lnTo>
                <a:lnTo>
                  <a:pt x="556431" y="463157"/>
                </a:lnTo>
                <a:lnTo>
                  <a:pt x="538678" y="466505"/>
                </a:lnTo>
                <a:lnTo>
                  <a:pt x="521770" y="468896"/>
                </a:lnTo>
                <a:lnTo>
                  <a:pt x="510104" y="473200"/>
                </a:lnTo>
                <a:lnTo>
                  <a:pt x="491844" y="462679"/>
                </a:lnTo>
                <a:lnTo>
                  <a:pt x="478487" y="447376"/>
                </a:lnTo>
                <a:lnTo>
                  <a:pt x="469357" y="439963"/>
                </a:lnTo>
                <a:lnTo>
                  <a:pt x="454816" y="430638"/>
                </a:lnTo>
                <a:lnTo>
                  <a:pt x="439599" y="422747"/>
                </a:lnTo>
                <a:lnTo>
                  <a:pt x="428609" y="414618"/>
                </a:lnTo>
                <a:lnTo>
                  <a:pt x="419479" y="409118"/>
                </a:lnTo>
                <a:lnTo>
                  <a:pt x="406629" y="406727"/>
                </a:lnTo>
                <a:lnTo>
                  <a:pt x="392596" y="393098"/>
                </a:lnTo>
                <a:lnTo>
                  <a:pt x="391412" y="376838"/>
                </a:lnTo>
                <a:lnTo>
                  <a:pt x="382958" y="366078"/>
                </a:lnTo>
                <a:lnTo>
                  <a:pt x="395132" y="323756"/>
                </a:lnTo>
                <a:lnTo>
                  <a:pt x="387862" y="319452"/>
                </a:lnTo>
                <a:lnTo>
                  <a:pt x="379915" y="322799"/>
                </a:lnTo>
                <a:lnTo>
                  <a:pt x="368925" y="333320"/>
                </a:lnTo>
                <a:lnTo>
                  <a:pt x="363515" y="345276"/>
                </a:lnTo>
                <a:lnTo>
                  <a:pt x="360471" y="355557"/>
                </a:lnTo>
                <a:lnTo>
                  <a:pt x="341535" y="365600"/>
                </a:lnTo>
                <a:lnTo>
                  <a:pt x="311777" y="369426"/>
                </a:lnTo>
                <a:lnTo>
                  <a:pt x="279484" y="365600"/>
                </a:lnTo>
                <a:lnTo>
                  <a:pt x="272721" y="360101"/>
                </a:lnTo>
                <a:lnTo>
                  <a:pt x="274580" y="350536"/>
                </a:lnTo>
                <a:lnTo>
                  <a:pt x="280667" y="343602"/>
                </a:lnTo>
                <a:lnTo>
                  <a:pt x="281851" y="333559"/>
                </a:lnTo>
                <a:lnTo>
                  <a:pt x="275764" y="325430"/>
                </a:lnTo>
                <a:lnTo>
                  <a:pt x="273904" y="313713"/>
                </a:lnTo>
                <a:lnTo>
                  <a:pt x="278300" y="303431"/>
                </a:lnTo>
                <a:lnTo>
                  <a:pt x="256996" y="279281"/>
                </a:lnTo>
                <a:lnTo>
                  <a:pt x="241103" y="275934"/>
                </a:lnTo>
                <a:lnTo>
                  <a:pt x="225210" y="275455"/>
                </a:lnTo>
                <a:lnTo>
                  <a:pt x="213713" y="273543"/>
                </a:lnTo>
                <a:lnTo>
                  <a:pt x="202216" y="279281"/>
                </a:lnTo>
                <a:lnTo>
                  <a:pt x="186322" y="246762"/>
                </a:lnTo>
                <a:lnTo>
                  <a:pt x="160792" y="236959"/>
                </a:lnTo>
                <a:lnTo>
                  <a:pt x="133909" y="234807"/>
                </a:lnTo>
                <a:lnTo>
                  <a:pt x="126638" y="229068"/>
                </a:lnTo>
                <a:lnTo>
                  <a:pt x="122411" y="214961"/>
                </a:lnTo>
                <a:lnTo>
                  <a:pt x="120044" y="197984"/>
                </a:lnTo>
                <a:lnTo>
                  <a:pt x="110914" y="181246"/>
                </a:lnTo>
                <a:lnTo>
                  <a:pt x="98741" y="170008"/>
                </a:lnTo>
                <a:lnTo>
                  <a:pt x="84031" y="172877"/>
                </a:lnTo>
                <a:lnTo>
                  <a:pt x="66954" y="182442"/>
                </a:lnTo>
                <a:lnTo>
                  <a:pt x="57317" y="185072"/>
                </a:lnTo>
                <a:lnTo>
                  <a:pt x="39564" y="176703"/>
                </a:lnTo>
                <a:lnTo>
                  <a:pt x="24347" y="162117"/>
                </a:lnTo>
                <a:lnTo>
                  <a:pt x="12174" y="146814"/>
                </a:lnTo>
                <a:lnTo>
                  <a:pt x="9130" y="138206"/>
                </a:lnTo>
                <a:lnTo>
                  <a:pt x="12850" y="127685"/>
                </a:lnTo>
                <a:lnTo>
                  <a:pt x="8623" y="119795"/>
                </a:lnTo>
                <a:lnTo>
                  <a:pt x="1860" y="105209"/>
                </a:lnTo>
                <a:lnTo>
                  <a:pt x="0" y="94210"/>
                </a:lnTo>
                <a:lnTo>
                  <a:pt x="73717" y="53800"/>
                </a:lnTo>
                <a:lnTo>
                  <a:pt x="118185" y="32998"/>
                </a:lnTo>
                <a:lnTo>
                  <a:pt x="139488" y="26781"/>
                </a:lnTo>
                <a:lnTo>
                  <a:pt x="144391" y="47583"/>
                </a:lnTo>
                <a:lnTo>
                  <a:pt x="153522" y="58343"/>
                </a:lnTo>
                <a:lnTo>
                  <a:pt x="167386" y="54278"/>
                </a:lnTo>
                <a:lnTo>
                  <a:pt x="178376" y="48779"/>
                </a:lnTo>
                <a:lnTo>
                  <a:pt x="195453" y="51409"/>
                </a:lnTo>
                <a:lnTo>
                  <a:pt x="208302" y="56430"/>
                </a:lnTo>
                <a:lnTo>
                  <a:pt x="220983" y="66234"/>
                </a:lnTo>
                <a:lnTo>
                  <a:pt x="232649" y="67429"/>
                </a:lnTo>
                <a:lnTo>
                  <a:pt x="256320" y="58104"/>
                </a:lnTo>
                <a:lnTo>
                  <a:pt x="278807" y="43997"/>
                </a:lnTo>
                <a:lnTo>
                  <a:pt x="284894" y="33954"/>
                </a:lnTo>
                <a:lnTo>
                  <a:pt x="287430" y="24868"/>
                </a:lnTo>
                <a:close/>
              </a:path>
            </a:pathLst>
          </a:custGeom>
          <a:solidFill>
            <a:srgbClr val="E9EBEC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4402894" y="3080403"/>
            <a:ext cx="867479" cy="561192"/>
          </a:xfrm>
          <a:custGeom>
            <a:avLst/>
            <a:gdLst/>
            <a:ahLst/>
            <a:cxnLst/>
            <a:rect l="l" t="t" r="r" b="b"/>
            <a:pathLst>
              <a:path w="867479" h="561192">
                <a:moveTo>
                  <a:pt x="0" y="353405"/>
                </a:moveTo>
                <a:lnTo>
                  <a:pt x="14033" y="324234"/>
                </a:lnTo>
                <a:lnTo>
                  <a:pt x="16570" y="306539"/>
                </a:lnTo>
                <a:lnTo>
                  <a:pt x="4396" y="295540"/>
                </a:lnTo>
                <a:lnTo>
                  <a:pt x="20796" y="292432"/>
                </a:lnTo>
                <a:lnTo>
                  <a:pt x="31786" y="286215"/>
                </a:lnTo>
                <a:lnTo>
                  <a:pt x="37873" y="280237"/>
                </a:lnTo>
                <a:lnTo>
                  <a:pt x="53090" y="286215"/>
                </a:lnTo>
                <a:lnTo>
                  <a:pt x="74901" y="297214"/>
                </a:lnTo>
                <a:lnTo>
                  <a:pt x="85891" y="304866"/>
                </a:lnTo>
                <a:lnTo>
                  <a:pt x="92654" y="315626"/>
                </a:lnTo>
                <a:lnTo>
                  <a:pt x="96205" y="327103"/>
                </a:lnTo>
                <a:lnTo>
                  <a:pt x="106687" y="328538"/>
                </a:lnTo>
                <a:lnTo>
                  <a:pt x="111421" y="342167"/>
                </a:lnTo>
                <a:lnTo>
                  <a:pt x="120552" y="350057"/>
                </a:lnTo>
                <a:lnTo>
                  <a:pt x="132725" y="342884"/>
                </a:lnTo>
                <a:lnTo>
                  <a:pt x="142532" y="330450"/>
                </a:lnTo>
                <a:lnTo>
                  <a:pt x="147942" y="318017"/>
                </a:lnTo>
                <a:lnTo>
                  <a:pt x="152845" y="288606"/>
                </a:lnTo>
                <a:lnTo>
                  <a:pt x="191226" y="286932"/>
                </a:lnTo>
                <a:lnTo>
                  <a:pt x="205259" y="292671"/>
                </a:lnTo>
                <a:lnTo>
                  <a:pt x="227746" y="293627"/>
                </a:lnTo>
                <a:lnTo>
                  <a:pt x="231466" y="305583"/>
                </a:lnTo>
                <a:lnTo>
                  <a:pt x="241103" y="315865"/>
                </a:lnTo>
                <a:lnTo>
                  <a:pt x="246006" y="322560"/>
                </a:lnTo>
                <a:lnTo>
                  <a:pt x="256320" y="323755"/>
                </a:lnTo>
                <a:lnTo>
                  <a:pt x="272213" y="320169"/>
                </a:lnTo>
                <a:lnTo>
                  <a:pt x="281343" y="316343"/>
                </a:lnTo>
                <a:lnTo>
                  <a:pt x="299604" y="316343"/>
                </a:lnTo>
                <a:lnTo>
                  <a:pt x="312284" y="308213"/>
                </a:lnTo>
                <a:lnTo>
                  <a:pt x="328854" y="296975"/>
                </a:lnTo>
                <a:lnTo>
                  <a:pt x="345762" y="286454"/>
                </a:lnTo>
                <a:lnTo>
                  <a:pt x="370109" y="278563"/>
                </a:lnTo>
                <a:lnTo>
                  <a:pt x="449236" y="269955"/>
                </a:lnTo>
                <a:lnTo>
                  <a:pt x="451096" y="248436"/>
                </a:lnTo>
                <a:lnTo>
                  <a:pt x="463270" y="249870"/>
                </a:lnTo>
                <a:lnTo>
                  <a:pt x="479670" y="253218"/>
                </a:lnTo>
                <a:lnTo>
                  <a:pt x="491844" y="258717"/>
                </a:lnTo>
                <a:lnTo>
                  <a:pt x="499790" y="265651"/>
                </a:lnTo>
                <a:lnTo>
                  <a:pt x="518727" y="261108"/>
                </a:lnTo>
                <a:lnTo>
                  <a:pt x="533944" y="257761"/>
                </a:lnTo>
                <a:lnTo>
                  <a:pt x="548484" y="264934"/>
                </a:lnTo>
                <a:lnTo>
                  <a:pt x="552711" y="272825"/>
                </a:lnTo>
                <a:lnTo>
                  <a:pt x="550344" y="283107"/>
                </a:lnTo>
                <a:lnTo>
                  <a:pt x="566745" y="296975"/>
                </a:lnTo>
                <a:lnTo>
                  <a:pt x="581962" y="304387"/>
                </a:lnTo>
                <a:lnTo>
                  <a:pt x="592275" y="296497"/>
                </a:lnTo>
                <a:lnTo>
                  <a:pt x="595319" y="279520"/>
                </a:lnTo>
                <a:lnTo>
                  <a:pt x="596671" y="261108"/>
                </a:lnTo>
                <a:lnTo>
                  <a:pt x="592952" y="250827"/>
                </a:lnTo>
                <a:lnTo>
                  <a:pt x="575368" y="247479"/>
                </a:lnTo>
                <a:lnTo>
                  <a:pt x="571648" y="239588"/>
                </a:lnTo>
                <a:lnTo>
                  <a:pt x="579594" y="224764"/>
                </a:lnTo>
                <a:lnTo>
                  <a:pt x="579594" y="205157"/>
                </a:lnTo>
                <a:lnTo>
                  <a:pt x="561841" y="182441"/>
                </a:lnTo>
                <a:lnTo>
                  <a:pt x="546625" y="160682"/>
                </a:lnTo>
                <a:lnTo>
                  <a:pt x="555755" y="140358"/>
                </a:lnTo>
                <a:lnTo>
                  <a:pt x="569788" y="130076"/>
                </a:lnTo>
                <a:lnTo>
                  <a:pt x="600898" y="113099"/>
                </a:lnTo>
                <a:lnTo>
                  <a:pt x="611212" y="109752"/>
                </a:lnTo>
                <a:lnTo>
                  <a:pt x="623385" y="106882"/>
                </a:lnTo>
                <a:lnTo>
                  <a:pt x="641646" y="99709"/>
                </a:lnTo>
                <a:lnTo>
                  <a:pt x="650776" y="92296"/>
                </a:lnTo>
                <a:lnTo>
                  <a:pt x="656186" y="84884"/>
                </a:lnTo>
                <a:lnTo>
                  <a:pt x="664809" y="43757"/>
                </a:lnTo>
                <a:lnTo>
                  <a:pt x="701330" y="53561"/>
                </a:lnTo>
                <a:lnTo>
                  <a:pt x="709783" y="49018"/>
                </a:lnTo>
                <a:lnTo>
                  <a:pt x="720097" y="38258"/>
                </a:lnTo>
                <a:lnTo>
                  <a:pt x="721957" y="14586"/>
                </a:lnTo>
                <a:lnTo>
                  <a:pt x="723140" y="0"/>
                </a:lnTo>
                <a:lnTo>
                  <a:pt x="743261" y="4543"/>
                </a:lnTo>
                <a:lnTo>
                  <a:pt x="754251" y="13390"/>
                </a:lnTo>
                <a:lnTo>
                  <a:pt x="764564" y="34910"/>
                </a:lnTo>
                <a:lnTo>
                  <a:pt x="788404" y="40410"/>
                </a:lnTo>
                <a:lnTo>
                  <a:pt x="818161" y="41127"/>
                </a:lnTo>
                <a:lnTo>
                  <a:pt x="829151" y="31562"/>
                </a:lnTo>
                <a:lnTo>
                  <a:pt x="838789" y="29171"/>
                </a:lnTo>
                <a:lnTo>
                  <a:pt x="849779" y="32041"/>
                </a:lnTo>
                <a:lnTo>
                  <a:pt x="867479" y="34599"/>
                </a:lnTo>
                <a:lnTo>
                  <a:pt x="867479" y="548086"/>
                </a:lnTo>
                <a:lnTo>
                  <a:pt x="857049" y="553062"/>
                </a:lnTo>
                <a:lnTo>
                  <a:pt x="849272" y="561192"/>
                </a:lnTo>
                <a:lnTo>
                  <a:pt x="841325" y="557127"/>
                </a:lnTo>
                <a:lnTo>
                  <a:pt x="827292" y="554736"/>
                </a:lnTo>
                <a:lnTo>
                  <a:pt x="801761" y="551867"/>
                </a:lnTo>
                <a:lnTo>
                  <a:pt x="773187" y="546845"/>
                </a:lnTo>
                <a:lnTo>
                  <a:pt x="759661" y="541824"/>
                </a:lnTo>
                <a:lnTo>
                  <a:pt x="744444" y="537998"/>
                </a:lnTo>
                <a:lnTo>
                  <a:pt x="728044" y="534651"/>
                </a:lnTo>
                <a:lnTo>
                  <a:pt x="712827" y="533933"/>
                </a:lnTo>
                <a:lnTo>
                  <a:pt x="670219" y="524369"/>
                </a:lnTo>
                <a:lnTo>
                  <a:pt x="646549" y="523412"/>
                </a:lnTo>
                <a:lnTo>
                  <a:pt x="615439" y="520304"/>
                </a:lnTo>
                <a:lnTo>
                  <a:pt x="554571" y="507392"/>
                </a:lnTo>
                <a:lnTo>
                  <a:pt x="536311" y="502371"/>
                </a:lnTo>
                <a:lnTo>
                  <a:pt x="519234" y="500697"/>
                </a:lnTo>
                <a:lnTo>
                  <a:pt x="499283" y="496154"/>
                </a:lnTo>
                <a:lnTo>
                  <a:pt x="484066" y="488981"/>
                </a:lnTo>
                <a:lnTo>
                  <a:pt x="473583" y="475351"/>
                </a:lnTo>
                <a:lnTo>
                  <a:pt x="463270" y="457179"/>
                </a:lnTo>
                <a:lnTo>
                  <a:pt x="444502" y="433507"/>
                </a:lnTo>
                <a:lnTo>
                  <a:pt x="440106" y="421312"/>
                </a:lnTo>
                <a:lnTo>
                  <a:pt x="446193" y="411031"/>
                </a:lnTo>
                <a:lnTo>
                  <a:pt x="452280" y="403618"/>
                </a:lnTo>
                <a:lnTo>
                  <a:pt x="412716" y="408639"/>
                </a:lnTo>
                <a:lnTo>
                  <a:pt x="379915" y="421312"/>
                </a:lnTo>
                <a:lnTo>
                  <a:pt x="367065" y="421791"/>
                </a:lnTo>
                <a:lnTo>
                  <a:pt x="354892" y="418921"/>
                </a:lnTo>
                <a:lnTo>
                  <a:pt x="338491" y="418443"/>
                </a:lnTo>
                <a:lnTo>
                  <a:pt x="322091" y="421791"/>
                </a:lnTo>
                <a:lnTo>
                  <a:pt x="290474" y="423943"/>
                </a:lnTo>
                <a:lnTo>
                  <a:pt x="271537" y="433029"/>
                </a:lnTo>
                <a:lnTo>
                  <a:pt x="260040" y="451679"/>
                </a:lnTo>
                <a:lnTo>
                  <a:pt x="253277" y="466743"/>
                </a:lnTo>
                <a:lnTo>
                  <a:pt x="236876" y="472960"/>
                </a:lnTo>
                <a:lnTo>
                  <a:pt x="219800" y="471525"/>
                </a:lnTo>
                <a:lnTo>
                  <a:pt x="208302" y="467461"/>
                </a:lnTo>
                <a:lnTo>
                  <a:pt x="196636" y="454549"/>
                </a:lnTo>
                <a:lnTo>
                  <a:pt x="177869" y="452875"/>
                </a:lnTo>
                <a:lnTo>
                  <a:pt x="160792" y="452636"/>
                </a:lnTo>
                <a:lnTo>
                  <a:pt x="157072" y="442115"/>
                </a:lnTo>
                <a:lnTo>
                  <a:pt x="150478" y="426334"/>
                </a:lnTo>
                <a:lnTo>
                  <a:pt x="138812" y="421312"/>
                </a:lnTo>
                <a:lnTo>
                  <a:pt x="110238" y="450962"/>
                </a:lnTo>
                <a:lnTo>
                  <a:pt x="79128" y="445462"/>
                </a:lnTo>
                <a:lnTo>
                  <a:pt x="59177" y="433029"/>
                </a:lnTo>
                <a:lnTo>
                  <a:pt x="53597" y="416052"/>
                </a:lnTo>
                <a:lnTo>
                  <a:pt x="36521" y="408879"/>
                </a:lnTo>
                <a:lnTo>
                  <a:pt x="15893" y="404335"/>
                </a:lnTo>
                <a:lnTo>
                  <a:pt x="14033" y="392380"/>
                </a:lnTo>
                <a:lnTo>
                  <a:pt x="7439" y="380424"/>
                </a:lnTo>
                <a:lnTo>
                  <a:pt x="4396" y="367034"/>
                </a:lnTo>
                <a:lnTo>
                  <a:pt x="1860" y="356992"/>
                </a:lnTo>
                <a:close/>
              </a:path>
            </a:pathLst>
          </a:custGeom>
          <a:solidFill>
            <a:srgbClr val="E9EBEC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3031683" y="4540411"/>
            <a:ext cx="54781" cy="49017"/>
          </a:xfrm>
          <a:custGeom>
            <a:avLst/>
            <a:gdLst/>
            <a:ahLst/>
            <a:cxnLst/>
            <a:rect l="l" t="t" r="r" b="b"/>
            <a:pathLst>
              <a:path w="54781" h="49017">
                <a:moveTo>
                  <a:pt x="48694" y="33236"/>
                </a:moveTo>
                <a:lnTo>
                  <a:pt x="28574" y="44474"/>
                </a:lnTo>
                <a:lnTo>
                  <a:pt x="19951" y="47822"/>
                </a:lnTo>
                <a:lnTo>
                  <a:pt x="5411" y="49017"/>
                </a:lnTo>
                <a:lnTo>
                  <a:pt x="2367" y="34432"/>
                </a:lnTo>
                <a:lnTo>
                  <a:pt x="0" y="22476"/>
                </a:lnTo>
                <a:lnTo>
                  <a:pt x="1691" y="11238"/>
                </a:lnTo>
                <a:lnTo>
                  <a:pt x="7271" y="5021"/>
                </a:lnTo>
                <a:lnTo>
                  <a:pt x="14541" y="0"/>
                </a:lnTo>
                <a:lnTo>
                  <a:pt x="25531" y="1673"/>
                </a:lnTo>
                <a:lnTo>
                  <a:pt x="49202" y="9086"/>
                </a:lnTo>
                <a:lnTo>
                  <a:pt x="54781" y="15781"/>
                </a:lnTo>
                <a:lnTo>
                  <a:pt x="50385" y="27736"/>
                </a:lnTo>
                <a:close/>
              </a:path>
            </a:pathLst>
          </a:custGeom>
          <a:solidFill>
            <a:srgbClr val="E9EBEC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2857920" y="5867473"/>
            <a:ext cx="1388578" cy="213286"/>
          </a:xfrm>
          <a:custGeom>
            <a:avLst/>
            <a:gdLst/>
            <a:ahLst/>
            <a:cxnLst/>
            <a:rect l="l" t="t" r="r" b="b"/>
            <a:pathLst>
              <a:path w="1388578" h="213286">
                <a:moveTo>
                  <a:pt x="1384351" y="36823"/>
                </a:moveTo>
                <a:lnTo>
                  <a:pt x="1388071" y="49735"/>
                </a:lnTo>
                <a:lnTo>
                  <a:pt x="1388578" y="61930"/>
                </a:lnTo>
                <a:lnTo>
                  <a:pt x="1372178" y="72690"/>
                </a:lnTo>
                <a:lnTo>
                  <a:pt x="1361864" y="79146"/>
                </a:lnTo>
                <a:lnTo>
                  <a:pt x="1349014" y="109991"/>
                </a:lnTo>
                <a:lnTo>
                  <a:pt x="1325851" y="130793"/>
                </a:lnTo>
                <a:lnTo>
                  <a:pt x="1322300" y="142749"/>
                </a:lnTo>
                <a:lnTo>
                  <a:pt x="1338024" y="152313"/>
                </a:lnTo>
                <a:lnTo>
                  <a:pt x="1342928" y="160921"/>
                </a:lnTo>
                <a:lnTo>
                  <a:pt x="1345971" y="173116"/>
                </a:lnTo>
                <a:lnTo>
                  <a:pt x="1339147" y="213286"/>
                </a:lnTo>
                <a:lnTo>
                  <a:pt x="0" y="213286"/>
                </a:lnTo>
                <a:lnTo>
                  <a:pt x="21594" y="198462"/>
                </a:lnTo>
                <a:lnTo>
                  <a:pt x="67752" y="175985"/>
                </a:lnTo>
                <a:lnTo>
                  <a:pt x="98186" y="154704"/>
                </a:lnTo>
                <a:lnTo>
                  <a:pt x="146880" y="137010"/>
                </a:lnTo>
                <a:lnTo>
                  <a:pt x="268108" y="125294"/>
                </a:lnTo>
                <a:lnTo>
                  <a:pt x="330159" y="115490"/>
                </a:lnTo>
                <a:lnTo>
                  <a:pt x="372766" y="117403"/>
                </a:lnTo>
                <a:lnTo>
                  <a:pt x="415374" y="84167"/>
                </a:lnTo>
                <a:lnTo>
                  <a:pt x="436677" y="73407"/>
                </a:lnTo>
                <a:lnTo>
                  <a:pt x="529162" y="71016"/>
                </a:lnTo>
                <a:lnTo>
                  <a:pt x="572953" y="46866"/>
                </a:lnTo>
                <a:lnTo>
                  <a:pt x="738479" y="46866"/>
                </a:lnTo>
                <a:lnTo>
                  <a:pt x="758599" y="54756"/>
                </a:lnTo>
                <a:lnTo>
                  <a:pt x="778719" y="68147"/>
                </a:lnTo>
                <a:lnTo>
                  <a:pt x="812873" y="99231"/>
                </a:lnTo>
                <a:lnTo>
                  <a:pt x="829273" y="106165"/>
                </a:lnTo>
                <a:lnTo>
                  <a:pt x="851084" y="99709"/>
                </a:lnTo>
                <a:lnTo>
                  <a:pt x="902314" y="69820"/>
                </a:lnTo>
                <a:lnTo>
                  <a:pt x="959462" y="54278"/>
                </a:lnTo>
                <a:lnTo>
                  <a:pt x="990572" y="36823"/>
                </a:lnTo>
                <a:lnTo>
                  <a:pt x="1003929" y="11238"/>
                </a:lnTo>
                <a:lnTo>
                  <a:pt x="1030643" y="1674"/>
                </a:lnTo>
                <a:lnTo>
                  <a:pt x="1045860" y="21042"/>
                </a:lnTo>
                <a:lnTo>
                  <a:pt x="1105544" y="41127"/>
                </a:lnTo>
                <a:lnTo>
                  <a:pt x="1142065" y="35628"/>
                </a:lnTo>
                <a:lnTo>
                  <a:pt x="1157958" y="29411"/>
                </a:lnTo>
                <a:lnTo>
                  <a:pt x="1152378" y="0"/>
                </a:lnTo>
                <a:lnTo>
                  <a:pt x="1190759" y="7891"/>
                </a:lnTo>
                <a:lnTo>
                  <a:pt x="1220685" y="21998"/>
                </a:lnTo>
                <a:lnTo>
                  <a:pt x="1251626" y="50691"/>
                </a:lnTo>
                <a:lnTo>
                  <a:pt x="1271746" y="56430"/>
                </a:lnTo>
                <a:lnTo>
                  <a:pt x="1308267" y="43518"/>
                </a:lnTo>
                <a:lnTo>
                  <a:pt x="1384351" y="36823"/>
                </a:lnTo>
                <a:close/>
              </a:path>
            </a:pathLst>
          </a:custGeom>
          <a:solidFill>
            <a:srgbClr val="E9EBEC"/>
          </a:solidFill>
          <a:ln w="9525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>
            <a:off x="4259686" y="2754735"/>
            <a:ext cx="1691" cy="169768"/>
          </a:xfrm>
          <a:prstGeom prst="line">
            <a:avLst/>
          </a:prstGeom>
          <a:ln w="9525">
            <a:solidFill>
              <a:srgbClr val="969CA2"/>
            </a:solidFill>
            <a:prstDash val="dash"/>
          </a:ln>
        </p:spPr>
      </p:cxnSp>
      <p:cxnSp>
        <p:nvCxnSpPr>
          <p:cNvPr id="64" name="Connector 63"/>
          <p:cNvCxnSpPr/>
          <p:nvPr/>
        </p:nvCxnSpPr>
        <p:spPr>
          <a:xfrm flipH="1" flipV="1">
            <a:off x="3968875" y="2556273"/>
            <a:ext cx="292502" cy="368230"/>
          </a:xfrm>
          <a:prstGeom prst="line">
            <a:avLst/>
          </a:prstGeom>
          <a:ln w="9525">
            <a:solidFill>
              <a:srgbClr val="969CA2"/>
            </a:solidFill>
            <a:prstDash val="dash"/>
          </a:ln>
        </p:spPr>
      </p:cxnSp>
      <p:cxnSp>
        <p:nvCxnSpPr>
          <p:cNvPr id="65" name="Connector 64"/>
          <p:cNvCxnSpPr/>
          <p:nvPr/>
        </p:nvCxnSpPr>
        <p:spPr>
          <a:xfrm flipH="1">
            <a:off x="3527585" y="2556273"/>
            <a:ext cx="441290" cy="21520"/>
          </a:xfrm>
          <a:prstGeom prst="line">
            <a:avLst/>
          </a:prstGeom>
          <a:ln w="9525">
            <a:solidFill>
              <a:srgbClr val="969CA2"/>
            </a:solidFill>
            <a:prstDash val="dash"/>
          </a:ln>
        </p:spPr>
      </p:cxnSp>
      <p:cxnSp>
        <p:nvCxnSpPr>
          <p:cNvPr id="66" name="Connector 65"/>
          <p:cNvCxnSpPr/>
          <p:nvPr/>
        </p:nvCxnSpPr>
        <p:spPr>
          <a:xfrm flipH="1">
            <a:off x="3189432" y="2577793"/>
            <a:ext cx="338153" cy="475830"/>
          </a:xfrm>
          <a:prstGeom prst="line">
            <a:avLst/>
          </a:prstGeom>
          <a:ln w="9525">
            <a:solidFill>
              <a:srgbClr val="969CA2"/>
            </a:solidFill>
            <a:prstDash val="dash"/>
          </a:ln>
        </p:spPr>
      </p:cxnSp>
      <p:cxnSp>
        <p:nvCxnSpPr>
          <p:cNvPr id="67" name="Connector 66"/>
          <p:cNvCxnSpPr/>
          <p:nvPr/>
        </p:nvCxnSpPr>
        <p:spPr>
          <a:xfrm flipH="1">
            <a:off x="2166519" y="3053623"/>
            <a:ext cx="1022913" cy="2018091"/>
          </a:xfrm>
          <a:prstGeom prst="line">
            <a:avLst/>
          </a:prstGeom>
          <a:ln w="9525">
            <a:solidFill>
              <a:srgbClr val="969CA2"/>
            </a:solidFill>
            <a:prstDash val="dash"/>
          </a:ln>
        </p:spPr>
      </p:cxnSp>
      <p:cxnSp>
        <p:nvCxnSpPr>
          <p:cNvPr id="68" name="Connector 67"/>
          <p:cNvCxnSpPr/>
          <p:nvPr/>
        </p:nvCxnSpPr>
        <p:spPr>
          <a:xfrm>
            <a:off x="2166519" y="5071714"/>
            <a:ext cx="561334" cy="227155"/>
          </a:xfrm>
          <a:prstGeom prst="line">
            <a:avLst/>
          </a:prstGeom>
          <a:ln w="9525">
            <a:solidFill>
              <a:srgbClr val="969CA2"/>
            </a:solidFill>
            <a:prstDash val="dash"/>
          </a:ln>
        </p:spPr>
      </p:cxnSp>
      <p:cxnSp>
        <p:nvCxnSpPr>
          <p:cNvPr id="69" name="Connector 68"/>
          <p:cNvCxnSpPr/>
          <p:nvPr/>
        </p:nvCxnSpPr>
        <p:spPr>
          <a:xfrm flipV="1">
            <a:off x="2727853" y="4839777"/>
            <a:ext cx="431145" cy="459092"/>
          </a:xfrm>
          <a:prstGeom prst="line">
            <a:avLst/>
          </a:prstGeom>
          <a:ln w="9525">
            <a:solidFill>
              <a:srgbClr val="969CA2"/>
            </a:solidFill>
            <a:prstDash val="dash"/>
          </a:ln>
        </p:spPr>
      </p:cxnSp>
      <p:sp>
        <p:nvSpPr>
          <p:cNvPr id="70" name="Oval 69"/>
          <p:cNvSpPr/>
          <p:nvPr/>
        </p:nvSpPr>
        <p:spPr>
          <a:xfrm>
            <a:off x="3900295" y="2487693"/>
            <a:ext cx="137160" cy="1371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74E58"/>
            </a:solidFill>
          </a:ln>
        </p:spPr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4096891" y="2373393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쾰른</a:t>
            </a:r>
          </a:p>
        </p:txBody>
      </p:sp>
      <p:sp>
        <p:nvSpPr>
          <p:cNvPr id="72" name="Oval 71"/>
          <p:cNvSpPr/>
          <p:nvPr/>
        </p:nvSpPr>
        <p:spPr>
          <a:xfrm>
            <a:off x="4191106" y="2686155"/>
            <a:ext cx="137160" cy="137160"/>
          </a:xfrm>
          <a:prstGeom prst="ellipse">
            <a:avLst/>
          </a:prstGeom>
          <a:solidFill>
            <a:srgbClr val="174E58"/>
          </a:solidFill>
          <a:ln w="19050">
            <a:solidFill>
              <a:srgbClr val="174E58"/>
            </a:solidFill>
          </a:ln>
        </p:spPr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4387702" y="2608431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프랑크푸르트</a:t>
            </a:r>
          </a:p>
        </p:txBody>
      </p:sp>
      <p:sp>
        <p:nvSpPr>
          <p:cNvPr id="74" name="Oval 73"/>
          <p:cNvSpPr/>
          <p:nvPr/>
        </p:nvSpPr>
        <p:spPr>
          <a:xfrm>
            <a:off x="4192797" y="2855923"/>
            <a:ext cx="137160" cy="1371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74E58"/>
            </a:solidFill>
          </a:ln>
        </p:spPr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4389393" y="2833063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하이델베르크</a:t>
            </a:r>
          </a:p>
        </p:txBody>
      </p:sp>
      <p:sp>
        <p:nvSpPr>
          <p:cNvPr id="76" name="Oval 75"/>
          <p:cNvSpPr/>
          <p:nvPr/>
        </p:nvSpPr>
        <p:spPr>
          <a:xfrm>
            <a:off x="3459005" y="2509213"/>
            <a:ext cx="137160" cy="137160"/>
          </a:xfrm>
          <a:prstGeom prst="ellipse">
            <a:avLst/>
          </a:prstGeom>
          <a:solidFill>
            <a:srgbClr val="174E58"/>
          </a:solidFill>
          <a:ln w="19050">
            <a:solidFill>
              <a:srgbClr val="174E58"/>
            </a:solidFill>
          </a:ln>
        </p:spPr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2960657" y="2303473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브뤼셀</a:t>
            </a:r>
          </a:p>
        </p:txBody>
      </p:sp>
      <p:sp>
        <p:nvSpPr>
          <p:cNvPr id="78" name="Oval 77"/>
          <p:cNvSpPr/>
          <p:nvPr/>
        </p:nvSpPr>
        <p:spPr>
          <a:xfrm>
            <a:off x="3120852" y="2985043"/>
            <a:ext cx="137160" cy="137160"/>
          </a:xfrm>
          <a:prstGeom prst="ellipse">
            <a:avLst/>
          </a:prstGeom>
          <a:solidFill>
            <a:srgbClr val="174E58"/>
          </a:solidFill>
          <a:ln w="19050">
            <a:solidFill>
              <a:srgbClr val="174E58"/>
            </a:solidFill>
          </a:ln>
        </p:spPr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2732232" y="2943895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파리</a:t>
            </a:r>
          </a:p>
        </p:txBody>
      </p:sp>
      <p:sp>
        <p:nvSpPr>
          <p:cNvPr id="80" name="Oval 79"/>
          <p:cNvSpPr/>
          <p:nvPr/>
        </p:nvSpPr>
        <p:spPr>
          <a:xfrm>
            <a:off x="2097939" y="5003134"/>
            <a:ext cx="137160" cy="1371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74E58"/>
            </a:solidFill>
          </a:ln>
        </p:spPr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1453287" y="496198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마드리드</a:t>
            </a:r>
          </a:p>
        </p:txBody>
      </p:sp>
      <p:sp>
        <p:nvSpPr>
          <p:cNvPr id="82" name="Oval 81"/>
          <p:cNvSpPr/>
          <p:nvPr/>
        </p:nvSpPr>
        <p:spPr>
          <a:xfrm>
            <a:off x="2659273" y="5230289"/>
            <a:ext cx="137160" cy="1371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74E58"/>
            </a:solidFill>
          </a:ln>
        </p:spPr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2855869" y="5207429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발렌시아</a:t>
            </a:r>
          </a:p>
        </p:txBody>
      </p:sp>
      <p:sp>
        <p:nvSpPr>
          <p:cNvPr id="84" name="Oval 83"/>
          <p:cNvSpPr/>
          <p:nvPr/>
        </p:nvSpPr>
        <p:spPr>
          <a:xfrm>
            <a:off x="3090418" y="4771197"/>
            <a:ext cx="137160" cy="137160"/>
          </a:xfrm>
          <a:prstGeom prst="ellipse">
            <a:avLst/>
          </a:prstGeom>
          <a:solidFill>
            <a:srgbClr val="174E58"/>
          </a:solidFill>
          <a:ln w="19050">
            <a:solidFill>
              <a:srgbClr val="174E58"/>
            </a:solidFill>
          </a:ln>
        </p:spPr>
        <p:txBody>
          <a:bodyPr rtlCol="0" anchor="ctr"/>
          <a:lstStyle/>
          <a:p/>
        </p:txBody>
      </p:sp>
      <p:sp>
        <p:nvSpPr>
          <p:cNvPr id="85" name="TextBox 84"/>
          <p:cNvSpPr txBox="1"/>
          <p:nvPr/>
        </p:nvSpPr>
        <p:spPr>
          <a:xfrm>
            <a:off x="3287014" y="4711761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바르셀로나</a:t>
            </a:r>
          </a:p>
        </p:txBody>
      </p:sp>
      <p:sp>
        <p:nvSpPr>
          <p:cNvPr id="86" name="Oval 85"/>
          <p:cNvSpPr/>
          <p:nvPr/>
        </p:nvSpPr>
        <p:spPr>
          <a:xfrm>
            <a:off x="717803" y="5811012"/>
            <a:ext cx="118872" cy="118872"/>
          </a:xfrm>
          <a:prstGeom prst="ellipse">
            <a:avLst/>
          </a:prstGeom>
          <a:solidFill>
            <a:srgbClr val="174E58"/>
          </a:solidFill>
          <a:ln w="15875">
            <a:solidFill>
              <a:srgbClr val="174E58"/>
            </a:solidFill>
          </a:ln>
        </p:spPr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914400" y="57607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측정</a:t>
            </a:r>
          </a:p>
        </p:txBody>
      </p:sp>
      <p:sp>
        <p:nvSpPr>
          <p:cNvPr id="88" name="Oval 87"/>
          <p:cNvSpPr/>
          <p:nvPr/>
        </p:nvSpPr>
        <p:spPr>
          <a:xfrm>
            <a:off x="1540764" y="5811012"/>
            <a:ext cx="118872" cy="118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74E58"/>
            </a:solidFill>
          </a:ln>
        </p:spPr>
        <p:txBody>
          <a:bodyPr rtlCol="0" anchor="ctr"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1737360" y="5760720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기록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370167" y="1920239"/>
            <a:ext cx="1024127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B6066"/>
                </a:solidFill>
                <a:latin typeface="Pretendard Medium"/>
                <a:ea typeface="Pretendard Medium"/>
                <a:cs typeface="Pretendard Medium"/>
              </a:rPr>
              <a:t>날짜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467447" y="1920239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B6066"/>
                </a:solidFill>
                <a:latin typeface="Pretendard Medium"/>
                <a:ea typeface="Pretendard Medium"/>
                <a:cs typeface="Pretendard Medium"/>
              </a:rPr>
              <a:t>도시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839047" y="1920239"/>
            <a:ext cx="195361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B6066"/>
                </a:solidFill>
                <a:latin typeface="Pretendard Medium"/>
                <a:ea typeface="Pretendard Medium"/>
                <a:cs typeface="Pretendard Medium"/>
              </a:rPr>
              <a:t>장소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865815" y="1920239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B6066"/>
                </a:solidFill>
                <a:latin typeface="Pretendard Medium"/>
                <a:ea typeface="Pretendard Medium"/>
                <a:cs typeface="Pretendard Medium"/>
              </a:rPr>
              <a:t>구분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6370167" y="2249423"/>
            <a:ext cx="5135728" cy="0"/>
          </a:xfrm>
          <a:prstGeom prst="line">
            <a:avLst/>
          </a:prstGeom>
          <a:ln w="22225">
            <a:solidFill>
              <a:srgbClr val="174E58"/>
            </a:solidFill>
          </a:ln>
        </p:spPr>
      </p:cxnSp>
      <p:sp>
        <p:nvSpPr>
          <p:cNvPr id="95" name="TextBox 94"/>
          <p:cNvSpPr txBox="1"/>
          <p:nvPr/>
        </p:nvSpPr>
        <p:spPr>
          <a:xfrm>
            <a:off x="6370167" y="2340863"/>
            <a:ext cx="1024127" cy="21031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12/22~23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467447" y="2340863"/>
            <a:ext cx="1298448" cy="21031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프랑크푸르트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839047" y="2340863"/>
            <a:ext cx="1953615" cy="21031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뢰머광장~차일 거리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865815" y="2340863"/>
            <a:ext cx="566928" cy="21031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74E58"/>
                </a:solidFill>
                <a:latin typeface="Pretendard SemiBold"/>
                <a:ea typeface="Pretendard SemiBold"/>
                <a:cs typeface="Pretendard SemiBold"/>
              </a:rPr>
              <a:t>측정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6370167" y="2642615"/>
            <a:ext cx="5135728" cy="0"/>
          </a:xfrm>
          <a:prstGeom prst="line">
            <a:avLst/>
          </a:prstGeom>
          <a:ln w="9525">
            <a:solidFill>
              <a:srgbClr val="D3D6D9"/>
            </a:solidFill>
          </a:ln>
        </p:spPr>
      </p:cxnSp>
      <p:sp>
        <p:nvSpPr>
          <p:cNvPr id="100" name="TextBox 99"/>
          <p:cNvSpPr txBox="1"/>
          <p:nvPr/>
        </p:nvSpPr>
        <p:spPr>
          <a:xfrm>
            <a:off x="6370167" y="2734056"/>
            <a:ext cx="1024127" cy="21031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12/22~23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467447" y="2734056"/>
            <a:ext cx="1298448" cy="21031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하이델베르크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839047" y="2734056"/>
            <a:ext cx="1953615" cy="21031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구시가 중심가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865815" y="2734056"/>
            <a:ext cx="566928" cy="21031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기록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6370167" y="3035808"/>
            <a:ext cx="5135728" cy="0"/>
          </a:xfrm>
          <a:prstGeom prst="line">
            <a:avLst/>
          </a:prstGeom>
          <a:ln w="9525">
            <a:solidFill>
              <a:srgbClr val="D3D6D9"/>
            </a:solidFill>
          </a:ln>
        </p:spPr>
      </p:cxnSp>
      <p:sp>
        <p:nvSpPr>
          <p:cNvPr id="105" name="TextBox 104"/>
          <p:cNvSpPr txBox="1"/>
          <p:nvPr/>
        </p:nvSpPr>
        <p:spPr>
          <a:xfrm>
            <a:off x="6370167" y="3127248"/>
            <a:ext cx="1024127" cy="21031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12/22~23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467447" y="3127248"/>
            <a:ext cx="1298448" cy="21031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쾰른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839047" y="3127248"/>
            <a:ext cx="1953615" cy="21031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대성당 광장·라인강 다리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0865815" y="3127248"/>
            <a:ext cx="566928" cy="21031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기록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6370167" y="3429000"/>
            <a:ext cx="5135728" cy="0"/>
          </a:xfrm>
          <a:prstGeom prst="line">
            <a:avLst/>
          </a:prstGeom>
          <a:ln w="9525">
            <a:solidFill>
              <a:srgbClr val="D3D6D9"/>
            </a:solidFill>
          </a:ln>
        </p:spPr>
      </p:cxnSp>
      <p:sp>
        <p:nvSpPr>
          <p:cNvPr id="110" name="TextBox 109"/>
          <p:cNvSpPr txBox="1"/>
          <p:nvPr/>
        </p:nvSpPr>
        <p:spPr>
          <a:xfrm>
            <a:off x="6370167" y="3520440"/>
            <a:ext cx="1024127" cy="21031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12/24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467447" y="3520440"/>
            <a:ext cx="1298448" cy="21031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브뤼셀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839047" y="3520440"/>
            <a:ext cx="1953615" cy="21031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그랑플라스 주변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865815" y="3520440"/>
            <a:ext cx="566928" cy="21031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74E58"/>
                </a:solidFill>
                <a:latin typeface="Pretendard SemiBold"/>
                <a:ea typeface="Pretendard SemiBold"/>
                <a:cs typeface="Pretendard SemiBold"/>
              </a:rPr>
              <a:t>측정</a:t>
            </a:r>
          </a:p>
        </p:txBody>
      </p:sp>
      <p:cxnSp>
        <p:nvCxnSpPr>
          <p:cNvPr id="114" name="Connector 113"/>
          <p:cNvCxnSpPr/>
          <p:nvPr/>
        </p:nvCxnSpPr>
        <p:spPr>
          <a:xfrm>
            <a:off x="6370167" y="3822191"/>
            <a:ext cx="5135728" cy="0"/>
          </a:xfrm>
          <a:prstGeom prst="line">
            <a:avLst/>
          </a:prstGeom>
          <a:ln w="9525">
            <a:solidFill>
              <a:srgbClr val="D3D6D9"/>
            </a:solidFill>
          </a:ln>
        </p:spPr>
      </p:cxnSp>
      <p:sp>
        <p:nvSpPr>
          <p:cNvPr id="115" name="TextBox 114"/>
          <p:cNvSpPr txBox="1"/>
          <p:nvPr/>
        </p:nvSpPr>
        <p:spPr>
          <a:xfrm>
            <a:off x="6370167" y="3913631"/>
            <a:ext cx="1024127" cy="21031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12/26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467447" y="3913631"/>
            <a:ext cx="1298448" cy="21031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파리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839047" y="3913631"/>
            <a:ext cx="1953615" cy="21031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루브르 박물관~리볼리 거리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865815" y="3913631"/>
            <a:ext cx="566928" cy="21031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74E58"/>
                </a:solidFill>
                <a:latin typeface="Pretendard SemiBold"/>
                <a:ea typeface="Pretendard SemiBold"/>
                <a:cs typeface="Pretendard SemiBold"/>
              </a:rPr>
              <a:t>측정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6370167" y="4215383"/>
            <a:ext cx="5135728" cy="0"/>
          </a:xfrm>
          <a:prstGeom prst="line">
            <a:avLst/>
          </a:prstGeom>
          <a:ln w="9525">
            <a:solidFill>
              <a:srgbClr val="D3D6D9"/>
            </a:solidFill>
          </a:ln>
        </p:spPr>
      </p:cxnSp>
      <p:sp>
        <p:nvSpPr>
          <p:cNvPr id="120" name="TextBox 119"/>
          <p:cNvSpPr txBox="1"/>
          <p:nvPr/>
        </p:nvSpPr>
        <p:spPr>
          <a:xfrm>
            <a:off x="6370167" y="4306823"/>
            <a:ext cx="1024127" cy="21031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12/27~28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467447" y="4306823"/>
            <a:ext cx="1298448" cy="21031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마드리드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839047" y="4306823"/>
            <a:ext cx="1953615" cy="21031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솔 광장~그란비아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865815" y="4306823"/>
            <a:ext cx="566928" cy="21031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기록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6370167" y="4608575"/>
            <a:ext cx="5135728" cy="0"/>
          </a:xfrm>
          <a:prstGeom prst="line">
            <a:avLst/>
          </a:prstGeom>
          <a:ln w="9525">
            <a:solidFill>
              <a:srgbClr val="D3D6D9"/>
            </a:solidFill>
          </a:ln>
        </p:spPr>
      </p:cxnSp>
      <p:sp>
        <p:nvSpPr>
          <p:cNvPr id="125" name="TextBox 124"/>
          <p:cNvSpPr txBox="1"/>
          <p:nvPr/>
        </p:nvSpPr>
        <p:spPr>
          <a:xfrm>
            <a:off x="6370167" y="4700015"/>
            <a:ext cx="1024127" cy="21031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12/31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467447" y="4700015"/>
            <a:ext cx="1298448" cy="21031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발렌시아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839047" y="4700015"/>
            <a:ext cx="1953615" cy="21031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시청 광장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865815" y="4700015"/>
            <a:ext cx="566928" cy="21031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기록</a:t>
            </a:r>
          </a:p>
        </p:txBody>
      </p:sp>
      <p:cxnSp>
        <p:nvCxnSpPr>
          <p:cNvPr id="129" name="Connector 128"/>
          <p:cNvCxnSpPr/>
          <p:nvPr/>
        </p:nvCxnSpPr>
        <p:spPr>
          <a:xfrm>
            <a:off x="6370167" y="5001767"/>
            <a:ext cx="5135728" cy="0"/>
          </a:xfrm>
          <a:prstGeom prst="line">
            <a:avLst/>
          </a:prstGeom>
          <a:ln w="9525">
            <a:solidFill>
              <a:srgbClr val="D3D6D9"/>
            </a:solidFill>
          </a:ln>
        </p:spPr>
      </p:cxnSp>
      <p:sp>
        <p:nvSpPr>
          <p:cNvPr id="130" name="TextBox 129"/>
          <p:cNvSpPr txBox="1"/>
          <p:nvPr/>
        </p:nvSpPr>
        <p:spPr>
          <a:xfrm>
            <a:off x="6370167" y="5093207"/>
            <a:ext cx="1024127" cy="21031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1/2~3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467447" y="5093207"/>
            <a:ext cx="1298448" cy="21031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바르셀로나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839047" y="5093207"/>
            <a:ext cx="1953615" cy="21031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람블라스 거리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0865815" y="5093207"/>
            <a:ext cx="566928" cy="21031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74E58"/>
                </a:solidFill>
                <a:latin typeface="Pretendard SemiBold"/>
                <a:ea typeface="Pretendard SemiBold"/>
                <a:cs typeface="Pretendard SemiBold"/>
              </a:rPr>
              <a:t>측정</a:t>
            </a:r>
          </a:p>
        </p:txBody>
      </p:sp>
      <p:cxnSp>
        <p:nvCxnSpPr>
          <p:cNvPr id="134" name="Connector 133"/>
          <p:cNvCxnSpPr/>
          <p:nvPr/>
        </p:nvCxnSpPr>
        <p:spPr>
          <a:xfrm>
            <a:off x="6370167" y="5394959"/>
            <a:ext cx="5135728" cy="0"/>
          </a:xfrm>
          <a:prstGeom prst="line">
            <a:avLst/>
          </a:prstGeom>
          <a:ln w="9525">
            <a:solidFill>
              <a:srgbClr val="D3D6D9"/>
            </a:solidFill>
          </a:ln>
        </p:spPr>
      </p:cxnSp>
      <p:sp>
        <p:nvSpPr>
          <p:cNvPr id="135" name="TextBox 134"/>
          <p:cNvSpPr txBox="1"/>
          <p:nvPr/>
        </p:nvSpPr>
        <p:spPr>
          <a:xfrm>
            <a:off x="6370167" y="5486399"/>
            <a:ext cx="1024127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10~11월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467447" y="5486399"/>
            <a:ext cx="1298448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서울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839047" y="5486399"/>
            <a:ext cx="1953615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킥보드 없는 거리 2곳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865815" y="5486399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174E58"/>
                </a:solidFill>
                <a:latin typeface="Pretendard SemiBold"/>
                <a:ea typeface="Pretendard SemiBold"/>
                <a:cs typeface="Pretendard SemiBold"/>
              </a:rPr>
              <a:t>측정</a:t>
            </a:r>
          </a:p>
        </p:txBody>
      </p:sp>
      <p:cxnSp>
        <p:nvCxnSpPr>
          <p:cNvPr id="139" name="Connector 138"/>
          <p:cNvCxnSpPr/>
          <p:nvPr/>
        </p:nvCxnSpPr>
        <p:spPr>
          <a:xfrm>
            <a:off x="6370167" y="5852159"/>
            <a:ext cx="5135728" cy="0"/>
          </a:xfrm>
          <a:prstGeom prst="line">
            <a:avLst/>
          </a:prstGeom>
          <a:ln w="9525">
            <a:solidFill>
              <a:srgbClr val="D3D6D9"/>
            </a:solidFill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623552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174E58"/>
                </a:solidFill>
                <a:latin typeface="Pretendard"/>
                <a:ea typeface="Pretendard"/>
                <a:cs typeface="Pretendard"/>
              </a:rPr>
              <a:t>05</a:t>
            </a:r>
            <a:r>
              <a:rPr sz="1050" b="0">
                <a:solidFill>
                  <a:srgbClr val="5B6066"/>
                </a:solidFill>
                <a:latin typeface="Pretendard Medium"/>
                <a:ea typeface="Pretendard Medium"/>
                <a:cs typeface="Pretendard Medium"/>
              </a:rPr>
              <a:t>   국가별 활동 세부 내용 · 독일</a:t>
            </a:r>
          </a:p>
        </p:txBody>
      </p:sp>
      <p:sp>
        <p:nvSpPr>
          <p:cNvPr id="3" name="Rectangle 2"/>
          <p:cNvSpPr/>
          <p:nvPr/>
        </p:nvSpPr>
        <p:spPr>
          <a:xfrm>
            <a:off x="8021116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462429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8903741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9345053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9786366" y="457200"/>
            <a:ext cx="395592" cy="82296"/>
          </a:xfrm>
          <a:prstGeom prst="rect">
            <a:avLst/>
          </a:prstGeom>
          <a:solidFill>
            <a:srgbClr val="174E5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0227678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0668990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1110302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85800" y="713232"/>
            <a:ext cx="990318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프랑크푸르트에서는 주차면 근처와 먼 곳의 보도를 비교합니다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382512"/>
            <a:ext cx="8986266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969CA2"/>
                </a:solidFill>
                <a:latin typeface="Pretendard"/>
                <a:ea typeface="Pretendard"/>
                <a:cs typeface="Pretendard"/>
              </a:rPr>
              <a:t>출처: hessenschau(2026.6) · frankfurt.de · heidelberg.de · stadt-koeln.de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71860" y="6382512"/>
            <a:ext cx="734034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5000"/>
              </a:lnSpc>
            </a:pPr>
            <a:r>
              <a:rPr sz="850" b="0">
                <a:solidFill>
                  <a:srgbClr val="969CA2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920239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B6066"/>
                </a:solidFill>
                <a:latin typeface="Pretendard Medium"/>
                <a:ea typeface="Pretendard Medium"/>
                <a:cs typeface="Pretendard Medium"/>
              </a:rPr>
              <a:t>도시 · 일정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29968" y="1920239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B6066"/>
                </a:solidFill>
                <a:latin typeface="Pretendard Medium"/>
                <a:ea typeface="Pretendard Medium"/>
                <a:cs typeface="Pretendard Medium"/>
              </a:rPr>
              <a:t>구분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8608" y="1920239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B6066"/>
                </a:solidFill>
                <a:latin typeface="Pretendard Medium"/>
                <a:ea typeface="Pretendard Medium"/>
                <a:cs typeface="Pretendard Medium"/>
              </a:rPr>
              <a:t>규제 방식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4064" y="1920239"/>
            <a:ext cx="153619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B6066"/>
                </a:solidFill>
                <a:latin typeface="Pretendard Medium"/>
                <a:ea typeface="Pretendard Medium"/>
                <a:cs typeface="Pretendard Medium"/>
              </a:rPr>
              <a:t>장소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9984" y="1920239"/>
            <a:ext cx="477316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B6066"/>
                </a:solidFill>
                <a:latin typeface="Pretendard Medium"/>
                <a:ea typeface="Pretendard Medium"/>
                <a:cs typeface="Pretendard Medium"/>
              </a:rPr>
              <a:t>이 도시에서 보는 것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5800" y="2249423"/>
            <a:ext cx="10820095" cy="0"/>
          </a:xfrm>
          <a:prstGeom prst="line">
            <a:avLst/>
          </a:prstGeom>
          <a:ln w="22225">
            <a:solidFill>
              <a:srgbClr val="174E58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685800" y="2331720"/>
            <a:ext cx="128016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프랑크푸르트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100" b="0">
                <a:solidFill>
                  <a:srgbClr val="5B6066"/>
                </a:solidFill>
                <a:latin typeface="Pretendard SemiBold"/>
                <a:ea typeface="Pretendard SemiBold"/>
                <a:cs typeface="Pretendard SemiBold"/>
              </a:rPr>
              <a:t>12/22~23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29968" y="2331720"/>
            <a:ext cx="45720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74E58"/>
                </a:solidFill>
                <a:latin typeface="Pretendard SemiBold"/>
                <a:ea typeface="Pretendard SemiBold"/>
                <a:cs typeface="Pretendard SemiBold"/>
              </a:rPr>
              <a:t>측정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78608" y="2331720"/>
            <a:ext cx="2395728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관리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1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주차면 263곳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1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반경 100m 안 반납 금지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4064" y="2331720"/>
            <a:ext cx="1536192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뢰머광장~차일 거리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9984" y="2331720"/>
            <a:ext cx="4773168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74E58"/>
                </a:solidFill>
                <a:latin typeface="Pretendard SemiBold"/>
                <a:ea typeface="Pretendard SemiBold"/>
                <a:cs typeface="Pretendard SemiBold"/>
              </a:rPr>
              <a:t>주차면 100m 안·밖 각 200m의 100m당 기기 수와 방해·위험 비율 비교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10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규칙이 지켜지는 구간의 보도가 실제로 더 비어 있는지 확인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5800" y="3246120"/>
            <a:ext cx="10820095" cy="0"/>
          </a:xfrm>
          <a:prstGeom prst="line">
            <a:avLst/>
          </a:prstGeom>
          <a:ln w="9525">
            <a:solidFill>
              <a:srgbClr val="D3D6D9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685800" y="3300984"/>
            <a:ext cx="128016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하이델베르크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100" b="0">
                <a:solidFill>
                  <a:srgbClr val="5B6066"/>
                </a:solidFill>
                <a:latin typeface="Pretendard SemiBold"/>
                <a:ea typeface="Pretendard SemiBold"/>
                <a:cs typeface="Pretendard SemiBold"/>
              </a:rPr>
              <a:t>12/22~23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29968" y="3300984"/>
            <a:ext cx="45720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기록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78608" y="3300984"/>
            <a:ext cx="2395728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관리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1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3개 업체 1,200대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1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구시가는 지정 구역에만 주차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84064" y="3300984"/>
            <a:ext cx="1536192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구시가 중심가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3300984"/>
            <a:ext cx="4773168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74E58"/>
                </a:solidFill>
                <a:latin typeface="Pretendard SemiBold"/>
                <a:ea typeface="Pretendard SemiBold"/>
                <a:cs typeface="Pretendard SemiBold"/>
              </a:rPr>
              <a:t>구시가 지정 구역의 간격·크기·표시 방식을 사진과 지도로 기록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10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서울 주차칸 설계 참고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85800" y="4215384"/>
            <a:ext cx="10820095" cy="0"/>
          </a:xfrm>
          <a:prstGeom prst="line">
            <a:avLst/>
          </a:prstGeom>
          <a:ln w="9525">
            <a:solidFill>
              <a:srgbClr val="D3D6D9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685800" y="4270248"/>
            <a:ext cx="128016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쾰른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100" b="0">
                <a:solidFill>
                  <a:srgbClr val="5B6066"/>
                </a:solidFill>
                <a:latin typeface="Pretendard SemiBold"/>
                <a:ea typeface="Pretendard SemiBold"/>
                <a:cs typeface="Pretendard SemiBold"/>
              </a:rPr>
              <a:t>12/22~23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29968" y="4270248"/>
            <a:ext cx="45720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기록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78608" y="4270248"/>
            <a:ext cx="2395728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관리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1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보행자구역·다리·강변 반납 금지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84064" y="4270248"/>
            <a:ext cx="1536192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대성당 광장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라인강 다리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9984" y="4270248"/>
            <a:ext cx="4773168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74E58"/>
                </a:solidFill>
                <a:latin typeface="Pretendard SemiBold"/>
                <a:ea typeface="Pretendard SemiBold"/>
                <a:cs typeface="Pretendard SemiBold"/>
              </a:rPr>
              <a:t>금지 구역 경계를 바닥 표시·표지판·앱 중 무엇으로 알리는지 기록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85800" y="5184648"/>
            <a:ext cx="10820095" cy="0"/>
          </a:xfrm>
          <a:prstGeom prst="line">
            <a:avLst/>
          </a:prstGeom>
          <a:ln w="9525">
            <a:solidFill>
              <a:srgbClr val="D3D6D9"/>
            </a:solidFill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623552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174E58"/>
                </a:solidFill>
                <a:latin typeface="Pretendard"/>
                <a:ea typeface="Pretendard"/>
                <a:cs typeface="Pretendard"/>
              </a:rPr>
              <a:t>05</a:t>
            </a:r>
            <a:r>
              <a:rPr sz="1050" b="0">
                <a:solidFill>
                  <a:srgbClr val="5B6066"/>
                </a:solidFill>
                <a:latin typeface="Pretendard Medium"/>
                <a:ea typeface="Pretendard Medium"/>
                <a:cs typeface="Pretendard Medium"/>
              </a:rPr>
              <a:t>   국가별 활동 세부 내용 · 벨기에·프랑스</a:t>
            </a:r>
          </a:p>
        </p:txBody>
      </p:sp>
      <p:sp>
        <p:nvSpPr>
          <p:cNvPr id="3" name="Rectangle 2"/>
          <p:cNvSpPr/>
          <p:nvPr/>
        </p:nvSpPr>
        <p:spPr>
          <a:xfrm>
            <a:off x="8021116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462429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8903741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9345053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9786366" y="457200"/>
            <a:ext cx="395592" cy="82296"/>
          </a:xfrm>
          <a:prstGeom prst="rect">
            <a:avLst/>
          </a:prstGeom>
          <a:solidFill>
            <a:srgbClr val="174E5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0227678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0668990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1110302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85800" y="713232"/>
            <a:ext cx="990318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브뤼셀은 금지 직전, 파리는 금지 이후의 보도를 봅니다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382512"/>
            <a:ext cx="8986266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969CA2"/>
                </a:solidFill>
                <a:latin typeface="Pretendard"/>
                <a:ea typeface="Pretendard"/>
                <a:cs typeface="Pretendard"/>
              </a:rPr>
              <a:t>출처: Brussels Times(2024~2026) · brussels.be · paris.fr · NPR(2023)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71860" y="6382512"/>
            <a:ext cx="734034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5000"/>
              </a:lnSpc>
            </a:pPr>
            <a:r>
              <a:rPr sz="850" b="0">
                <a:solidFill>
                  <a:srgbClr val="969CA2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920239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B6066"/>
                </a:solidFill>
                <a:latin typeface="Pretendard Medium"/>
                <a:ea typeface="Pretendard Medium"/>
                <a:cs typeface="Pretendard Medium"/>
              </a:rPr>
              <a:t>도시 · 일정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29968" y="1920239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B6066"/>
                </a:solidFill>
                <a:latin typeface="Pretendard Medium"/>
                <a:ea typeface="Pretendard Medium"/>
                <a:cs typeface="Pretendard Medium"/>
              </a:rPr>
              <a:t>구분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8608" y="1920239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B6066"/>
                </a:solidFill>
                <a:latin typeface="Pretendard Medium"/>
                <a:ea typeface="Pretendard Medium"/>
                <a:cs typeface="Pretendard Medium"/>
              </a:rPr>
              <a:t>규제 방식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4064" y="1920239"/>
            <a:ext cx="153619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B6066"/>
                </a:solidFill>
                <a:latin typeface="Pretendard Medium"/>
                <a:ea typeface="Pretendard Medium"/>
                <a:cs typeface="Pretendard Medium"/>
              </a:rPr>
              <a:t>장소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9984" y="1920239"/>
            <a:ext cx="477316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B6066"/>
                </a:solidFill>
                <a:latin typeface="Pretendard Medium"/>
                <a:ea typeface="Pretendard Medium"/>
                <a:cs typeface="Pretendard Medium"/>
              </a:rPr>
              <a:t>이 도시에서 보는 것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5800" y="2249423"/>
            <a:ext cx="10820095" cy="0"/>
          </a:xfrm>
          <a:prstGeom prst="line">
            <a:avLst/>
          </a:prstGeom>
          <a:ln w="22225">
            <a:solidFill>
              <a:srgbClr val="174E58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685800" y="2331720"/>
            <a:ext cx="128016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브뤼셀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100" b="0">
                <a:solidFill>
                  <a:srgbClr val="5B6066"/>
                </a:solidFill>
                <a:latin typeface="Pretendard SemiBold"/>
                <a:ea typeface="Pretendard SemiBold"/>
                <a:cs typeface="Pretendard SemiBold"/>
              </a:rPr>
              <a:t>12/24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29968" y="2331720"/>
            <a:ext cx="45720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74E58"/>
                </a:solidFill>
                <a:latin typeface="Pretendard SemiBold"/>
                <a:ea typeface="Pretendard SemiBold"/>
                <a:cs typeface="Pretendard SemiBold"/>
              </a:rPr>
              <a:t>측정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78608" y="2331720"/>
            <a:ext cx="2395728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관리 (2027 금지 예정)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1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주차구역 1,700여 곳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1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2025년 부상 666명, 12월 마지막 운행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4064" y="2331720"/>
            <a:ext cx="1536192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그랑플라스 주변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9984" y="2331720"/>
            <a:ext cx="4773168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74E58"/>
                </a:solidFill>
                <a:latin typeface="Pretendard SemiBold"/>
                <a:ea typeface="Pretendard SemiBold"/>
                <a:cs typeface="Pretendard SemiBold"/>
              </a:rPr>
              <a:t>주차구역 근처·먼 곳 200m씩 비교해 촘촘한 관리로도 보도가 비워지는지 확인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10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금지 후에도 남는 공유 자전거 수를 함께 기록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5800" y="3383280"/>
            <a:ext cx="10820095" cy="0"/>
          </a:xfrm>
          <a:prstGeom prst="line">
            <a:avLst/>
          </a:prstGeom>
          <a:ln w="9525">
            <a:solidFill>
              <a:srgbClr val="D3D6D9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685800" y="3438144"/>
            <a:ext cx="128016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파리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100" b="0">
                <a:solidFill>
                  <a:srgbClr val="5B6066"/>
                </a:solidFill>
                <a:latin typeface="Pretendard SemiBold"/>
                <a:ea typeface="Pretendard SemiBold"/>
                <a:cs typeface="Pretendard SemiBold"/>
              </a:rPr>
              <a:t>12/26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29968" y="3438144"/>
            <a:ext cx="45720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74E58"/>
                </a:solidFill>
                <a:latin typeface="Pretendard SemiBold"/>
                <a:ea typeface="Pretendard SemiBold"/>
                <a:cs typeface="Pretendard SemiBold"/>
              </a:rPr>
              <a:t>측정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78608" y="3438144"/>
            <a:ext cx="2395728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금지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1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2023 주민투표로 1.5만 대 퇴출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1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공유 전기자전거는 운영 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84064" y="3438144"/>
            <a:ext cx="1536192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루브르~리볼리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400m 구간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3438144"/>
            <a:ext cx="4773168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74E58"/>
                </a:solidFill>
                <a:latin typeface="Pretendard SemiBold"/>
                <a:ea typeface="Pretendard SemiBold"/>
                <a:cs typeface="Pretendard SemiBold"/>
              </a:rPr>
              <a:t>남은 공유 전기자전거를 세고 주차 상태(○ △ ×) 분류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10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브뤼셀(관리)·바르셀로나(불허)와 비교해 문제가 다른 기기로 옮겨 갔는지 확인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85800" y="4489704"/>
            <a:ext cx="10820095" cy="0"/>
          </a:xfrm>
          <a:prstGeom prst="line">
            <a:avLst/>
          </a:prstGeom>
          <a:ln w="9525">
            <a:solidFill>
              <a:srgbClr val="D3D6D9"/>
            </a:solidFill>
          </a:ln>
        </p:spPr>
      </p:cxnSp>
      <p:sp>
        <p:nvSpPr>
          <p:cNvPr id="32" name="Rectangle 31"/>
          <p:cNvSpPr/>
          <p:nvPr/>
        </p:nvSpPr>
        <p:spPr>
          <a:xfrm>
            <a:off x="685800" y="4846320"/>
            <a:ext cx="54864" cy="365760"/>
          </a:xfrm>
          <a:prstGeom prst="rect">
            <a:avLst/>
          </a:prstGeom>
          <a:solidFill>
            <a:srgbClr val="174E5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86968" y="4846320"/>
            <a:ext cx="10618927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74E58"/>
                </a:solidFill>
                <a:latin typeface="Pretendard SemiBold"/>
                <a:ea typeface="Pretendard SemiBold"/>
                <a:cs typeface="Pretendard SemiBold"/>
              </a:rPr>
              <a:t>브뤼셀  </a:t>
            </a:r>
            <a:r>
              <a:rPr sz="12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2027년부터 공유 킥보드는 금지되지만 공유 자전거는 계속 허용됩니다.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623552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174E58"/>
                </a:solidFill>
                <a:latin typeface="Pretendard"/>
                <a:ea typeface="Pretendard"/>
                <a:cs typeface="Pretendard"/>
              </a:rPr>
              <a:t>05</a:t>
            </a:r>
            <a:r>
              <a:rPr sz="1050" b="0">
                <a:solidFill>
                  <a:srgbClr val="5B6066"/>
                </a:solidFill>
                <a:latin typeface="Pretendard Medium"/>
                <a:ea typeface="Pretendard Medium"/>
                <a:cs typeface="Pretendard Medium"/>
              </a:rPr>
              <a:t>   국가별 활동 세부 내용 · 스페인</a:t>
            </a:r>
          </a:p>
        </p:txBody>
      </p:sp>
      <p:sp>
        <p:nvSpPr>
          <p:cNvPr id="3" name="Rectangle 2"/>
          <p:cNvSpPr/>
          <p:nvPr/>
        </p:nvSpPr>
        <p:spPr>
          <a:xfrm>
            <a:off x="8021116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462429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8903741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9345053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9786366" y="457200"/>
            <a:ext cx="395592" cy="82296"/>
          </a:xfrm>
          <a:prstGeom prst="rect">
            <a:avLst/>
          </a:prstGeom>
          <a:solidFill>
            <a:srgbClr val="174E5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0227678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0668990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1110302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85800" y="713232"/>
            <a:ext cx="990318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공유 킥보드가 없는 바르셀로나를 비교 기준으로 삼습니다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382512"/>
            <a:ext cx="8986266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969CA2"/>
                </a:solidFill>
                <a:latin typeface="Pretendard"/>
                <a:ea typeface="Pretendard"/>
                <a:cs typeface="Pretendard"/>
              </a:rPr>
              <a:t>출처: madrid.es(2024.9) · The Objective(2024.10) · El Español(2024.9) · barcelona.cat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71860" y="6382512"/>
            <a:ext cx="734034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5000"/>
              </a:lnSpc>
            </a:pPr>
            <a:r>
              <a:rPr sz="850" b="0">
                <a:solidFill>
                  <a:srgbClr val="969CA2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920239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B6066"/>
                </a:solidFill>
                <a:latin typeface="Pretendard Medium"/>
                <a:ea typeface="Pretendard Medium"/>
                <a:cs typeface="Pretendard Medium"/>
              </a:rPr>
              <a:t>도시 · 일정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29968" y="1920239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B6066"/>
                </a:solidFill>
                <a:latin typeface="Pretendard Medium"/>
                <a:ea typeface="Pretendard Medium"/>
                <a:cs typeface="Pretendard Medium"/>
              </a:rPr>
              <a:t>구분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8608" y="1920239"/>
            <a:ext cx="239572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B6066"/>
                </a:solidFill>
                <a:latin typeface="Pretendard Medium"/>
                <a:ea typeface="Pretendard Medium"/>
                <a:cs typeface="Pretendard Medium"/>
              </a:rPr>
              <a:t>규제 방식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84064" y="1920239"/>
            <a:ext cx="153619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B6066"/>
                </a:solidFill>
                <a:latin typeface="Pretendard Medium"/>
                <a:ea typeface="Pretendard Medium"/>
                <a:cs typeface="Pretendard Medium"/>
              </a:rPr>
              <a:t>장소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9984" y="1920239"/>
            <a:ext cx="477316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B6066"/>
                </a:solidFill>
                <a:latin typeface="Pretendard Medium"/>
                <a:ea typeface="Pretendard Medium"/>
                <a:cs typeface="Pretendard Medium"/>
              </a:rPr>
              <a:t>이 도시에서 보는 것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5800" y="2249423"/>
            <a:ext cx="10820095" cy="0"/>
          </a:xfrm>
          <a:prstGeom prst="line">
            <a:avLst/>
          </a:prstGeom>
          <a:ln w="22225">
            <a:solidFill>
              <a:srgbClr val="174E58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685800" y="2331720"/>
            <a:ext cx="128016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마드리드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100" b="0">
                <a:solidFill>
                  <a:srgbClr val="5B6066"/>
                </a:solidFill>
                <a:latin typeface="Pretendard SemiBold"/>
                <a:ea typeface="Pretendard SemiBold"/>
                <a:cs typeface="Pretendard SemiBold"/>
              </a:rPr>
              <a:t>12/27~28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29968" y="2331720"/>
            <a:ext cx="4572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기록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78608" y="2331720"/>
            <a:ext cx="2395728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금지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1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2024.10 공유 킥보드 6,000대 허가 취소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4064" y="2331720"/>
            <a:ext cx="1536192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솔 광장~그란비아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9984" y="2331720"/>
            <a:ext cx="4773168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74E58"/>
                </a:solidFill>
                <a:latin typeface="Pretendard SemiBold"/>
                <a:ea typeface="Pretendard SemiBold"/>
                <a:cs typeface="Pretendard SemiBold"/>
              </a:rPr>
              <a:t>퇴출 2년 뒤 중심가 보도에 남은 공유 기기 종류와 거치대 위치 기록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5800" y="3200400"/>
            <a:ext cx="10820095" cy="0"/>
          </a:xfrm>
          <a:prstGeom prst="line">
            <a:avLst/>
          </a:prstGeom>
          <a:ln w="9525">
            <a:solidFill>
              <a:srgbClr val="D3D6D9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685800" y="3255264"/>
            <a:ext cx="128016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발렌시아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100" b="0">
                <a:solidFill>
                  <a:srgbClr val="5B6066"/>
                </a:solidFill>
                <a:latin typeface="Pretendard SemiBold"/>
                <a:ea typeface="Pretendard SemiBold"/>
                <a:cs typeface="Pretendard SemiBold"/>
              </a:rPr>
              <a:t>12/31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29968" y="3255264"/>
            <a:ext cx="4572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기록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78608" y="3255264"/>
            <a:ext cx="2395728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불허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1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2019년부터 공유 킥보드 불허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1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거치대형 공공자전거만 운영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84064" y="3255264"/>
            <a:ext cx="1536192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시청 광장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3255264"/>
            <a:ext cx="4773168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74E58"/>
                </a:solidFill>
                <a:latin typeface="Pretendard SemiBold"/>
                <a:ea typeface="Pretendard SemiBold"/>
                <a:cs typeface="Pretendard SemiBold"/>
              </a:rPr>
              <a:t>거치대 간격과 위치를 기록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10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'거치대만 있는 도시'의 보도 모습을 서울 비교 자료로 정리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85800" y="4123944"/>
            <a:ext cx="10820095" cy="0"/>
          </a:xfrm>
          <a:prstGeom prst="line">
            <a:avLst/>
          </a:prstGeom>
          <a:ln w="9525">
            <a:solidFill>
              <a:srgbClr val="D3D6D9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685800" y="4178808"/>
            <a:ext cx="128016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바르셀로나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100" b="0">
                <a:solidFill>
                  <a:srgbClr val="5B6066"/>
                </a:solidFill>
                <a:latin typeface="Pretendard SemiBold"/>
                <a:ea typeface="Pretendard SemiBold"/>
                <a:cs typeface="Pretendard SemiBold"/>
              </a:rPr>
              <a:t>1/2~3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29968" y="4178808"/>
            <a:ext cx="4572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74E58"/>
                </a:solidFill>
                <a:latin typeface="Pretendard SemiBold"/>
                <a:ea typeface="Pretendard SemiBold"/>
                <a:cs typeface="Pretendard SemiBold"/>
              </a:rPr>
              <a:t>측정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78608" y="4178808"/>
            <a:ext cx="2395728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불허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1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공유 킥보드 허가 없음</a:t>
            </a:r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sz="11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공유 전기자전거·스쿠터는 허가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84064" y="4178808"/>
            <a:ext cx="1536192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람블라스 거리 400m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9984" y="4178808"/>
            <a:ext cx="4773168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174E58"/>
                </a:solidFill>
                <a:latin typeface="Pretendard SemiBold"/>
                <a:ea typeface="Pretendard SemiBold"/>
                <a:cs typeface="Pretendard SemiBold"/>
              </a:rPr>
              <a:t>공유 전기자전거를 세고 주차 상태(○ △ ×) 분류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sz="110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킥보드가 없는 도시의 기준값으로 사용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85800" y="5047488"/>
            <a:ext cx="10820095" cy="0"/>
          </a:xfrm>
          <a:prstGeom prst="line">
            <a:avLst/>
          </a:prstGeom>
          <a:ln w="9525">
            <a:solidFill>
              <a:srgbClr val="D3D6D9"/>
            </a:solidFill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623552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174E58"/>
                </a:solidFill>
                <a:latin typeface="Pretendard"/>
                <a:ea typeface="Pretendard"/>
                <a:cs typeface="Pretendard"/>
              </a:rPr>
              <a:t>05</a:t>
            </a:r>
            <a:r>
              <a:rPr sz="1050" b="0">
                <a:solidFill>
                  <a:srgbClr val="5B6066"/>
                </a:solidFill>
                <a:latin typeface="Pretendard Medium"/>
                <a:ea typeface="Pretendard Medium"/>
                <a:cs typeface="Pretendard Medium"/>
              </a:rPr>
              <a:t>   국가별 활동 세부 내용</a:t>
            </a:r>
          </a:p>
        </p:txBody>
      </p:sp>
      <p:sp>
        <p:nvSpPr>
          <p:cNvPr id="3" name="Rectangle 2"/>
          <p:cNvSpPr/>
          <p:nvPr/>
        </p:nvSpPr>
        <p:spPr>
          <a:xfrm>
            <a:off x="8021116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462429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8903741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9345053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9786366" y="457200"/>
            <a:ext cx="395592" cy="82296"/>
          </a:xfrm>
          <a:prstGeom prst="rect">
            <a:avLst/>
          </a:prstGeom>
          <a:solidFill>
            <a:srgbClr val="174E5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0227678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0668990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1110302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85800" y="713232"/>
            <a:ext cx="990318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한 도시의 현장 촬영은 약 1시간, 분류와 판정은 당일 저녁에 합니다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71860" y="6382512"/>
            <a:ext cx="734034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5000"/>
              </a:lnSpc>
            </a:pPr>
            <a:r>
              <a:rPr sz="850" b="0">
                <a:solidFill>
                  <a:srgbClr val="969CA2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2377439"/>
            <a:ext cx="10545775" cy="0"/>
          </a:xfrm>
          <a:prstGeom prst="line">
            <a:avLst/>
          </a:prstGeom>
          <a:ln w="19050">
            <a:solidFill>
              <a:srgbClr val="174E58"/>
            </a:solidFill>
            <a:tailEnd type="triangle" w="med" len="med"/>
          </a:ln>
        </p:spPr>
      </p:cxnSp>
      <p:sp>
        <p:nvSpPr>
          <p:cNvPr id="14" name="Oval 13"/>
          <p:cNvSpPr/>
          <p:nvPr/>
        </p:nvSpPr>
        <p:spPr>
          <a:xfrm>
            <a:off x="685800" y="2304287"/>
            <a:ext cx="146304" cy="1463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74E58"/>
            </a:solidFill>
          </a:ln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85800" y="1920239"/>
            <a:ext cx="216401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74E5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651759"/>
            <a:ext cx="1935419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구간 정하기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20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근처 200m · 먼 곳 200m</a:t>
            </a:r>
          </a:p>
        </p:txBody>
      </p:sp>
      <p:sp>
        <p:nvSpPr>
          <p:cNvPr id="17" name="Oval 16"/>
          <p:cNvSpPr/>
          <p:nvPr/>
        </p:nvSpPr>
        <p:spPr>
          <a:xfrm>
            <a:off x="2849819" y="2304287"/>
            <a:ext cx="146304" cy="1463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74E58"/>
            </a:solidFill>
          </a:ln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849819" y="1920239"/>
            <a:ext cx="216401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74E5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49819" y="2651759"/>
            <a:ext cx="1935419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전부 촬영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20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골라 찍지 않음</a:t>
            </a:r>
          </a:p>
        </p:txBody>
      </p:sp>
      <p:sp>
        <p:nvSpPr>
          <p:cNvPr id="20" name="Oval 19"/>
          <p:cNvSpPr/>
          <p:nvPr/>
        </p:nvSpPr>
        <p:spPr>
          <a:xfrm>
            <a:off x="5013838" y="2304287"/>
            <a:ext cx="146304" cy="1463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74E58"/>
            </a:solidFill>
          </a:ln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013838" y="1920239"/>
            <a:ext cx="216401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74E58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13838" y="2651759"/>
            <a:ext cx="1935419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AI 분류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20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기준표로 ○ △ ×</a:t>
            </a:r>
          </a:p>
        </p:txBody>
      </p:sp>
      <p:sp>
        <p:nvSpPr>
          <p:cNvPr id="23" name="Oval 22"/>
          <p:cNvSpPr/>
          <p:nvPr/>
        </p:nvSpPr>
        <p:spPr>
          <a:xfrm>
            <a:off x="7177857" y="2304287"/>
            <a:ext cx="146304" cy="14630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74E58"/>
            </a:solidFill>
          </a:ln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177857" y="1920239"/>
            <a:ext cx="216401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74E58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7857" y="2651759"/>
            <a:ext cx="1935419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두 사람 판정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20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AI와의 일치율 확인</a:t>
            </a:r>
          </a:p>
        </p:txBody>
      </p:sp>
      <p:sp>
        <p:nvSpPr>
          <p:cNvPr id="26" name="Oval 25"/>
          <p:cNvSpPr/>
          <p:nvPr/>
        </p:nvSpPr>
        <p:spPr>
          <a:xfrm>
            <a:off x="9341876" y="2304287"/>
            <a:ext cx="146304" cy="146304"/>
          </a:xfrm>
          <a:prstGeom prst="ellipse">
            <a:avLst/>
          </a:prstGeom>
          <a:solidFill>
            <a:srgbClr val="174E58"/>
          </a:solidFill>
          <a:ln w="19050">
            <a:solidFill>
              <a:srgbClr val="174E58"/>
            </a:solidFill>
          </a:ln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341876" y="1920239"/>
            <a:ext cx="216401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74E58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41876" y="2651759"/>
            <a:ext cx="1935419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숫자 세 개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20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100m당 수</a:t>
            </a:r>
          </a:p>
          <a:p>
            <a:pPr algn="l">
              <a:lnSpc>
                <a:spcPct val="125000"/>
              </a:lnSpc>
              <a:spcBef>
                <a:spcPts val="100"/>
              </a:spcBef>
            </a:pPr>
            <a:r>
              <a:rPr sz="120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방해·위험 비율 · 위험 유형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85800" y="4069079"/>
            <a:ext cx="8069351" cy="0"/>
          </a:xfrm>
          <a:prstGeom prst="line">
            <a:avLst/>
          </a:prstGeom>
          <a:ln w="9525">
            <a:solidFill>
              <a:srgbClr val="D3D6D9"/>
            </a:solidFill>
          </a:ln>
        </p:spPr>
      </p:cxnSp>
      <p:sp>
        <p:nvSpPr>
          <p:cNvPr id="30" name="TextBox 29"/>
          <p:cNvSpPr txBox="1"/>
          <p:nvPr/>
        </p:nvSpPr>
        <p:spPr>
          <a:xfrm>
            <a:off x="685800" y="4197095"/>
            <a:ext cx="8069351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두 구간은 같은 날 11~15시에 연달아 측정하고, 이틀 이상 머무는 도시는 두 번 측정합니다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85800" y="4571999"/>
            <a:ext cx="8069351" cy="0"/>
          </a:xfrm>
          <a:prstGeom prst="line">
            <a:avLst/>
          </a:prstGeom>
          <a:ln w="9525">
            <a:solidFill>
              <a:srgbClr val="D3D6D9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685800" y="4700015"/>
            <a:ext cx="8069351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주차구역이 없는 파리·바르셀로나는 명소 거리 400m 한 구간을 잽니다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85800" y="5074919"/>
            <a:ext cx="8069351" cy="0"/>
          </a:xfrm>
          <a:prstGeom prst="line">
            <a:avLst/>
          </a:prstGeom>
          <a:ln w="9525">
            <a:solidFill>
              <a:srgbClr val="D3D6D9"/>
            </a:solidFill>
          </a:ln>
        </p:spPr>
      </p:cxnSp>
      <p:sp>
        <p:nvSpPr>
          <p:cNvPr id="34" name="TextBox 33"/>
          <p:cNvSpPr txBox="1"/>
          <p:nvPr/>
        </p:nvSpPr>
        <p:spPr>
          <a:xfrm>
            <a:off x="685800" y="5202935"/>
            <a:ext cx="8069351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결과로 도시 순위를 매기지는 않습니다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85800" y="5577840"/>
            <a:ext cx="8069351" cy="0"/>
          </a:xfrm>
          <a:prstGeom prst="line">
            <a:avLst/>
          </a:prstGeom>
          <a:ln w="9525">
            <a:solidFill>
              <a:srgbClr val="D3D6D9"/>
            </a:solidFill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623552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174E58"/>
                </a:solidFill>
                <a:latin typeface="Pretendard"/>
                <a:ea typeface="Pretendard"/>
                <a:cs typeface="Pretendard"/>
              </a:rPr>
              <a:t>06</a:t>
            </a:r>
            <a:r>
              <a:rPr sz="1050" b="0">
                <a:solidFill>
                  <a:srgbClr val="5B6066"/>
                </a:solidFill>
                <a:latin typeface="Pretendard Medium"/>
                <a:ea typeface="Pretendard Medium"/>
                <a:cs typeface="Pretendard Medium"/>
              </a:rPr>
              <a:t>   분석과 활용</a:t>
            </a:r>
          </a:p>
        </p:txBody>
      </p:sp>
      <p:sp>
        <p:nvSpPr>
          <p:cNvPr id="3" name="Rectangle 2"/>
          <p:cNvSpPr/>
          <p:nvPr/>
        </p:nvSpPr>
        <p:spPr>
          <a:xfrm>
            <a:off x="8021116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462429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8903741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9345053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9786366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0227678" y="457200"/>
            <a:ext cx="395592" cy="82296"/>
          </a:xfrm>
          <a:prstGeom prst="rect">
            <a:avLst/>
          </a:prstGeom>
          <a:solidFill>
            <a:srgbClr val="174E5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0668990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1110302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85800" y="713232"/>
            <a:ext cx="990318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측정 결과는 서울에서 쓸 수 있는 자료 세 가지로 정리합니다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382512"/>
            <a:ext cx="8986266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>
                <a:solidFill>
                  <a:srgbClr val="969CA2"/>
                </a:solidFill>
                <a:latin typeface="Pretendard"/>
                <a:ea typeface="Pretendard"/>
                <a:cs typeface="Pretendard"/>
              </a:rPr>
              <a:t>출처: 서울 열린데이터광장 전동킥보드 견인 현황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71860" y="6382512"/>
            <a:ext cx="734034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5000"/>
              </a:lnSpc>
            </a:pPr>
            <a:r>
              <a:rPr sz="850" b="0">
                <a:solidFill>
                  <a:srgbClr val="969CA2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874519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74E58"/>
                </a:solidFill>
                <a:latin typeface="Pretendard SemiBold"/>
                <a:ea typeface="Pretendard SemiBold"/>
                <a:cs typeface="Pretendard SemiBold"/>
              </a:rPr>
              <a:t>비교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9655" y="1874519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74E58"/>
                </a:solidFill>
                <a:latin typeface="Pretendard SemiBold"/>
                <a:ea typeface="Pretendard SemiBold"/>
                <a:cs typeface="Pretendard SemiBold"/>
              </a:rPr>
              <a:t>서울이 참고할 자료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286000"/>
            <a:ext cx="4023360" cy="731520"/>
          </a:xfrm>
          <a:prstGeom prst="rect">
            <a:avLst/>
          </a:prstGeom>
          <a:noFill/>
          <a:ln w="12700">
            <a:solidFill>
              <a:srgbClr val="26282B"/>
            </a:solidFill>
          </a:ln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50392" y="2286000"/>
            <a:ext cx="374904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서울 킥보드 없는 거리 안 vs 밖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05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서울 2곳 측정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3172968"/>
            <a:ext cx="4023360" cy="731520"/>
          </a:xfrm>
          <a:prstGeom prst="rect">
            <a:avLst/>
          </a:prstGeom>
          <a:noFill/>
          <a:ln w="12700">
            <a:solidFill>
              <a:srgbClr val="26282B"/>
            </a:solidFill>
          </a:ln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50392" y="3172968"/>
            <a:ext cx="374904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서울 견인 기록 (2022~2025)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05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견인이 몰리는 곳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059935"/>
            <a:ext cx="4023360" cy="731520"/>
          </a:xfrm>
          <a:prstGeom prst="rect">
            <a:avLst/>
          </a:prstGeom>
          <a:noFill/>
          <a:ln w="12700">
            <a:solidFill>
              <a:srgbClr val="26282B"/>
            </a:solidFill>
          </a:ln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50392" y="4059935"/>
            <a:ext cx="374904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같은 도시 안: 주차구역 근처 vs 먼 곳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05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비율과 100m당 △·× 대수를 함께 비교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4946904"/>
            <a:ext cx="4023360" cy="731520"/>
          </a:xfrm>
          <a:prstGeom prst="rect">
            <a:avLst/>
          </a:prstGeom>
          <a:noFill/>
          <a:ln w="12700">
            <a:solidFill>
              <a:srgbClr val="D3D6D9"/>
            </a:solidFill>
          </a:ln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50392" y="4946904"/>
            <a:ext cx="374904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5B6066"/>
                </a:solidFill>
                <a:latin typeface="Pretendard SemiBold"/>
                <a:ea typeface="Pretendard SemiBold"/>
                <a:cs typeface="Pretendard SemiBold"/>
              </a:rPr>
              <a:t>규제 방식끼리: 금지·관리·불허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05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파리 / 프랑크푸르트·브뤼셀 / 바르셀로나, 참고 비교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99655" y="2286000"/>
            <a:ext cx="4206240" cy="731520"/>
          </a:xfrm>
          <a:prstGeom prst="rect">
            <a:avLst/>
          </a:prstGeom>
          <a:solidFill>
            <a:srgbClr val="DDE9EA"/>
          </a:solidFill>
          <a:ln w="12700">
            <a:solidFill>
              <a:srgbClr val="174E58"/>
            </a:solidFill>
          </a:ln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464247" y="2286000"/>
            <a:ext cx="393192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74E58"/>
                </a:solidFill>
                <a:latin typeface="Pretendard SemiBold"/>
                <a:ea typeface="Pretendard SemiBold"/>
                <a:cs typeface="Pretendard SemiBold"/>
              </a:rPr>
              <a:t>킥보드 없는 거리의 구역 밖 평가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05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경계 밖으로 옮겨 갔는지 확인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99655" y="3172968"/>
            <a:ext cx="4206240" cy="731520"/>
          </a:xfrm>
          <a:prstGeom prst="rect">
            <a:avLst/>
          </a:prstGeom>
          <a:solidFill>
            <a:srgbClr val="DDE9EA"/>
          </a:solidFill>
          <a:ln w="12700">
            <a:solidFill>
              <a:srgbClr val="174E58"/>
            </a:solidFill>
          </a:ln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464247" y="3172968"/>
            <a:ext cx="3931920" cy="73152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74E58"/>
                </a:solidFill>
                <a:latin typeface="Pretendard SemiBold"/>
                <a:ea typeface="Pretendard SemiBold"/>
                <a:cs typeface="Pretendard SemiBold"/>
              </a:rPr>
              <a:t>주차칸 위치 후보 지도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05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견인 기록 밀집 + 현장 위험 유형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9655" y="4059935"/>
            <a:ext cx="4206240" cy="1618488"/>
          </a:xfrm>
          <a:prstGeom prst="rect">
            <a:avLst/>
          </a:prstGeom>
          <a:solidFill>
            <a:srgbClr val="DDE9EA"/>
          </a:solidFill>
          <a:ln w="12700">
            <a:solidFill>
              <a:srgbClr val="174E58"/>
            </a:solidFill>
          </a:ln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464247" y="4059935"/>
            <a:ext cx="3931920" cy="161848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174E58"/>
                </a:solidFill>
                <a:latin typeface="Pretendard SemiBold"/>
                <a:ea typeface="Pretendard SemiBold"/>
                <a:cs typeface="Pretendard SemiBold"/>
              </a:rPr>
              <a:t>주차칸 근처 반납 규칙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05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유럽에서 효과가 뚜렷할 때만 제안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754880" y="2651760"/>
            <a:ext cx="2471623" cy="0"/>
          </a:xfrm>
          <a:prstGeom prst="line">
            <a:avLst/>
          </a:prstGeom>
          <a:ln w="12700">
            <a:solidFill>
              <a:srgbClr val="26282B"/>
            </a:solidFill>
            <a:tailEnd type="triangle" w="med" len="med"/>
          </a:ln>
        </p:spPr>
      </p:cxnSp>
      <p:cxnSp>
        <p:nvCxnSpPr>
          <p:cNvPr id="31" name="Connector 30"/>
          <p:cNvCxnSpPr/>
          <p:nvPr/>
        </p:nvCxnSpPr>
        <p:spPr>
          <a:xfrm>
            <a:off x="4754880" y="3538727"/>
            <a:ext cx="2471623" cy="0"/>
          </a:xfrm>
          <a:prstGeom prst="line">
            <a:avLst/>
          </a:prstGeom>
          <a:ln w="12700">
            <a:solidFill>
              <a:srgbClr val="26282B"/>
            </a:solidFill>
            <a:tailEnd type="triangle" w="med" len="med"/>
          </a:ln>
        </p:spPr>
      </p:cxnSp>
      <p:cxnSp>
        <p:nvCxnSpPr>
          <p:cNvPr id="32" name="Connector 31"/>
          <p:cNvCxnSpPr/>
          <p:nvPr/>
        </p:nvCxnSpPr>
        <p:spPr>
          <a:xfrm>
            <a:off x="4754880" y="4425696"/>
            <a:ext cx="2471623" cy="0"/>
          </a:xfrm>
          <a:prstGeom prst="line">
            <a:avLst/>
          </a:prstGeom>
          <a:ln w="12700">
            <a:solidFill>
              <a:srgbClr val="26282B"/>
            </a:solidFill>
            <a:tailEnd type="triangle" w="med" len="med"/>
          </a:ln>
        </p:spPr>
      </p:cxnSp>
      <p:cxnSp>
        <p:nvCxnSpPr>
          <p:cNvPr id="33" name="Connector 32"/>
          <p:cNvCxnSpPr/>
          <p:nvPr/>
        </p:nvCxnSpPr>
        <p:spPr>
          <a:xfrm>
            <a:off x="4754880" y="5312664"/>
            <a:ext cx="2471623" cy="0"/>
          </a:xfrm>
          <a:prstGeom prst="line">
            <a:avLst/>
          </a:prstGeom>
          <a:ln w="12700">
            <a:solidFill>
              <a:srgbClr val="969CA2"/>
            </a:solidFill>
            <a:prstDash val="dash"/>
            <a:tailEnd type="triangle" w="med" len="med"/>
          </a:ln>
        </p:spPr>
      </p:cxnSp>
      <p:sp>
        <p:nvSpPr>
          <p:cNvPr id="34" name="Rectangle 33"/>
          <p:cNvSpPr/>
          <p:nvPr/>
        </p:nvSpPr>
        <p:spPr>
          <a:xfrm>
            <a:off x="685800" y="5861304"/>
            <a:ext cx="54864" cy="365760"/>
          </a:xfrm>
          <a:prstGeom prst="rect">
            <a:avLst/>
          </a:prstGeom>
          <a:solidFill>
            <a:srgbClr val="174E5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86968" y="5861304"/>
            <a:ext cx="10618927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모든 제안은 학생 조사를 바탕으로 한 참고 자료입니다.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623552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174E58"/>
                </a:solidFill>
                <a:latin typeface="Pretendard"/>
                <a:ea typeface="Pretendard"/>
                <a:cs typeface="Pretendard"/>
              </a:rPr>
              <a:t>07</a:t>
            </a:r>
            <a:r>
              <a:rPr sz="1050" b="0">
                <a:solidFill>
                  <a:srgbClr val="5B6066"/>
                </a:solidFill>
                <a:latin typeface="Pretendard Medium"/>
                <a:ea typeface="Pretendard Medium"/>
                <a:cs typeface="Pretendard Medium"/>
              </a:rPr>
              <a:t>   운영</a:t>
            </a:r>
          </a:p>
        </p:txBody>
      </p:sp>
      <p:sp>
        <p:nvSpPr>
          <p:cNvPr id="3" name="Rectangle 2"/>
          <p:cNvSpPr/>
          <p:nvPr/>
        </p:nvSpPr>
        <p:spPr>
          <a:xfrm>
            <a:off x="8021116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462429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8903741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9345053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9786366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0227678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0668990" y="457200"/>
            <a:ext cx="395592" cy="82296"/>
          </a:xfrm>
          <a:prstGeom prst="rect">
            <a:avLst/>
          </a:prstGeom>
          <a:solidFill>
            <a:srgbClr val="174E5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1110302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85800" y="713232"/>
            <a:ext cx="990318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예상되는 어려움마다 대응 방법을 정해 두었습니다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71860" y="6382512"/>
            <a:ext cx="734034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5000"/>
              </a:lnSpc>
            </a:pPr>
            <a:r>
              <a:rPr sz="850" b="0">
                <a:solidFill>
                  <a:srgbClr val="969CA2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20239"/>
            <a:ext cx="263347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B6066"/>
                </a:solidFill>
                <a:latin typeface="Pretendard Medium"/>
                <a:ea typeface="Pretendard Medium"/>
                <a:cs typeface="Pretendard Medium"/>
              </a:rPr>
              <a:t>어려움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1920239"/>
            <a:ext cx="7967167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5B6066"/>
                </a:solidFill>
                <a:latin typeface="Pretendard Medium"/>
                <a:ea typeface="Pretendard Medium"/>
                <a:cs typeface="Pretendard Medium"/>
              </a:rPr>
              <a:t>대응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85800" y="2249423"/>
            <a:ext cx="10820095" cy="0"/>
          </a:xfrm>
          <a:prstGeom prst="line">
            <a:avLst/>
          </a:prstGeom>
          <a:ln w="22225">
            <a:solidFill>
              <a:srgbClr val="174E58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685800" y="2340863"/>
            <a:ext cx="2633472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연말 휴무·날씨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340863"/>
            <a:ext cx="7967167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도시별 예비일 확보, 11~15시에 측정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5800" y="2852927"/>
            <a:ext cx="10820095" cy="0"/>
          </a:xfrm>
          <a:prstGeom prst="line">
            <a:avLst/>
          </a:prstGeom>
          <a:ln w="9525">
            <a:solidFill>
              <a:srgbClr val="D3D6D9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685800" y="2944368"/>
            <a:ext cx="2633472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명소 인파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944368"/>
            <a:ext cx="7967167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측정 시간대 분산, 기기 위주로 촬영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5800" y="3456432"/>
            <a:ext cx="10820095" cy="0"/>
          </a:xfrm>
          <a:prstGeom prst="line">
            <a:avLst/>
          </a:prstGeom>
          <a:ln w="9525">
            <a:solidFill>
              <a:srgbClr val="D3D6D9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685800" y="3547872"/>
            <a:ext cx="2633472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AI 정확도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3547872"/>
            <a:ext cx="7967167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10~11월 서울에서 먼저 검증, 일치율이 낮으면 기준표·예시 수정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5800" y="4059935"/>
            <a:ext cx="10820095" cy="0"/>
          </a:xfrm>
          <a:prstGeom prst="line">
            <a:avLst/>
          </a:prstGeom>
          <a:ln w="9525">
            <a:solidFill>
              <a:srgbClr val="D3D6D9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685800" y="4151375"/>
            <a:ext cx="2633472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사진 속 얼굴·번호판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4151375"/>
            <a:ext cx="7967167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공개 전 얼굴·차량 번호판을 흐리게 가리고 사람이 다시 확인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85800" y="4663440"/>
            <a:ext cx="10820095" cy="0"/>
          </a:xfrm>
          <a:prstGeom prst="line">
            <a:avLst/>
          </a:prstGeom>
          <a:ln w="9525">
            <a:solidFill>
              <a:srgbClr val="D3D6D9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685800" y="4754879"/>
            <a:ext cx="2633472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브뤼셀 킥보드 조기 철수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4754879"/>
            <a:ext cx="7967167" cy="42062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출국 전 운행 여부 확인, 이미 없으면 '금지 직후 거리' 사례로 기록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85800" y="5266944"/>
            <a:ext cx="10820095" cy="0"/>
          </a:xfrm>
          <a:prstGeom prst="line">
            <a:avLst/>
          </a:prstGeom>
          <a:ln w="9525">
            <a:solidFill>
              <a:srgbClr val="D3D6D9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685800" y="5541264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장비는 스마트폰 2대, AI는 공개 모델을 사용합니다.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623552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174E58"/>
                </a:solidFill>
                <a:latin typeface="Pretendard"/>
                <a:ea typeface="Pretendard"/>
                <a:cs typeface="Pretendard"/>
              </a:rPr>
              <a:t>07</a:t>
            </a:r>
            <a:r>
              <a:rPr sz="1050" b="0">
                <a:solidFill>
                  <a:srgbClr val="5B6066"/>
                </a:solidFill>
                <a:latin typeface="Pretendard Medium"/>
                <a:ea typeface="Pretendard Medium"/>
                <a:cs typeface="Pretendard Medium"/>
              </a:rPr>
              <a:t>   운영</a:t>
            </a:r>
          </a:p>
        </p:txBody>
      </p:sp>
      <p:sp>
        <p:nvSpPr>
          <p:cNvPr id="3" name="Rectangle 2"/>
          <p:cNvSpPr/>
          <p:nvPr/>
        </p:nvSpPr>
        <p:spPr>
          <a:xfrm>
            <a:off x="8021116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462429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8903741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9345053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9786366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0227678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0668990" y="457200"/>
            <a:ext cx="395592" cy="82296"/>
          </a:xfrm>
          <a:prstGeom prst="rect">
            <a:avLst/>
          </a:prstGeom>
          <a:solidFill>
            <a:srgbClr val="174E5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1110302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85800" y="713232"/>
            <a:ext cx="990318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현장 촬영과 판정은 함께 하며 분석은 조원별로 맡습니다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71860" y="6382512"/>
            <a:ext cx="734034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5000"/>
              </a:lnSpc>
            </a:pPr>
            <a:r>
              <a:rPr sz="850" b="0">
                <a:solidFill>
                  <a:srgbClr val="969CA2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1920239"/>
            <a:ext cx="1642811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B6066"/>
                </a:solidFill>
                <a:latin typeface="Pretendard Medium"/>
                <a:ea typeface="Pretendard Medium"/>
                <a:cs typeface="Pretendard Medium"/>
              </a:rPr>
              <a:t>9월 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4611" y="1920239"/>
            <a:ext cx="1642811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B6066"/>
                </a:solidFill>
                <a:latin typeface="Pretendard Medium"/>
                <a:ea typeface="Pretendard Medium"/>
                <a:cs typeface="Pretendard Medium"/>
              </a:rPr>
              <a:t>10~11월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8862" y="1920239"/>
            <a:ext cx="1642811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B6066"/>
                </a:solidFill>
                <a:latin typeface="Pretendard Medium"/>
                <a:ea typeface="Pretendard Medium"/>
                <a:cs typeface="Pretendard Medium"/>
              </a:rPr>
              <a:t>12월 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83113" y="1920239"/>
            <a:ext cx="1642811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74E58"/>
                </a:solidFill>
                <a:latin typeface="Pretendard SemiBold"/>
                <a:ea typeface="Pretendard SemiBold"/>
                <a:cs typeface="Pretendard SemiBold"/>
              </a:rPr>
              <a:t>12/21~1/3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17364" y="1920239"/>
            <a:ext cx="1642811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5B6066"/>
                </a:solidFill>
                <a:latin typeface="Pretendard Medium"/>
                <a:ea typeface="Pretendard Medium"/>
                <a:cs typeface="Pretendard Medium"/>
              </a:rPr>
              <a:t>귀국 후 15일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5800" y="2267711"/>
            <a:ext cx="10820095" cy="0"/>
          </a:xfrm>
          <a:prstGeom prst="line">
            <a:avLst/>
          </a:prstGeom>
          <a:ln w="12700">
            <a:solidFill>
              <a:srgbClr val="26282B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685800" y="2432303"/>
            <a:ext cx="196596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함께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05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현장 촬영·판정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80360" y="2450591"/>
            <a:ext cx="1642811" cy="594360"/>
          </a:xfrm>
          <a:prstGeom prst="rect">
            <a:avLst/>
          </a:prstGeom>
          <a:solidFill>
            <a:srgbClr val="174E5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2971800" y="2450591"/>
            <a:ext cx="1459931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사전 조사(완료)</a:t>
            </a:r>
          </a:p>
          <a:p>
            <a:pPr algn="l">
              <a:lnSpc>
                <a:spcPct val="110000"/>
              </a:lnSpc>
            </a:pPr>
            <a:r>
              <a:rPr sz="11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기준표 초안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14611" y="2450591"/>
            <a:ext cx="1642811" cy="594360"/>
          </a:xfrm>
          <a:prstGeom prst="rect">
            <a:avLst/>
          </a:prstGeom>
          <a:solidFill>
            <a:srgbClr val="174E5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706051" y="2450591"/>
            <a:ext cx="1459931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서울 2곳 측정·판정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48862" y="2450591"/>
            <a:ext cx="1642811" cy="594360"/>
          </a:xfrm>
          <a:prstGeom prst="rect">
            <a:avLst/>
          </a:prstGeom>
          <a:solidFill>
            <a:srgbClr val="174E5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440302" y="2450591"/>
            <a:ext cx="1459931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판정 연습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83113" y="2450591"/>
            <a:ext cx="1642811" cy="594360"/>
          </a:xfrm>
          <a:prstGeom prst="rect">
            <a:avLst/>
          </a:prstGeom>
          <a:solidFill>
            <a:srgbClr val="174E5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174553" y="2450591"/>
            <a:ext cx="1459931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4개 도시 측정 · 매일 판정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17364" y="2450591"/>
            <a:ext cx="1642811" cy="594360"/>
          </a:xfrm>
          <a:prstGeom prst="rect">
            <a:avLst/>
          </a:prstGeom>
          <a:solidFill>
            <a:srgbClr val="174E5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908804" y="2450591"/>
            <a:ext cx="1459931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결과 보고서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85800" y="3227831"/>
            <a:ext cx="10820095" cy="0"/>
          </a:xfrm>
          <a:prstGeom prst="line">
            <a:avLst/>
          </a:prstGeom>
          <a:ln w="9525">
            <a:solidFill>
              <a:srgbClr val="D3D6D9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685800" y="3392423"/>
            <a:ext cx="196596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조원 A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05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측정 설계와 AI 분류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14611" y="3410711"/>
            <a:ext cx="1642811" cy="594360"/>
          </a:xfrm>
          <a:prstGeom prst="rect">
            <a:avLst/>
          </a:prstGeom>
          <a:solidFill>
            <a:srgbClr val="DDE9E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706051" y="3410711"/>
            <a:ext cx="1459931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구간 설계 · AI 시험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48862" y="3410711"/>
            <a:ext cx="1642811" cy="594360"/>
          </a:xfrm>
          <a:prstGeom prst="rect">
            <a:avLst/>
          </a:prstGeom>
          <a:solidFill>
            <a:srgbClr val="DDE9E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440302" y="3410711"/>
            <a:ext cx="1459931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구간 확정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83113" y="3410711"/>
            <a:ext cx="1642811" cy="594360"/>
          </a:xfrm>
          <a:prstGeom prst="rect">
            <a:avLst/>
          </a:prstGeom>
          <a:solidFill>
            <a:srgbClr val="DDE9E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174553" y="3410711"/>
            <a:ext cx="1459931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매일 AI 분류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17364" y="3410711"/>
            <a:ext cx="1642811" cy="594360"/>
          </a:xfrm>
          <a:prstGeom prst="rect">
            <a:avLst/>
          </a:prstGeom>
          <a:solidFill>
            <a:srgbClr val="DDE9E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9908804" y="3410711"/>
            <a:ext cx="1459931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도시별 결과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85800" y="4187951"/>
            <a:ext cx="10820095" cy="0"/>
          </a:xfrm>
          <a:prstGeom prst="line">
            <a:avLst/>
          </a:prstGeom>
          <a:ln w="9525">
            <a:solidFill>
              <a:srgbClr val="D3D6D9"/>
            </a:solidFill>
          </a:ln>
        </p:spPr>
      </p:cxnSp>
      <p:sp>
        <p:nvSpPr>
          <p:cNvPr id="41" name="TextBox 40"/>
          <p:cNvSpPr txBox="1"/>
          <p:nvPr/>
        </p:nvSpPr>
        <p:spPr>
          <a:xfrm>
            <a:off x="685800" y="4352544"/>
            <a:ext cx="196596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조원 B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05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견인 데이터 분석과 제도 기록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14611" y="4370832"/>
            <a:ext cx="1642811" cy="594360"/>
          </a:xfrm>
          <a:prstGeom prst="rect">
            <a:avLst/>
          </a:prstGeom>
          <a:solidFill>
            <a:srgbClr val="DDE9E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4706051" y="4370832"/>
            <a:ext cx="1459931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견인 분석 · 제도 조사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48862" y="4370832"/>
            <a:ext cx="1642811" cy="594360"/>
          </a:xfrm>
          <a:prstGeom prst="rect">
            <a:avLst/>
          </a:prstGeom>
          <a:solidFill>
            <a:srgbClr val="DDE9E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440302" y="4370832"/>
            <a:ext cx="1459931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위치 후보 1차 지도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83113" y="4370832"/>
            <a:ext cx="1642811" cy="594360"/>
          </a:xfrm>
          <a:prstGeom prst="rect">
            <a:avLst/>
          </a:prstGeom>
          <a:solidFill>
            <a:srgbClr val="DDE9E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8174553" y="4370832"/>
            <a:ext cx="1459931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제도 현장 기록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817364" y="4370832"/>
            <a:ext cx="1642811" cy="594360"/>
          </a:xfrm>
          <a:prstGeom prst="rect">
            <a:avLst/>
          </a:prstGeom>
          <a:solidFill>
            <a:srgbClr val="DDE9EA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9908804" y="4370832"/>
            <a:ext cx="1459931" cy="5943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후보 지도 · 제안서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85800" y="5148072"/>
            <a:ext cx="10820095" cy="0"/>
          </a:xfrm>
          <a:prstGeom prst="line">
            <a:avLst/>
          </a:prstGeom>
          <a:ln w="9525">
            <a:solidFill>
              <a:srgbClr val="D3D6D9"/>
            </a:solidFill>
          </a:ln>
        </p:spPr>
      </p:cxnSp>
      <p:cxnSp>
        <p:nvCxnSpPr>
          <p:cNvPr id="51" name="Connector 50"/>
          <p:cNvCxnSpPr/>
          <p:nvPr/>
        </p:nvCxnSpPr>
        <p:spPr>
          <a:xfrm>
            <a:off x="6303142" y="2267711"/>
            <a:ext cx="0" cy="3017521"/>
          </a:xfrm>
          <a:prstGeom prst="line">
            <a:avLst/>
          </a:prstGeom>
          <a:ln w="12700">
            <a:solidFill>
              <a:srgbClr val="26282B"/>
            </a:solidFill>
            <a:prstDash val="dash"/>
          </a:ln>
        </p:spPr>
      </p:cxnSp>
      <p:sp>
        <p:nvSpPr>
          <p:cNvPr id="52" name="TextBox 51"/>
          <p:cNvSpPr txBox="1"/>
          <p:nvPr/>
        </p:nvSpPr>
        <p:spPr>
          <a:xfrm>
            <a:off x="6376294" y="533095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중간 점검 · 11월 말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0812194" y="5148072"/>
            <a:ext cx="0" cy="137160"/>
          </a:xfrm>
          <a:prstGeom prst="line">
            <a:avLst/>
          </a:prstGeom>
          <a:ln w="12700">
            <a:solidFill>
              <a:srgbClr val="26282B"/>
            </a:solidFill>
          </a:ln>
        </p:spPr>
      </p:cxnSp>
      <p:sp>
        <p:nvSpPr>
          <p:cNvPr id="54" name="TextBox 53"/>
          <p:cNvSpPr txBox="1"/>
          <p:nvPr/>
        </p:nvSpPr>
        <p:spPr>
          <a:xfrm>
            <a:off x="9074834" y="5330952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5000"/>
              </a:lnSpc>
            </a:pPr>
            <a:r>
              <a:rPr sz="105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최종 점검 · 1월 중순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76294" y="5586983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서울 결과 · AI 일치율 확인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623552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174E58"/>
                </a:solidFill>
                <a:latin typeface="Pretendard"/>
                <a:ea typeface="Pretendard"/>
                <a:cs typeface="Pretendard"/>
              </a:rPr>
              <a:t>08</a:t>
            </a:r>
            <a:r>
              <a:rPr sz="1050" b="0">
                <a:solidFill>
                  <a:srgbClr val="5B6066"/>
                </a:solidFill>
                <a:latin typeface="Pretendard Medium"/>
                <a:ea typeface="Pretendard Medium"/>
                <a:cs typeface="Pretendard Medium"/>
              </a:rPr>
              <a:t>   기대효과 · 향후 활용</a:t>
            </a:r>
          </a:p>
        </p:txBody>
      </p:sp>
      <p:sp>
        <p:nvSpPr>
          <p:cNvPr id="3" name="Rectangle 2"/>
          <p:cNvSpPr/>
          <p:nvPr/>
        </p:nvSpPr>
        <p:spPr>
          <a:xfrm>
            <a:off x="8021116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462429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8903741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9345053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9786366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0227678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0668990" y="457200"/>
            <a:ext cx="395592" cy="45720"/>
          </a:xfrm>
          <a:prstGeom prst="rect">
            <a:avLst/>
          </a:prstGeom>
          <a:solidFill>
            <a:srgbClr val="D3D6D9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1110302" y="457200"/>
            <a:ext cx="395592" cy="82296"/>
          </a:xfrm>
          <a:prstGeom prst="rect">
            <a:avLst/>
          </a:prstGeom>
          <a:solidFill>
            <a:srgbClr val="174E5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85800" y="713232"/>
            <a:ext cx="990318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결과는 제안서로 정리해 서울시·자치구 시민 제안 창구에 제출합니다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71860" y="6382512"/>
            <a:ext cx="734034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25000"/>
              </a:lnSpc>
            </a:pPr>
            <a:r>
              <a:rPr sz="850" b="0">
                <a:solidFill>
                  <a:srgbClr val="969CA2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920239"/>
            <a:ext cx="623552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74E58"/>
                </a:solidFill>
                <a:latin typeface="Pretendard SemiBold"/>
                <a:ea typeface="Pretendard SemiBold"/>
                <a:cs typeface="Pretendard SemiBold"/>
              </a:rPr>
              <a:t>기대효과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2331720"/>
            <a:ext cx="6235522" cy="0"/>
          </a:xfrm>
          <a:prstGeom prst="line">
            <a:avLst/>
          </a:prstGeom>
          <a:ln w="12700">
            <a:solidFill>
              <a:srgbClr val="26282B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685800" y="251460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74E58"/>
                </a:solidFill>
                <a:latin typeface="Pretendard"/>
                <a:ea typeface="Pretendard"/>
                <a:cs typeface="Pretendard"/>
              </a:rPr>
              <a:t>1   </a:t>
            </a:r>
            <a:r>
              <a:rPr sz="14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킥보드 없는 거리의 구역 밖 평가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514600"/>
            <a:ext cx="2715082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969CA2"/>
                </a:solidFill>
                <a:latin typeface="Pretendard"/>
                <a:ea typeface="Pretendard"/>
                <a:cs typeface="Pretendard"/>
              </a:rPr>
              <a:t>→  </a:t>
            </a:r>
            <a:r>
              <a:rPr sz="135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경계 밖 관리 검토 참고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" y="3108960"/>
            <a:ext cx="6235522" cy="0"/>
          </a:xfrm>
          <a:prstGeom prst="line">
            <a:avLst/>
          </a:prstGeom>
          <a:ln w="9525">
            <a:solidFill>
              <a:srgbClr val="D3D6D9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685800" y="329184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74E58"/>
                </a:solidFill>
                <a:latin typeface="Pretendard"/>
                <a:ea typeface="Pretendard"/>
                <a:cs typeface="Pretendard"/>
              </a:rPr>
              <a:t>2   </a:t>
            </a:r>
            <a:r>
              <a:rPr sz="14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주차칸 위치 후보 지도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291840"/>
            <a:ext cx="2715082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969CA2"/>
                </a:solidFill>
                <a:latin typeface="Pretendard"/>
                <a:ea typeface="Pretendard"/>
                <a:cs typeface="Pretendard"/>
              </a:rPr>
              <a:t>→  </a:t>
            </a:r>
            <a:r>
              <a:rPr sz="135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9.11 조례 이후 후보지 검토 참고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5800" y="3886200"/>
            <a:ext cx="6235522" cy="0"/>
          </a:xfrm>
          <a:prstGeom prst="line">
            <a:avLst/>
          </a:prstGeom>
          <a:ln w="9525">
            <a:solidFill>
              <a:srgbClr val="D3D6D9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685800" y="406908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74E58"/>
                </a:solidFill>
                <a:latin typeface="Pretendard"/>
                <a:ea typeface="Pretendard"/>
                <a:cs typeface="Pretendard"/>
              </a:rPr>
              <a:t>3   </a:t>
            </a:r>
            <a:r>
              <a:rPr sz="1400" b="0">
                <a:solidFill>
                  <a:srgbClr val="26282B"/>
                </a:solidFill>
                <a:latin typeface="Pretendard SemiBold"/>
                <a:ea typeface="Pretendard SemiBold"/>
                <a:cs typeface="Pretendard SemiBold"/>
              </a:rPr>
              <a:t>규칙별 현장 비교 기록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4069080"/>
            <a:ext cx="2715082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969CA2"/>
                </a:solidFill>
                <a:latin typeface="Pretendard"/>
                <a:ea typeface="Pretendard"/>
                <a:cs typeface="Pretendard"/>
              </a:rPr>
              <a:t>→  </a:t>
            </a:r>
            <a:r>
              <a:rPr sz="1350" b="0">
                <a:solidFill>
                  <a:srgbClr val="5B6066"/>
                </a:solidFill>
                <a:latin typeface="Pretendard"/>
                <a:ea typeface="Pretendard"/>
                <a:cs typeface="Pretendard"/>
              </a:rPr>
              <a:t>유럽 규칙 도입 검토 참고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5800" y="4663440"/>
            <a:ext cx="6235522" cy="0"/>
          </a:xfrm>
          <a:prstGeom prst="line">
            <a:avLst/>
          </a:prstGeom>
          <a:ln w="9525">
            <a:solidFill>
              <a:srgbClr val="D3D6D9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8021116" y="1920239"/>
            <a:ext cx="348477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174E58"/>
                </a:solidFill>
                <a:latin typeface="Pretendard SemiBold"/>
                <a:ea typeface="Pretendard SemiBold"/>
                <a:cs typeface="Pretendard SemiBold"/>
              </a:rPr>
              <a:t>향후 활용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075980" y="2441448"/>
            <a:ext cx="0" cy="1947672"/>
          </a:xfrm>
          <a:prstGeom prst="line">
            <a:avLst/>
          </a:prstGeom>
          <a:ln w="12700">
            <a:solidFill>
              <a:srgbClr val="D3D6D9"/>
            </a:solidFill>
          </a:ln>
        </p:spPr>
      </p:cxnSp>
      <p:sp>
        <p:nvSpPr>
          <p:cNvPr id="26" name="Oval 25"/>
          <p:cNvSpPr/>
          <p:nvPr/>
        </p:nvSpPr>
        <p:spPr>
          <a:xfrm>
            <a:off x="8016544" y="2382012"/>
            <a:ext cx="118872" cy="118872"/>
          </a:xfrm>
          <a:prstGeom prst="ellipse">
            <a:avLst/>
          </a:prstGeom>
          <a:solidFill>
            <a:srgbClr val="174E5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295436" y="2331720"/>
            <a:ext cx="3210458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74E58"/>
                </a:solidFill>
                <a:latin typeface="Pretendard"/>
                <a:ea typeface="Pretendard"/>
                <a:cs typeface="Pretendard"/>
              </a:rPr>
              <a:t>귀국 후 15일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30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결과 보고서</a:t>
            </a:r>
          </a:p>
        </p:txBody>
      </p:sp>
      <p:sp>
        <p:nvSpPr>
          <p:cNvPr id="28" name="Oval 27"/>
          <p:cNvSpPr/>
          <p:nvPr/>
        </p:nvSpPr>
        <p:spPr>
          <a:xfrm>
            <a:off x="8016544" y="3387852"/>
            <a:ext cx="118872" cy="118872"/>
          </a:xfrm>
          <a:prstGeom prst="ellipse">
            <a:avLst/>
          </a:prstGeom>
          <a:solidFill>
            <a:srgbClr val="174E5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8295436" y="3337560"/>
            <a:ext cx="3210458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74E58"/>
                </a:solidFill>
                <a:latin typeface="Pretendard"/>
                <a:ea typeface="Pretendard"/>
                <a:cs typeface="Pretendard"/>
              </a:rPr>
              <a:t>2027년 1~2월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30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제안서를 서울시·자치구 시민 제안 창구에 제출, 검토 회신 요청</a:t>
            </a:r>
          </a:p>
        </p:txBody>
      </p:sp>
      <p:sp>
        <p:nvSpPr>
          <p:cNvPr id="30" name="Oval 29"/>
          <p:cNvSpPr/>
          <p:nvPr/>
        </p:nvSpPr>
        <p:spPr>
          <a:xfrm>
            <a:off x="8016544" y="4393692"/>
            <a:ext cx="118872" cy="118872"/>
          </a:xfrm>
          <a:prstGeom prst="ellipse">
            <a:avLst/>
          </a:prstGeom>
          <a:solidFill>
            <a:srgbClr val="174E5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295436" y="4343400"/>
            <a:ext cx="3210458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74E58"/>
                </a:solidFill>
                <a:latin typeface="Pretendard"/>
                <a:ea typeface="Pretendard"/>
                <a:cs typeface="Pretendard"/>
              </a:rPr>
              <a:t>공개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30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가림 처리한 사진·판정 기록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5349240"/>
            <a:ext cx="54864" cy="365760"/>
          </a:xfrm>
          <a:prstGeom prst="rect">
            <a:avLst/>
          </a:prstGeom>
          <a:solidFill>
            <a:srgbClr val="174E58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86968" y="5349240"/>
            <a:ext cx="10618927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26282B"/>
                </a:solidFill>
                <a:latin typeface="Pretendard"/>
                <a:ea typeface="Pretendard"/>
                <a:cs typeface="Pretendard"/>
              </a:rPr>
              <a:t>결과가 충분하면 공공데이터 공모전 출품이나 발표로 확장합니다.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